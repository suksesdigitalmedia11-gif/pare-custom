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x="18288000" cy="10287000"/>
  <p:notesSz cx="6858000" cy="9144000"/>
  <p:embeddedFontLst>
    <p:embeddedFont>
      <p:font typeface="Open Sauce Heavy" charset="1" panose="00000A00000000000000"/>
      <p:regular r:id="rId18"/>
    </p:embeddedFont>
    <p:embeddedFont>
      <p:font typeface="Open Sauce Light" charset="1" panose="00000400000000000000"/>
      <p:regular r:id="rId19"/>
    </p:embeddedFont>
    <p:embeddedFont>
      <p:font typeface="Open Sauce" charset="1" panose="00000500000000000000"/>
      <p:regular r:id="rId20"/>
    </p:embeddedFont>
    <p:embeddedFont>
      <p:font typeface="Open Sauce Bold" charset="1" panose="00000800000000000000"/>
      <p:regular r:id="rId21"/>
    </p:embeddedFont>
    <p:embeddedFont>
      <p:font typeface="Open Sauce Medium" charset="1" panose="00000600000000000000"/>
      <p:regular r:id="rId22"/>
    </p:embeddedFont>
    <p:embeddedFont>
      <p:font typeface="Canva Sans Bold" charset="1" panose="020B0803030501040103"/>
      <p:regular r:id="rId23"/>
    </p:embeddedFont>
    <p:embeddedFont>
      <p:font typeface="Open Sauce Light Italics" charset="1" panose="00000400000000000000"/>
      <p:regular r:id="rId24"/>
    </p:embeddedFont>
    <p:embeddedFont>
      <p:font typeface="Prompt Light Italics" charset="1" panose="00000400000000000000"/>
      <p:regular r:id="rId25"/>
    </p:embeddedFont>
    <p:embeddedFont>
      <p:font typeface="Prompt Light" charset="1" panose="00000400000000000000"/>
      <p:regular r:id="rId26"/>
    </p:embeddedFont>
    <p:embeddedFont>
      <p:font typeface="Josefin Sans Bold" charset="1" panose="00000800000000000000"/>
      <p:regular r:id="rId2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fonts/font22.fntdata" Type="http://schemas.openxmlformats.org/officeDocument/2006/relationships/font"/><Relationship Id="rId23" Target="fonts/font23.fntdata" Type="http://schemas.openxmlformats.org/officeDocument/2006/relationships/font"/><Relationship Id="rId24" Target="fonts/font24.fntdata" Type="http://schemas.openxmlformats.org/officeDocument/2006/relationships/font"/><Relationship Id="rId25" Target="fonts/font25.fntdata" Type="http://schemas.openxmlformats.org/officeDocument/2006/relationships/font"/><Relationship Id="rId26" Target="fonts/font26.fntdata" Type="http://schemas.openxmlformats.org/officeDocument/2006/relationships/font"/><Relationship Id="rId27" Target="fonts/font27.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 Id="rId3" Target="../media/image3.png" Type="http://schemas.openxmlformats.org/officeDocument/2006/relationships/image"/><Relationship Id="rId4" Target="../media/image4.png" Type="http://schemas.openxmlformats.org/officeDocument/2006/relationships/image"/><Relationship Id="rId5" Target="../media/image5.png" Type="http://schemas.openxmlformats.org/officeDocument/2006/relationships/image"/><Relationship Id="rId6" Target="../media/image6.png" Type="http://schemas.openxmlformats.org/officeDocument/2006/relationships/image"/><Relationship Id="rId7" Target="../media/image7.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 Id="rId3" Target="../media/image3.png" Type="http://schemas.openxmlformats.org/officeDocument/2006/relationships/image"/><Relationship Id="rId4" Target="../media/image4.png" Type="http://schemas.openxmlformats.org/officeDocument/2006/relationships/image"/><Relationship Id="rId5" Target="https://www.canva.com/design/DAG92BsQdJs/w2cQQs8Bbcw_VfTq0SCvrQ/edit" TargetMode="External" Type="http://schemas.openxmlformats.org/officeDocument/2006/relationships/hyperlink"/><Relationship Id="rId6" Target="https://www.canva.com/design/DAG92BsQdJs/w2cQQs8Bbcw_VfTq0SCvrQ/edit" TargetMode="External" Type="http://schemas.openxmlformats.org/officeDocument/2006/relationships/hyperlink"/><Relationship Id="rId7" Target="https://www.canva.com/design/DAG92BsQdJs/w2cQQs8Bbcw_VfTq0SCvrQ/edit" TargetMode="External" Type="http://schemas.openxmlformats.org/officeDocument/2006/relationships/hyperlink"/><Relationship Id="rId8" Target="https://www.canva.com/design/DAG92BsQdJs/w2cQQs8Bbcw_VfTq0SCvrQ/edit" TargetMode="External" Type="http://schemas.openxmlformats.org/officeDocument/2006/relationships/hyperlink"/><Relationship Id="rId9" Target="../media/image8.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6.png" Type="http://schemas.openxmlformats.org/officeDocument/2006/relationships/image"/><Relationship Id="rId11" Target="../media/image17.svg" Type="http://schemas.openxmlformats.org/officeDocument/2006/relationships/image"/><Relationship Id="rId2" Target="../media/image2.jpeg" Type="http://schemas.openxmlformats.org/officeDocument/2006/relationships/image"/><Relationship Id="rId3" Target="../media/image9.jpeg" Type="http://schemas.openxmlformats.org/officeDocument/2006/relationships/image"/><Relationship Id="rId4" Target="../media/image10.png" Type="http://schemas.openxmlformats.org/officeDocument/2006/relationships/image"/><Relationship Id="rId5" Target="../media/image11.svg" Type="http://schemas.openxmlformats.org/officeDocument/2006/relationships/image"/><Relationship Id="rId6" Target="../media/image12.png" Type="http://schemas.openxmlformats.org/officeDocument/2006/relationships/image"/><Relationship Id="rId7" Target="../media/image13.svg" Type="http://schemas.openxmlformats.org/officeDocument/2006/relationships/image"/><Relationship Id="rId8" Target="../media/image14.png" Type="http://schemas.openxmlformats.org/officeDocument/2006/relationships/image"/><Relationship Id="rId9" Target="../media/image15.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 Id="rId3" Target="../media/image18.jpeg" Type="http://schemas.openxmlformats.org/officeDocument/2006/relationships/image"/><Relationship Id="rId4" Target="../media/image19.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7.svg" Type="http://schemas.openxmlformats.org/officeDocument/2006/relationships/image"/><Relationship Id="rId11" Target="../media/image28.png" Type="http://schemas.openxmlformats.org/officeDocument/2006/relationships/image"/><Relationship Id="rId12" Target="../media/image29.svg" Type="http://schemas.openxmlformats.org/officeDocument/2006/relationships/image"/><Relationship Id="rId13" Target="../media/image30.png" Type="http://schemas.openxmlformats.org/officeDocument/2006/relationships/image"/><Relationship Id="rId14" Target="../media/image31.svg" Type="http://schemas.openxmlformats.org/officeDocument/2006/relationships/image"/><Relationship Id="rId15" Target="../media/image32.png" Type="http://schemas.openxmlformats.org/officeDocument/2006/relationships/image"/><Relationship Id="rId16" Target="../media/image33.svg" Type="http://schemas.openxmlformats.org/officeDocument/2006/relationships/image"/><Relationship Id="rId17" Target="../media/image34.png" Type="http://schemas.openxmlformats.org/officeDocument/2006/relationships/image"/><Relationship Id="rId18" Target="../media/image35.svg" Type="http://schemas.openxmlformats.org/officeDocument/2006/relationships/image"/><Relationship Id="rId19" Target="../media/image36.png" Type="http://schemas.openxmlformats.org/officeDocument/2006/relationships/image"/><Relationship Id="rId2" Target="../media/image2.jpeg" Type="http://schemas.openxmlformats.org/officeDocument/2006/relationships/image"/><Relationship Id="rId20" Target="../media/image37.svg" Type="http://schemas.openxmlformats.org/officeDocument/2006/relationships/image"/><Relationship Id="rId3" Target="../media/image20.png" Type="http://schemas.openxmlformats.org/officeDocument/2006/relationships/image"/><Relationship Id="rId4" Target="../media/image21.svg" Type="http://schemas.openxmlformats.org/officeDocument/2006/relationships/image"/><Relationship Id="rId5" Target="../media/image22.png" Type="http://schemas.openxmlformats.org/officeDocument/2006/relationships/image"/><Relationship Id="rId6" Target="../media/image23.svg" Type="http://schemas.openxmlformats.org/officeDocument/2006/relationships/image"/><Relationship Id="rId7" Target="../media/image24.png" Type="http://schemas.openxmlformats.org/officeDocument/2006/relationships/image"/><Relationship Id="rId8" Target="../media/image25.svg" Type="http://schemas.openxmlformats.org/officeDocument/2006/relationships/image"/><Relationship Id="rId9" Target="../media/image26.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 Id="rId3" Target="../media/image38.jpeg" Type="http://schemas.openxmlformats.org/officeDocument/2006/relationships/image"/><Relationship Id="rId4" Target="../media/image39.jpeg" Type="http://schemas.openxmlformats.org/officeDocument/2006/relationships/image"/><Relationship Id="rId5" Target="../media/image40.jpe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48.svg" Type="http://schemas.openxmlformats.org/officeDocument/2006/relationships/image"/><Relationship Id="rId2" Target="../media/image1.jpeg" Type="http://schemas.openxmlformats.org/officeDocument/2006/relationships/image"/><Relationship Id="rId3" Target="../media/image41.png" Type="http://schemas.openxmlformats.org/officeDocument/2006/relationships/image"/><Relationship Id="rId4" Target="../media/image42.svg" Type="http://schemas.openxmlformats.org/officeDocument/2006/relationships/image"/><Relationship Id="rId5" Target="../media/image43.png" Type="http://schemas.openxmlformats.org/officeDocument/2006/relationships/image"/><Relationship Id="rId6" Target="../media/image44.svg" Type="http://schemas.openxmlformats.org/officeDocument/2006/relationships/image"/><Relationship Id="rId7" Target="../media/image45.png" Type="http://schemas.openxmlformats.org/officeDocument/2006/relationships/image"/><Relationship Id="rId8" Target="../media/image46.svg" Type="http://schemas.openxmlformats.org/officeDocument/2006/relationships/image"/><Relationship Id="rId9" Target="../media/image47.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true" rot="0">
            <a:off x="0" y="0"/>
            <a:ext cx="18288000" cy="10287000"/>
          </a:xfrm>
          <a:custGeom>
            <a:avLst/>
            <a:gdLst/>
            <a:ahLst/>
            <a:cxnLst/>
            <a:rect r="r" b="b" t="t" l="l"/>
            <a:pathLst>
              <a:path h="10287000" w="18288000">
                <a:moveTo>
                  <a:pt x="0" y="10287000"/>
                </a:moveTo>
                <a:lnTo>
                  <a:pt x="18288000" y="10287000"/>
                </a:lnTo>
                <a:lnTo>
                  <a:pt x="18288000" y="0"/>
                </a:lnTo>
                <a:lnTo>
                  <a:pt x="0" y="0"/>
                </a:lnTo>
                <a:lnTo>
                  <a:pt x="0" y="10287000"/>
                </a:lnTo>
                <a:close/>
              </a:path>
            </a:pathLst>
          </a:custGeom>
          <a:blipFill>
            <a:blip r:embed="rId2"/>
            <a:stretch>
              <a:fillRect l="0" t="-9222" r="0" b="-9222"/>
            </a:stretch>
          </a:blipFill>
        </p:spPr>
      </p:sp>
      <p:grpSp>
        <p:nvGrpSpPr>
          <p:cNvPr name="Group 3" id="3"/>
          <p:cNvGrpSpPr/>
          <p:nvPr/>
        </p:nvGrpSpPr>
        <p:grpSpPr>
          <a:xfrm rot="0">
            <a:off x="14445008" y="8610695"/>
            <a:ext cx="2814292" cy="643540"/>
            <a:chOff x="0" y="0"/>
            <a:chExt cx="741213" cy="169492"/>
          </a:xfrm>
        </p:grpSpPr>
        <p:sp>
          <p:nvSpPr>
            <p:cNvPr name="Freeform 4" id="4"/>
            <p:cNvSpPr/>
            <p:nvPr/>
          </p:nvSpPr>
          <p:spPr>
            <a:xfrm flipH="false" flipV="false" rot="0">
              <a:off x="0" y="0"/>
              <a:ext cx="741213" cy="169492"/>
            </a:xfrm>
            <a:custGeom>
              <a:avLst/>
              <a:gdLst/>
              <a:ahLst/>
              <a:cxnLst/>
              <a:rect r="r" b="b" t="t" l="l"/>
              <a:pathLst>
                <a:path h="169492" w="741213">
                  <a:moveTo>
                    <a:pt x="84746" y="0"/>
                  </a:moveTo>
                  <a:lnTo>
                    <a:pt x="656467" y="0"/>
                  </a:lnTo>
                  <a:cubicBezTo>
                    <a:pt x="678943" y="0"/>
                    <a:pt x="700498" y="8929"/>
                    <a:pt x="716391" y="24822"/>
                  </a:cubicBezTo>
                  <a:cubicBezTo>
                    <a:pt x="732284" y="40714"/>
                    <a:pt x="741213" y="62270"/>
                    <a:pt x="741213" y="84746"/>
                  </a:cubicBezTo>
                  <a:lnTo>
                    <a:pt x="741213" y="84746"/>
                  </a:lnTo>
                  <a:cubicBezTo>
                    <a:pt x="741213" y="107222"/>
                    <a:pt x="732284" y="128777"/>
                    <a:pt x="716391" y="144670"/>
                  </a:cubicBezTo>
                  <a:cubicBezTo>
                    <a:pt x="700498" y="160563"/>
                    <a:pt x="678943" y="169492"/>
                    <a:pt x="656467" y="169492"/>
                  </a:cubicBezTo>
                  <a:lnTo>
                    <a:pt x="84746" y="169492"/>
                  </a:lnTo>
                  <a:cubicBezTo>
                    <a:pt x="62270" y="169492"/>
                    <a:pt x="40714" y="160563"/>
                    <a:pt x="24822" y="144670"/>
                  </a:cubicBezTo>
                  <a:cubicBezTo>
                    <a:pt x="8929" y="128777"/>
                    <a:pt x="0" y="107222"/>
                    <a:pt x="0" y="84746"/>
                  </a:cubicBezTo>
                  <a:lnTo>
                    <a:pt x="0" y="84746"/>
                  </a:lnTo>
                  <a:cubicBezTo>
                    <a:pt x="0" y="62270"/>
                    <a:pt x="8929" y="40714"/>
                    <a:pt x="24822" y="24822"/>
                  </a:cubicBezTo>
                  <a:cubicBezTo>
                    <a:pt x="40714" y="8929"/>
                    <a:pt x="62270" y="0"/>
                    <a:pt x="84746" y="0"/>
                  </a:cubicBezTo>
                  <a:close/>
                </a:path>
              </a:pathLst>
            </a:custGeom>
            <a:gradFill rotWithShape="true">
              <a:gsLst>
                <a:gs pos="0">
                  <a:srgbClr val="FFFFFF">
                    <a:alpha val="10500"/>
                  </a:srgbClr>
                </a:gs>
                <a:gs pos="25000">
                  <a:srgbClr val="FFFFFF">
                    <a:alpha val="15000"/>
                  </a:srgbClr>
                </a:gs>
                <a:gs pos="50000">
                  <a:srgbClr val="FFFFFF">
                    <a:alpha val="10000"/>
                  </a:srgbClr>
                </a:gs>
                <a:gs pos="75000">
                  <a:srgbClr val="FFFFFF">
                    <a:alpha val="15000"/>
                  </a:srgbClr>
                </a:gs>
                <a:gs pos="100000">
                  <a:srgbClr val="FFFFFF">
                    <a:alpha val="10000"/>
                  </a:srgbClr>
                </a:gs>
              </a:gsLst>
              <a:lin ang="2700000"/>
            </a:gradFill>
            <a:ln w="19050" cap="rnd">
              <a:solidFill>
                <a:srgbClr val="FFFFFF"/>
              </a:solidFill>
              <a:prstDash val="solid"/>
              <a:round/>
            </a:ln>
          </p:spPr>
        </p:sp>
        <p:sp>
          <p:nvSpPr>
            <p:cNvPr name="TextBox 5" id="5"/>
            <p:cNvSpPr txBox="true"/>
            <p:nvPr/>
          </p:nvSpPr>
          <p:spPr>
            <a:xfrm>
              <a:off x="0" y="85725"/>
              <a:ext cx="741213" cy="83767"/>
            </a:xfrm>
            <a:prstGeom prst="rect">
              <a:avLst/>
            </a:prstGeom>
          </p:spPr>
          <p:txBody>
            <a:bodyPr anchor="ctr" rtlCol="false" tIns="50800" lIns="50800" bIns="50800" rIns="50800"/>
            <a:lstStyle/>
            <a:p>
              <a:pPr algn="ctr">
                <a:lnSpc>
                  <a:spcPts val="2218"/>
                </a:lnSpc>
              </a:pPr>
            </a:p>
          </p:txBody>
        </p:sp>
      </p:grpSp>
      <p:sp>
        <p:nvSpPr>
          <p:cNvPr name="TextBox 6" id="6"/>
          <p:cNvSpPr txBox="true"/>
          <p:nvPr/>
        </p:nvSpPr>
        <p:spPr>
          <a:xfrm rot="0">
            <a:off x="1028700" y="4566119"/>
            <a:ext cx="7824344" cy="5231027"/>
          </a:xfrm>
          <a:prstGeom prst="rect">
            <a:avLst/>
          </a:prstGeom>
        </p:spPr>
        <p:txBody>
          <a:bodyPr anchor="t" rtlCol="false" tIns="0" lIns="0" bIns="0" rIns="0">
            <a:spAutoFit/>
          </a:bodyPr>
          <a:lstStyle/>
          <a:p>
            <a:pPr algn="l">
              <a:lnSpc>
                <a:spcPts val="19673"/>
              </a:lnSpc>
            </a:pPr>
            <a:r>
              <a:rPr lang="en-US" sz="22876" spc="-1075" b="true">
                <a:solidFill>
                  <a:srgbClr val="FFFFFF"/>
                </a:solidFill>
                <a:latin typeface="Open Sauce Heavy"/>
                <a:ea typeface="Open Sauce Heavy"/>
                <a:cs typeface="Open Sauce Heavy"/>
                <a:sym typeface="Open Sauce Heavy"/>
              </a:rPr>
              <a:t>Pitch Deck</a:t>
            </a:r>
          </a:p>
        </p:txBody>
      </p:sp>
      <p:sp>
        <p:nvSpPr>
          <p:cNvPr name="TextBox 7" id="7"/>
          <p:cNvSpPr txBox="true"/>
          <p:nvPr/>
        </p:nvSpPr>
        <p:spPr>
          <a:xfrm rot="0">
            <a:off x="1132972" y="852689"/>
            <a:ext cx="5168833" cy="372323"/>
          </a:xfrm>
          <a:prstGeom prst="rect">
            <a:avLst/>
          </a:prstGeom>
        </p:spPr>
        <p:txBody>
          <a:bodyPr anchor="t" rtlCol="false" tIns="0" lIns="0" bIns="0" rIns="0">
            <a:spAutoFit/>
          </a:bodyPr>
          <a:lstStyle/>
          <a:p>
            <a:pPr algn="l">
              <a:lnSpc>
                <a:spcPts val="3121"/>
              </a:lnSpc>
            </a:pPr>
            <a:r>
              <a:rPr lang="en-US" sz="2229" spc="-104" b="true">
                <a:solidFill>
                  <a:srgbClr val="FFFFFF"/>
                </a:solidFill>
                <a:latin typeface="Open Sauce Heavy"/>
                <a:ea typeface="Open Sauce Heavy"/>
                <a:cs typeface="Open Sauce Heavy"/>
                <a:sym typeface="Open Sauce Heavy"/>
              </a:rPr>
              <a:t>CV. Sukses Jaya</a:t>
            </a:r>
          </a:p>
        </p:txBody>
      </p:sp>
      <p:sp>
        <p:nvSpPr>
          <p:cNvPr name="TextBox 8" id="8"/>
          <p:cNvSpPr txBox="true"/>
          <p:nvPr/>
        </p:nvSpPr>
        <p:spPr>
          <a:xfrm rot="0">
            <a:off x="9096375" y="8033530"/>
            <a:ext cx="3789175" cy="1268329"/>
          </a:xfrm>
          <a:prstGeom prst="rect">
            <a:avLst/>
          </a:prstGeom>
        </p:spPr>
        <p:txBody>
          <a:bodyPr anchor="t" rtlCol="false" tIns="0" lIns="0" bIns="0" rIns="0">
            <a:spAutoFit/>
          </a:bodyPr>
          <a:lstStyle/>
          <a:p>
            <a:pPr algn="l">
              <a:lnSpc>
                <a:spcPts val="5040"/>
              </a:lnSpc>
            </a:pPr>
            <a:r>
              <a:rPr lang="en-US" sz="4000" spc="-224">
                <a:solidFill>
                  <a:srgbClr val="FFFFFF"/>
                </a:solidFill>
                <a:latin typeface="Open Sauce Light"/>
                <a:ea typeface="Open Sauce Light"/>
                <a:cs typeface="Open Sauce Light"/>
                <a:sym typeface="Open Sauce Light"/>
              </a:rPr>
              <a:t>Business Presentation</a:t>
            </a:r>
          </a:p>
        </p:txBody>
      </p:sp>
      <p:grpSp>
        <p:nvGrpSpPr>
          <p:cNvPr name="Group 9" id="9"/>
          <p:cNvGrpSpPr/>
          <p:nvPr/>
        </p:nvGrpSpPr>
        <p:grpSpPr>
          <a:xfrm rot="566727">
            <a:off x="10895260" y="-4368833"/>
            <a:ext cx="11215742" cy="11215742"/>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lnTo>
                    <a:pt x="406400" y="0"/>
                  </a:lnTo>
                  <a:close/>
                </a:path>
              </a:pathLst>
            </a:custGeom>
            <a:gradFill rotWithShape="true">
              <a:gsLst>
                <a:gs pos="0">
                  <a:srgbClr val="FFFFFF">
                    <a:alpha val="2100"/>
                  </a:srgbClr>
                </a:gs>
                <a:gs pos="25000">
                  <a:srgbClr val="FFFFFF">
                    <a:alpha val="3000"/>
                  </a:srgbClr>
                </a:gs>
                <a:gs pos="50000">
                  <a:srgbClr val="FFFFFF">
                    <a:alpha val="2000"/>
                  </a:srgbClr>
                </a:gs>
                <a:gs pos="75000">
                  <a:srgbClr val="FFFFFF">
                    <a:alpha val="3000"/>
                  </a:srgbClr>
                </a:gs>
                <a:gs pos="100000">
                  <a:srgbClr val="FFFFFF">
                    <a:alpha val="2000"/>
                  </a:srgbClr>
                </a:gs>
              </a:gsLst>
              <a:lin ang="2700000"/>
            </a:gradFill>
            <a:ln w="19050" cap="rnd">
              <a:solidFill>
                <a:srgbClr val="FFFFFF">
                  <a:alpha val="19608"/>
                </a:srgbClr>
              </a:solidFill>
              <a:prstDash val="solid"/>
              <a:round/>
            </a:ln>
          </p:spPr>
        </p:sp>
        <p:sp>
          <p:nvSpPr>
            <p:cNvPr name="TextBox 11" id="11"/>
            <p:cNvSpPr txBox="true"/>
            <p:nvPr/>
          </p:nvSpPr>
          <p:spPr>
            <a:xfrm>
              <a:off x="76200" y="161925"/>
              <a:ext cx="660400" cy="574675"/>
            </a:xfrm>
            <a:prstGeom prst="rect">
              <a:avLst/>
            </a:prstGeom>
          </p:spPr>
          <p:txBody>
            <a:bodyPr anchor="ctr" rtlCol="false" tIns="50800" lIns="50800" bIns="50800" rIns="50800"/>
            <a:lstStyle/>
            <a:p>
              <a:pPr algn="ctr" marL="0" indent="0" lvl="0">
                <a:lnSpc>
                  <a:spcPts val="2218"/>
                </a:lnSpc>
                <a:spcBef>
                  <a:spcPct val="0"/>
                </a:spcBef>
              </a:pPr>
            </a:p>
          </p:txBody>
        </p:sp>
      </p:grpSp>
      <p:grpSp>
        <p:nvGrpSpPr>
          <p:cNvPr name="Group 12" id="12"/>
          <p:cNvGrpSpPr/>
          <p:nvPr/>
        </p:nvGrpSpPr>
        <p:grpSpPr>
          <a:xfrm rot="566727">
            <a:off x="12737741" y="-2526351"/>
            <a:ext cx="7530780" cy="7530780"/>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lnTo>
                    <a:pt x="406400" y="0"/>
                  </a:lnTo>
                  <a:close/>
                </a:path>
              </a:pathLst>
            </a:custGeom>
            <a:gradFill rotWithShape="true">
              <a:gsLst>
                <a:gs pos="0">
                  <a:srgbClr val="FFFFFF">
                    <a:alpha val="2100"/>
                  </a:srgbClr>
                </a:gs>
                <a:gs pos="25000">
                  <a:srgbClr val="FFFFFF">
                    <a:alpha val="3000"/>
                  </a:srgbClr>
                </a:gs>
                <a:gs pos="50000">
                  <a:srgbClr val="FFFFFF">
                    <a:alpha val="2000"/>
                  </a:srgbClr>
                </a:gs>
                <a:gs pos="75000">
                  <a:srgbClr val="FFFFFF">
                    <a:alpha val="3000"/>
                  </a:srgbClr>
                </a:gs>
                <a:gs pos="100000">
                  <a:srgbClr val="FFFFFF">
                    <a:alpha val="2000"/>
                  </a:srgbClr>
                </a:gs>
              </a:gsLst>
              <a:lin ang="2700000"/>
            </a:gradFill>
            <a:ln w="19050" cap="rnd">
              <a:solidFill>
                <a:srgbClr val="FFFFFF">
                  <a:alpha val="19608"/>
                </a:srgbClr>
              </a:solidFill>
              <a:prstDash val="solid"/>
              <a:round/>
            </a:ln>
          </p:spPr>
        </p:sp>
        <p:sp>
          <p:nvSpPr>
            <p:cNvPr name="TextBox 14" id="14"/>
            <p:cNvSpPr txBox="true"/>
            <p:nvPr/>
          </p:nvSpPr>
          <p:spPr>
            <a:xfrm>
              <a:off x="76200" y="161925"/>
              <a:ext cx="660400" cy="574675"/>
            </a:xfrm>
            <a:prstGeom prst="rect">
              <a:avLst/>
            </a:prstGeom>
          </p:spPr>
          <p:txBody>
            <a:bodyPr anchor="ctr" rtlCol="false" tIns="50800" lIns="50800" bIns="50800" rIns="50800"/>
            <a:lstStyle/>
            <a:p>
              <a:pPr algn="ctr" marL="0" indent="0" lvl="0">
                <a:lnSpc>
                  <a:spcPts val="2218"/>
                </a:lnSpc>
                <a:spcBef>
                  <a:spcPct val="0"/>
                </a:spcBef>
              </a:pPr>
            </a:p>
          </p:txBody>
        </p:sp>
      </p:grpSp>
      <p:sp>
        <p:nvSpPr>
          <p:cNvPr name="TextBox 15" id="15"/>
          <p:cNvSpPr txBox="true"/>
          <p:nvPr/>
        </p:nvSpPr>
        <p:spPr>
          <a:xfrm rot="0">
            <a:off x="13809146" y="1210006"/>
            <a:ext cx="3450154" cy="318135"/>
          </a:xfrm>
          <a:prstGeom prst="rect">
            <a:avLst/>
          </a:prstGeom>
        </p:spPr>
        <p:txBody>
          <a:bodyPr anchor="t" rtlCol="false" tIns="0" lIns="0" bIns="0" rIns="0">
            <a:spAutoFit/>
          </a:bodyPr>
          <a:lstStyle/>
          <a:p>
            <a:pPr algn="r">
              <a:lnSpc>
                <a:spcPts val="2520"/>
              </a:lnSpc>
            </a:pPr>
            <a:r>
              <a:rPr lang="en-US" sz="2000" spc="-112">
                <a:solidFill>
                  <a:srgbClr val="FFFFFF"/>
                </a:solidFill>
                <a:latin typeface="Open Sauce"/>
                <a:ea typeface="Open Sauce"/>
                <a:cs typeface="Open Sauce"/>
                <a:sym typeface="Open Sauce"/>
              </a:rPr>
              <a:t>Kelompok 4</a:t>
            </a:r>
          </a:p>
        </p:txBody>
      </p:sp>
      <p:sp>
        <p:nvSpPr>
          <p:cNvPr name="TextBox 16" id="16"/>
          <p:cNvSpPr txBox="true"/>
          <p:nvPr/>
        </p:nvSpPr>
        <p:spPr>
          <a:xfrm rot="0">
            <a:off x="14445008" y="8763873"/>
            <a:ext cx="2814292" cy="318135"/>
          </a:xfrm>
          <a:prstGeom prst="rect">
            <a:avLst/>
          </a:prstGeom>
        </p:spPr>
        <p:txBody>
          <a:bodyPr anchor="t" rtlCol="false" tIns="0" lIns="0" bIns="0" rIns="0">
            <a:spAutoFit/>
          </a:bodyPr>
          <a:lstStyle/>
          <a:p>
            <a:pPr algn="ctr">
              <a:lnSpc>
                <a:spcPts val="2520"/>
              </a:lnSpc>
            </a:pPr>
            <a:r>
              <a:rPr lang="en-US" sz="2000" spc="-112">
                <a:solidFill>
                  <a:srgbClr val="FFFFFF"/>
                </a:solidFill>
                <a:latin typeface="Open Sauce"/>
                <a:ea typeface="Open Sauce"/>
                <a:cs typeface="Open Sauce"/>
                <a:sym typeface="Open Sauce"/>
              </a:rPr>
              <a:t>January 20, 2026</a:t>
            </a:r>
          </a:p>
        </p:txBody>
      </p:sp>
      <p:sp>
        <p:nvSpPr>
          <p:cNvPr name="TextBox 17" id="17"/>
          <p:cNvSpPr txBox="true"/>
          <p:nvPr/>
        </p:nvSpPr>
        <p:spPr>
          <a:xfrm rot="0">
            <a:off x="13809146" y="912359"/>
            <a:ext cx="3450154" cy="281559"/>
          </a:xfrm>
          <a:prstGeom prst="rect">
            <a:avLst/>
          </a:prstGeom>
        </p:spPr>
        <p:txBody>
          <a:bodyPr anchor="t" rtlCol="false" tIns="0" lIns="0" bIns="0" rIns="0">
            <a:spAutoFit/>
          </a:bodyPr>
          <a:lstStyle/>
          <a:p>
            <a:pPr algn="r">
              <a:lnSpc>
                <a:spcPts val="2268"/>
              </a:lnSpc>
            </a:pPr>
            <a:r>
              <a:rPr lang="en-US" b="true" sz="1800" spc="-100">
                <a:solidFill>
                  <a:srgbClr val="FFFFFF"/>
                </a:solidFill>
                <a:latin typeface="Open Sauce Bold"/>
                <a:ea typeface="Open Sauce Bold"/>
                <a:cs typeface="Open Sauce Bold"/>
                <a:sym typeface="Open Sauce Bold"/>
              </a:rPr>
              <a:t>Presented by :</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9278497">
            <a:off x="-5803234" y="-4205483"/>
            <a:ext cx="9966661" cy="9966661"/>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lnTo>
                    <a:pt x="406400" y="0"/>
                  </a:lnTo>
                  <a:close/>
                </a:path>
              </a:pathLst>
            </a:custGeom>
            <a:gradFill rotWithShape="true">
              <a:gsLst>
                <a:gs pos="0">
                  <a:srgbClr val="FFFFFF">
                    <a:alpha val="2100"/>
                  </a:srgbClr>
                </a:gs>
                <a:gs pos="25000">
                  <a:srgbClr val="FFFFFF">
                    <a:alpha val="3000"/>
                  </a:srgbClr>
                </a:gs>
                <a:gs pos="50000">
                  <a:srgbClr val="FFFFFF">
                    <a:alpha val="2000"/>
                  </a:srgbClr>
                </a:gs>
                <a:gs pos="75000">
                  <a:srgbClr val="FFFFFF">
                    <a:alpha val="3000"/>
                  </a:srgbClr>
                </a:gs>
                <a:gs pos="100000">
                  <a:srgbClr val="FFFFFF">
                    <a:alpha val="2000"/>
                  </a:srgbClr>
                </a:gs>
              </a:gsLst>
              <a:lin ang="2700000"/>
            </a:gradFill>
            <a:ln w="19050" cap="rnd">
              <a:solidFill>
                <a:srgbClr val="FFFFFF">
                  <a:alpha val="19608"/>
                </a:srgbClr>
              </a:solidFill>
              <a:prstDash val="solid"/>
              <a:round/>
            </a:ln>
          </p:spPr>
        </p:sp>
        <p:sp>
          <p:nvSpPr>
            <p:cNvPr name="TextBox 5" id="5"/>
            <p:cNvSpPr txBox="true"/>
            <p:nvPr/>
          </p:nvSpPr>
          <p:spPr>
            <a:xfrm>
              <a:off x="76200" y="819150"/>
              <a:ext cx="660400" cy="660400"/>
            </a:xfrm>
            <a:prstGeom prst="rect">
              <a:avLst/>
            </a:prstGeom>
          </p:spPr>
          <p:txBody>
            <a:bodyPr anchor="ctr" rtlCol="false" tIns="50800" lIns="50800" bIns="50800" rIns="50800"/>
            <a:lstStyle/>
            <a:p>
              <a:pPr algn="l" marL="0" indent="0" lvl="0">
                <a:lnSpc>
                  <a:spcPts val="19673"/>
                </a:lnSpc>
                <a:spcBef>
                  <a:spcPct val="0"/>
                </a:spcBef>
              </a:pPr>
            </a:p>
          </p:txBody>
        </p:sp>
      </p:grpSp>
      <p:grpSp>
        <p:nvGrpSpPr>
          <p:cNvPr name="Group 6" id="6"/>
          <p:cNvGrpSpPr/>
          <p:nvPr/>
        </p:nvGrpSpPr>
        <p:grpSpPr>
          <a:xfrm rot="-9278497">
            <a:off x="-2997112" y="-1545956"/>
            <a:ext cx="5213104" cy="5213104"/>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lnTo>
                    <a:pt x="406400" y="0"/>
                  </a:lnTo>
                  <a:close/>
                </a:path>
              </a:pathLst>
            </a:custGeom>
            <a:gradFill rotWithShape="true">
              <a:gsLst>
                <a:gs pos="0">
                  <a:srgbClr val="FFFFFF">
                    <a:alpha val="2100"/>
                  </a:srgbClr>
                </a:gs>
                <a:gs pos="25000">
                  <a:srgbClr val="FFFFFF">
                    <a:alpha val="3000"/>
                  </a:srgbClr>
                </a:gs>
                <a:gs pos="50000">
                  <a:srgbClr val="FFFFFF">
                    <a:alpha val="2000"/>
                  </a:srgbClr>
                </a:gs>
                <a:gs pos="75000">
                  <a:srgbClr val="FFFFFF">
                    <a:alpha val="3000"/>
                  </a:srgbClr>
                </a:gs>
                <a:gs pos="100000">
                  <a:srgbClr val="FFFFFF">
                    <a:alpha val="2000"/>
                  </a:srgbClr>
                </a:gs>
              </a:gsLst>
              <a:lin ang="2700000"/>
            </a:gradFill>
            <a:ln w="19050" cap="rnd">
              <a:solidFill>
                <a:srgbClr val="FFFFFF">
                  <a:alpha val="19608"/>
                </a:srgbClr>
              </a:solidFill>
              <a:prstDash val="solid"/>
              <a:round/>
            </a:ln>
          </p:spPr>
        </p:sp>
        <p:sp>
          <p:nvSpPr>
            <p:cNvPr name="TextBox 8" id="8"/>
            <p:cNvSpPr txBox="true"/>
            <p:nvPr/>
          </p:nvSpPr>
          <p:spPr>
            <a:xfrm>
              <a:off x="76200" y="161925"/>
              <a:ext cx="660400" cy="574675"/>
            </a:xfrm>
            <a:prstGeom prst="rect">
              <a:avLst/>
            </a:prstGeom>
          </p:spPr>
          <p:txBody>
            <a:bodyPr anchor="ctr" rtlCol="false" tIns="50800" lIns="50800" bIns="50800" rIns="50800"/>
            <a:lstStyle/>
            <a:p>
              <a:pPr algn="ctr" marL="0" indent="0" lvl="0">
                <a:lnSpc>
                  <a:spcPts val="2218"/>
                </a:lnSpc>
                <a:spcBef>
                  <a:spcPct val="0"/>
                </a:spcBef>
              </a:pPr>
            </a:p>
          </p:txBody>
        </p:sp>
      </p:grpSp>
      <p:sp>
        <p:nvSpPr>
          <p:cNvPr name="TextBox 9" id="9"/>
          <p:cNvSpPr txBox="true"/>
          <p:nvPr/>
        </p:nvSpPr>
        <p:spPr>
          <a:xfrm rot="0">
            <a:off x="6998359" y="1079947"/>
            <a:ext cx="10260941" cy="4208058"/>
          </a:xfrm>
          <a:prstGeom prst="rect">
            <a:avLst/>
          </a:prstGeom>
        </p:spPr>
        <p:txBody>
          <a:bodyPr anchor="t" rtlCol="false" tIns="0" lIns="0" bIns="0" rIns="0">
            <a:spAutoFit/>
          </a:bodyPr>
          <a:lstStyle/>
          <a:p>
            <a:pPr algn="r">
              <a:lnSpc>
                <a:spcPts val="16574"/>
              </a:lnSpc>
            </a:pPr>
            <a:r>
              <a:rPr lang="en-US" b="true" sz="14166" spc="-594">
                <a:solidFill>
                  <a:srgbClr val="FFFFFF"/>
                </a:solidFill>
                <a:latin typeface="Open Sauce Bold"/>
                <a:ea typeface="Open Sauce Bold"/>
                <a:cs typeface="Open Sauce Bold"/>
                <a:sym typeface="Open Sauce Bold"/>
              </a:rPr>
              <a:t>List of Contents</a:t>
            </a:r>
          </a:p>
        </p:txBody>
      </p:sp>
      <p:grpSp>
        <p:nvGrpSpPr>
          <p:cNvPr name="Group 10" id="10"/>
          <p:cNvGrpSpPr/>
          <p:nvPr/>
        </p:nvGrpSpPr>
        <p:grpSpPr>
          <a:xfrm rot="0">
            <a:off x="666956" y="7072006"/>
            <a:ext cx="3794307" cy="836891"/>
            <a:chOff x="0" y="0"/>
            <a:chExt cx="1428187" cy="315008"/>
          </a:xfrm>
        </p:grpSpPr>
        <p:sp>
          <p:nvSpPr>
            <p:cNvPr name="Freeform 11" id="11"/>
            <p:cNvSpPr/>
            <p:nvPr/>
          </p:nvSpPr>
          <p:spPr>
            <a:xfrm flipH="false" flipV="false" rot="0">
              <a:off x="0" y="0"/>
              <a:ext cx="1428187" cy="315008"/>
            </a:xfrm>
            <a:custGeom>
              <a:avLst/>
              <a:gdLst/>
              <a:ahLst/>
              <a:cxnLst/>
              <a:rect r="r" b="b" t="t" l="l"/>
              <a:pathLst>
                <a:path h="315008" w="1428187">
                  <a:moveTo>
                    <a:pt x="104061" y="0"/>
                  </a:moveTo>
                  <a:lnTo>
                    <a:pt x="1324127" y="0"/>
                  </a:lnTo>
                  <a:cubicBezTo>
                    <a:pt x="1351725" y="0"/>
                    <a:pt x="1378194" y="10963"/>
                    <a:pt x="1397709" y="30479"/>
                  </a:cubicBezTo>
                  <a:cubicBezTo>
                    <a:pt x="1417224" y="49994"/>
                    <a:pt x="1428187" y="76462"/>
                    <a:pt x="1428187" y="104061"/>
                  </a:cubicBezTo>
                  <a:lnTo>
                    <a:pt x="1428187" y="210947"/>
                  </a:lnTo>
                  <a:cubicBezTo>
                    <a:pt x="1428187" y="268418"/>
                    <a:pt x="1381598" y="315008"/>
                    <a:pt x="1324127" y="315008"/>
                  </a:cubicBezTo>
                  <a:lnTo>
                    <a:pt x="104061" y="315008"/>
                  </a:lnTo>
                  <a:cubicBezTo>
                    <a:pt x="46590" y="315008"/>
                    <a:pt x="0" y="268418"/>
                    <a:pt x="0" y="210947"/>
                  </a:cubicBezTo>
                  <a:lnTo>
                    <a:pt x="0" y="104061"/>
                  </a:lnTo>
                  <a:cubicBezTo>
                    <a:pt x="0" y="46590"/>
                    <a:pt x="46590" y="0"/>
                    <a:pt x="104061" y="0"/>
                  </a:cubicBezTo>
                  <a:close/>
                </a:path>
              </a:pathLst>
            </a:custGeom>
            <a:gradFill rotWithShape="true">
              <a:gsLst>
                <a:gs pos="0">
                  <a:srgbClr val="C55CD1">
                    <a:alpha val="100000"/>
                  </a:srgbClr>
                </a:gs>
                <a:gs pos="100000">
                  <a:srgbClr val="923ACD">
                    <a:alpha val="100000"/>
                  </a:srgbClr>
                </a:gs>
              </a:gsLst>
              <a:lin ang="2700000"/>
            </a:gradFill>
            <a:ln w="19050" cap="rnd">
              <a:solidFill>
                <a:srgbClr val="FFFFFF"/>
              </a:solidFill>
              <a:prstDash val="solid"/>
              <a:round/>
            </a:ln>
          </p:spPr>
        </p:sp>
        <p:sp>
          <p:nvSpPr>
            <p:cNvPr name="TextBox 12" id="12"/>
            <p:cNvSpPr txBox="true"/>
            <p:nvPr/>
          </p:nvSpPr>
          <p:spPr>
            <a:xfrm>
              <a:off x="0" y="85725"/>
              <a:ext cx="1428187" cy="229283"/>
            </a:xfrm>
            <a:prstGeom prst="rect">
              <a:avLst/>
            </a:prstGeom>
          </p:spPr>
          <p:txBody>
            <a:bodyPr anchor="ctr" rtlCol="false" tIns="50800" lIns="50800" bIns="50800" rIns="50800"/>
            <a:lstStyle/>
            <a:p>
              <a:pPr algn="ctr" marL="0" indent="0" lvl="0">
                <a:lnSpc>
                  <a:spcPts val="2218"/>
                </a:lnSpc>
                <a:spcBef>
                  <a:spcPct val="0"/>
                </a:spcBef>
              </a:pPr>
            </a:p>
          </p:txBody>
        </p:sp>
      </p:grpSp>
      <p:grpSp>
        <p:nvGrpSpPr>
          <p:cNvPr name="Group 13" id="13"/>
          <p:cNvGrpSpPr/>
          <p:nvPr/>
        </p:nvGrpSpPr>
        <p:grpSpPr>
          <a:xfrm rot="0">
            <a:off x="4599853" y="7072006"/>
            <a:ext cx="3817497" cy="836891"/>
            <a:chOff x="0" y="0"/>
            <a:chExt cx="1436916" cy="315008"/>
          </a:xfrm>
        </p:grpSpPr>
        <p:sp>
          <p:nvSpPr>
            <p:cNvPr name="Freeform 14" id="14"/>
            <p:cNvSpPr/>
            <p:nvPr/>
          </p:nvSpPr>
          <p:spPr>
            <a:xfrm flipH="false" flipV="false" rot="0">
              <a:off x="0" y="0"/>
              <a:ext cx="1436916" cy="315008"/>
            </a:xfrm>
            <a:custGeom>
              <a:avLst/>
              <a:gdLst/>
              <a:ahLst/>
              <a:cxnLst/>
              <a:rect r="r" b="b" t="t" l="l"/>
              <a:pathLst>
                <a:path h="315008" w="1436916">
                  <a:moveTo>
                    <a:pt x="103428" y="0"/>
                  </a:moveTo>
                  <a:lnTo>
                    <a:pt x="1333488" y="0"/>
                  </a:lnTo>
                  <a:cubicBezTo>
                    <a:pt x="1390610" y="0"/>
                    <a:pt x="1436916" y="46307"/>
                    <a:pt x="1436916" y="103428"/>
                  </a:cubicBezTo>
                  <a:lnTo>
                    <a:pt x="1436916" y="211579"/>
                  </a:lnTo>
                  <a:cubicBezTo>
                    <a:pt x="1436916" y="268701"/>
                    <a:pt x="1390610" y="315008"/>
                    <a:pt x="1333488" y="315008"/>
                  </a:cubicBezTo>
                  <a:lnTo>
                    <a:pt x="103428" y="315008"/>
                  </a:lnTo>
                  <a:cubicBezTo>
                    <a:pt x="46307" y="315008"/>
                    <a:pt x="0" y="268701"/>
                    <a:pt x="0" y="211579"/>
                  </a:cubicBezTo>
                  <a:lnTo>
                    <a:pt x="0" y="103428"/>
                  </a:lnTo>
                  <a:cubicBezTo>
                    <a:pt x="0" y="46307"/>
                    <a:pt x="46307" y="0"/>
                    <a:pt x="103428" y="0"/>
                  </a:cubicBezTo>
                  <a:close/>
                </a:path>
              </a:pathLst>
            </a:custGeom>
            <a:gradFill rotWithShape="true">
              <a:gsLst>
                <a:gs pos="0">
                  <a:srgbClr val="FFFFFF">
                    <a:alpha val="10500"/>
                  </a:srgbClr>
                </a:gs>
                <a:gs pos="25000">
                  <a:srgbClr val="FFFFFF">
                    <a:alpha val="15000"/>
                  </a:srgbClr>
                </a:gs>
                <a:gs pos="50000">
                  <a:srgbClr val="FFFFFF">
                    <a:alpha val="10000"/>
                  </a:srgbClr>
                </a:gs>
                <a:gs pos="75000">
                  <a:srgbClr val="FFFFFF">
                    <a:alpha val="15000"/>
                  </a:srgbClr>
                </a:gs>
                <a:gs pos="100000">
                  <a:srgbClr val="FFFFFF">
                    <a:alpha val="10000"/>
                  </a:srgbClr>
                </a:gs>
              </a:gsLst>
              <a:lin ang="2700000"/>
            </a:gradFill>
            <a:ln w="19050" cap="rnd">
              <a:solidFill>
                <a:srgbClr val="FFFFFF"/>
              </a:solidFill>
              <a:prstDash val="solid"/>
              <a:round/>
            </a:ln>
          </p:spPr>
        </p:sp>
        <p:sp>
          <p:nvSpPr>
            <p:cNvPr name="TextBox 15" id="15"/>
            <p:cNvSpPr txBox="true"/>
            <p:nvPr/>
          </p:nvSpPr>
          <p:spPr>
            <a:xfrm>
              <a:off x="0" y="85725"/>
              <a:ext cx="1436916" cy="229283"/>
            </a:xfrm>
            <a:prstGeom prst="rect">
              <a:avLst/>
            </a:prstGeom>
          </p:spPr>
          <p:txBody>
            <a:bodyPr anchor="ctr" rtlCol="false" tIns="50800" lIns="50800" bIns="50800" rIns="50800"/>
            <a:lstStyle/>
            <a:p>
              <a:pPr algn="ctr" marL="0" indent="0" lvl="0">
                <a:lnSpc>
                  <a:spcPts val="2218"/>
                </a:lnSpc>
                <a:spcBef>
                  <a:spcPct val="0"/>
                </a:spcBef>
              </a:pPr>
            </a:p>
          </p:txBody>
        </p:sp>
      </p:grpSp>
      <p:grpSp>
        <p:nvGrpSpPr>
          <p:cNvPr name="Group 16" id="16"/>
          <p:cNvGrpSpPr/>
          <p:nvPr/>
        </p:nvGrpSpPr>
        <p:grpSpPr>
          <a:xfrm rot="0">
            <a:off x="-3924881" y="7072006"/>
            <a:ext cx="4382287" cy="836891"/>
            <a:chOff x="0" y="0"/>
            <a:chExt cx="1649504" cy="315008"/>
          </a:xfrm>
        </p:grpSpPr>
        <p:sp>
          <p:nvSpPr>
            <p:cNvPr name="Freeform 17" id="17"/>
            <p:cNvSpPr/>
            <p:nvPr/>
          </p:nvSpPr>
          <p:spPr>
            <a:xfrm flipH="false" flipV="false" rot="0">
              <a:off x="0" y="0"/>
              <a:ext cx="1649504" cy="315008"/>
            </a:xfrm>
            <a:custGeom>
              <a:avLst/>
              <a:gdLst/>
              <a:ahLst/>
              <a:cxnLst/>
              <a:rect r="r" b="b" t="t" l="l"/>
              <a:pathLst>
                <a:path h="315008" w="1649504">
                  <a:moveTo>
                    <a:pt x="90099" y="0"/>
                  </a:moveTo>
                  <a:lnTo>
                    <a:pt x="1559406" y="0"/>
                  </a:lnTo>
                  <a:cubicBezTo>
                    <a:pt x="1583301" y="0"/>
                    <a:pt x="1606218" y="9493"/>
                    <a:pt x="1623115" y="26389"/>
                  </a:cubicBezTo>
                  <a:cubicBezTo>
                    <a:pt x="1640012" y="43286"/>
                    <a:pt x="1649504" y="66203"/>
                    <a:pt x="1649504" y="90099"/>
                  </a:cubicBezTo>
                  <a:lnTo>
                    <a:pt x="1649504" y="224909"/>
                  </a:lnTo>
                  <a:cubicBezTo>
                    <a:pt x="1649504" y="248805"/>
                    <a:pt x="1640012" y="271722"/>
                    <a:pt x="1623115" y="288619"/>
                  </a:cubicBezTo>
                  <a:cubicBezTo>
                    <a:pt x="1606218" y="305515"/>
                    <a:pt x="1583301" y="315008"/>
                    <a:pt x="1559406" y="315008"/>
                  </a:cubicBezTo>
                  <a:lnTo>
                    <a:pt x="90099" y="315008"/>
                  </a:lnTo>
                  <a:cubicBezTo>
                    <a:pt x="66203" y="315008"/>
                    <a:pt x="43286" y="305515"/>
                    <a:pt x="26389" y="288619"/>
                  </a:cubicBezTo>
                  <a:cubicBezTo>
                    <a:pt x="9493" y="271722"/>
                    <a:pt x="0" y="248805"/>
                    <a:pt x="0" y="224909"/>
                  </a:cubicBezTo>
                  <a:lnTo>
                    <a:pt x="0" y="90099"/>
                  </a:lnTo>
                  <a:cubicBezTo>
                    <a:pt x="0" y="66203"/>
                    <a:pt x="9493" y="43286"/>
                    <a:pt x="26389" y="26389"/>
                  </a:cubicBezTo>
                  <a:cubicBezTo>
                    <a:pt x="43286" y="9493"/>
                    <a:pt x="66203" y="0"/>
                    <a:pt x="90099" y="0"/>
                  </a:cubicBezTo>
                  <a:close/>
                </a:path>
              </a:pathLst>
            </a:custGeom>
            <a:gradFill rotWithShape="true">
              <a:gsLst>
                <a:gs pos="0">
                  <a:srgbClr val="FFFFFF">
                    <a:alpha val="10500"/>
                  </a:srgbClr>
                </a:gs>
                <a:gs pos="25000">
                  <a:srgbClr val="FFFFFF">
                    <a:alpha val="15000"/>
                  </a:srgbClr>
                </a:gs>
                <a:gs pos="50000">
                  <a:srgbClr val="FFFFFF">
                    <a:alpha val="10000"/>
                  </a:srgbClr>
                </a:gs>
                <a:gs pos="75000">
                  <a:srgbClr val="FFFFFF">
                    <a:alpha val="15000"/>
                  </a:srgbClr>
                </a:gs>
                <a:gs pos="100000">
                  <a:srgbClr val="FFFFFF">
                    <a:alpha val="10000"/>
                  </a:srgbClr>
                </a:gs>
              </a:gsLst>
              <a:lin ang="2700000"/>
            </a:gradFill>
            <a:ln w="19050" cap="rnd">
              <a:solidFill>
                <a:srgbClr val="FFFFFF"/>
              </a:solidFill>
              <a:prstDash val="solid"/>
              <a:round/>
            </a:ln>
          </p:spPr>
        </p:sp>
        <p:sp>
          <p:nvSpPr>
            <p:cNvPr name="TextBox 18" id="18"/>
            <p:cNvSpPr txBox="true"/>
            <p:nvPr/>
          </p:nvSpPr>
          <p:spPr>
            <a:xfrm>
              <a:off x="0" y="85725"/>
              <a:ext cx="1649504" cy="229283"/>
            </a:xfrm>
            <a:prstGeom prst="rect">
              <a:avLst/>
            </a:prstGeom>
          </p:spPr>
          <p:txBody>
            <a:bodyPr anchor="ctr" rtlCol="false" tIns="50800" lIns="50800" bIns="50800" rIns="50800"/>
            <a:lstStyle/>
            <a:p>
              <a:pPr algn="ctr" marL="0" indent="0" lvl="0">
                <a:lnSpc>
                  <a:spcPts val="2218"/>
                </a:lnSpc>
                <a:spcBef>
                  <a:spcPct val="0"/>
                </a:spcBef>
              </a:pPr>
            </a:p>
          </p:txBody>
        </p:sp>
      </p:grpSp>
      <p:grpSp>
        <p:nvGrpSpPr>
          <p:cNvPr name="Group 19" id="19"/>
          <p:cNvGrpSpPr/>
          <p:nvPr/>
        </p:nvGrpSpPr>
        <p:grpSpPr>
          <a:xfrm rot="0">
            <a:off x="1132972" y="8341457"/>
            <a:ext cx="4168708" cy="836891"/>
            <a:chOff x="0" y="0"/>
            <a:chExt cx="1569113" cy="315008"/>
          </a:xfrm>
        </p:grpSpPr>
        <p:sp>
          <p:nvSpPr>
            <p:cNvPr name="Freeform 20" id="20"/>
            <p:cNvSpPr/>
            <p:nvPr/>
          </p:nvSpPr>
          <p:spPr>
            <a:xfrm flipH="false" flipV="false" rot="0">
              <a:off x="0" y="0"/>
              <a:ext cx="1569113" cy="315008"/>
            </a:xfrm>
            <a:custGeom>
              <a:avLst/>
              <a:gdLst/>
              <a:ahLst/>
              <a:cxnLst/>
              <a:rect r="r" b="b" t="t" l="l"/>
              <a:pathLst>
                <a:path h="315008" w="1569113">
                  <a:moveTo>
                    <a:pt x="94715" y="0"/>
                  </a:moveTo>
                  <a:lnTo>
                    <a:pt x="1474398" y="0"/>
                  </a:lnTo>
                  <a:cubicBezTo>
                    <a:pt x="1499518" y="0"/>
                    <a:pt x="1523609" y="9979"/>
                    <a:pt x="1541371" y="27741"/>
                  </a:cubicBezTo>
                  <a:cubicBezTo>
                    <a:pt x="1559134" y="45504"/>
                    <a:pt x="1569113" y="69595"/>
                    <a:pt x="1569113" y="94715"/>
                  </a:cubicBezTo>
                  <a:lnTo>
                    <a:pt x="1569113" y="220293"/>
                  </a:lnTo>
                  <a:cubicBezTo>
                    <a:pt x="1569113" y="272603"/>
                    <a:pt x="1526707" y="315008"/>
                    <a:pt x="1474398" y="315008"/>
                  </a:cubicBezTo>
                  <a:lnTo>
                    <a:pt x="94715" y="315008"/>
                  </a:lnTo>
                  <a:cubicBezTo>
                    <a:pt x="69595" y="315008"/>
                    <a:pt x="45504" y="305029"/>
                    <a:pt x="27741" y="287267"/>
                  </a:cubicBezTo>
                  <a:cubicBezTo>
                    <a:pt x="9979" y="269504"/>
                    <a:pt x="0" y="245413"/>
                    <a:pt x="0" y="220293"/>
                  </a:cubicBezTo>
                  <a:lnTo>
                    <a:pt x="0" y="94715"/>
                  </a:lnTo>
                  <a:cubicBezTo>
                    <a:pt x="0" y="69595"/>
                    <a:pt x="9979" y="45504"/>
                    <a:pt x="27741" y="27741"/>
                  </a:cubicBezTo>
                  <a:cubicBezTo>
                    <a:pt x="45504" y="9979"/>
                    <a:pt x="69595" y="0"/>
                    <a:pt x="94715" y="0"/>
                  </a:cubicBezTo>
                  <a:close/>
                </a:path>
              </a:pathLst>
            </a:custGeom>
            <a:gradFill rotWithShape="true">
              <a:gsLst>
                <a:gs pos="0">
                  <a:srgbClr val="FFFFFF">
                    <a:alpha val="10500"/>
                  </a:srgbClr>
                </a:gs>
                <a:gs pos="25000">
                  <a:srgbClr val="FFFFFF">
                    <a:alpha val="15000"/>
                  </a:srgbClr>
                </a:gs>
                <a:gs pos="50000">
                  <a:srgbClr val="FFFFFF">
                    <a:alpha val="10000"/>
                  </a:srgbClr>
                </a:gs>
                <a:gs pos="75000">
                  <a:srgbClr val="FFFFFF">
                    <a:alpha val="15000"/>
                  </a:srgbClr>
                </a:gs>
                <a:gs pos="100000">
                  <a:srgbClr val="FFFFFF">
                    <a:alpha val="10000"/>
                  </a:srgbClr>
                </a:gs>
              </a:gsLst>
              <a:lin ang="2700000"/>
            </a:gradFill>
            <a:ln w="19050" cap="rnd">
              <a:solidFill>
                <a:srgbClr val="FFFFFF"/>
              </a:solidFill>
              <a:prstDash val="solid"/>
              <a:round/>
            </a:ln>
          </p:spPr>
        </p:sp>
        <p:sp>
          <p:nvSpPr>
            <p:cNvPr name="TextBox 21" id="21"/>
            <p:cNvSpPr txBox="true"/>
            <p:nvPr/>
          </p:nvSpPr>
          <p:spPr>
            <a:xfrm>
              <a:off x="0" y="85725"/>
              <a:ext cx="1569113" cy="229283"/>
            </a:xfrm>
            <a:prstGeom prst="rect">
              <a:avLst/>
            </a:prstGeom>
          </p:spPr>
          <p:txBody>
            <a:bodyPr anchor="ctr" rtlCol="false" tIns="50800" lIns="50800" bIns="50800" rIns="50800"/>
            <a:lstStyle/>
            <a:p>
              <a:pPr algn="ctr" marL="0" indent="0" lvl="0">
                <a:lnSpc>
                  <a:spcPts val="2218"/>
                </a:lnSpc>
                <a:spcBef>
                  <a:spcPct val="0"/>
                </a:spcBef>
              </a:pPr>
            </a:p>
          </p:txBody>
        </p:sp>
      </p:grpSp>
      <p:grpSp>
        <p:nvGrpSpPr>
          <p:cNvPr name="Group 22" id="22"/>
          <p:cNvGrpSpPr/>
          <p:nvPr/>
        </p:nvGrpSpPr>
        <p:grpSpPr>
          <a:xfrm rot="0">
            <a:off x="5577905" y="8341457"/>
            <a:ext cx="4357059" cy="836891"/>
            <a:chOff x="0" y="0"/>
            <a:chExt cx="1640009" cy="315008"/>
          </a:xfrm>
        </p:grpSpPr>
        <p:sp>
          <p:nvSpPr>
            <p:cNvPr name="Freeform 23" id="23"/>
            <p:cNvSpPr/>
            <p:nvPr/>
          </p:nvSpPr>
          <p:spPr>
            <a:xfrm flipH="false" flipV="false" rot="0">
              <a:off x="0" y="0"/>
              <a:ext cx="1640009" cy="315008"/>
            </a:xfrm>
            <a:custGeom>
              <a:avLst/>
              <a:gdLst/>
              <a:ahLst/>
              <a:cxnLst/>
              <a:rect r="r" b="b" t="t" l="l"/>
              <a:pathLst>
                <a:path h="315008" w="1640009">
                  <a:moveTo>
                    <a:pt x="90620" y="0"/>
                  </a:moveTo>
                  <a:lnTo>
                    <a:pt x="1549388" y="0"/>
                  </a:lnTo>
                  <a:cubicBezTo>
                    <a:pt x="1573422" y="0"/>
                    <a:pt x="1596472" y="9547"/>
                    <a:pt x="1613467" y="26542"/>
                  </a:cubicBezTo>
                  <a:cubicBezTo>
                    <a:pt x="1630461" y="43537"/>
                    <a:pt x="1640009" y="66586"/>
                    <a:pt x="1640009" y="90620"/>
                  </a:cubicBezTo>
                  <a:lnTo>
                    <a:pt x="1640009" y="224388"/>
                  </a:lnTo>
                  <a:cubicBezTo>
                    <a:pt x="1640009" y="248422"/>
                    <a:pt x="1630461" y="271471"/>
                    <a:pt x="1613467" y="288466"/>
                  </a:cubicBezTo>
                  <a:cubicBezTo>
                    <a:pt x="1596472" y="305460"/>
                    <a:pt x="1573422" y="315008"/>
                    <a:pt x="1549388" y="315008"/>
                  </a:cubicBezTo>
                  <a:lnTo>
                    <a:pt x="90620" y="315008"/>
                  </a:lnTo>
                  <a:cubicBezTo>
                    <a:pt x="66586" y="315008"/>
                    <a:pt x="43537" y="305460"/>
                    <a:pt x="26542" y="288466"/>
                  </a:cubicBezTo>
                  <a:cubicBezTo>
                    <a:pt x="9547" y="271471"/>
                    <a:pt x="0" y="248422"/>
                    <a:pt x="0" y="224388"/>
                  </a:cubicBezTo>
                  <a:lnTo>
                    <a:pt x="0" y="90620"/>
                  </a:lnTo>
                  <a:cubicBezTo>
                    <a:pt x="0" y="66586"/>
                    <a:pt x="9547" y="43537"/>
                    <a:pt x="26542" y="26542"/>
                  </a:cubicBezTo>
                  <a:cubicBezTo>
                    <a:pt x="43537" y="9547"/>
                    <a:pt x="66586" y="0"/>
                    <a:pt x="90620" y="0"/>
                  </a:cubicBezTo>
                  <a:close/>
                </a:path>
              </a:pathLst>
            </a:custGeom>
            <a:gradFill rotWithShape="true">
              <a:gsLst>
                <a:gs pos="0">
                  <a:srgbClr val="C55CD1">
                    <a:alpha val="100000"/>
                  </a:srgbClr>
                </a:gs>
                <a:gs pos="100000">
                  <a:srgbClr val="923ACD">
                    <a:alpha val="100000"/>
                  </a:srgbClr>
                </a:gs>
              </a:gsLst>
              <a:lin ang="2700000"/>
            </a:gradFill>
            <a:ln w="19050" cap="rnd">
              <a:solidFill>
                <a:srgbClr val="FFFFFF"/>
              </a:solidFill>
              <a:prstDash val="solid"/>
              <a:round/>
            </a:ln>
          </p:spPr>
        </p:sp>
        <p:sp>
          <p:nvSpPr>
            <p:cNvPr name="TextBox 24" id="24"/>
            <p:cNvSpPr txBox="true"/>
            <p:nvPr/>
          </p:nvSpPr>
          <p:spPr>
            <a:xfrm>
              <a:off x="0" y="85725"/>
              <a:ext cx="1640009" cy="229283"/>
            </a:xfrm>
            <a:prstGeom prst="rect">
              <a:avLst/>
            </a:prstGeom>
          </p:spPr>
          <p:txBody>
            <a:bodyPr anchor="ctr" rtlCol="false" tIns="50800" lIns="50800" bIns="50800" rIns="50800"/>
            <a:lstStyle/>
            <a:p>
              <a:pPr algn="ctr" marL="0" indent="0" lvl="0">
                <a:lnSpc>
                  <a:spcPts val="2218"/>
                </a:lnSpc>
                <a:spcBef>
                  <a:spcPct val="0"/>
                </a:spcBef>
              </a:pPr>
            </a:p>
          </p:txBody>
        </p:sp>
      </p:grpSp>
      <p:grpSp>
        <p:nvGrpSpPr>
          <p:cNvPr name="Group 25" id="25"/>
          <p:cNvGrpSpPr/>
          <p:nvPr/>
        </p:nvGrpSpPr>
        <p:grpSpPr>
          <a:xfrm rot="0">
            <a:off x="-3527775" y="8341457"/>
            <a:ext cx="4388393" cy="836891"/>
            <a:chOff x="0" y="0"/>
            <a:chExt cx="1651803" cy="315008"/>
          </a:xfrm>
        </p:grpSpPr>
        <p:sp>
          <p:nvSpPr>
            <p:cNvPr name="Freeform 26" id="26"/>
            <p:cNvSpPr/>
            <p:nvPr/>
          </p:nvSpPr>
          <p:spPr>
            <a:xfrm flipH="false" flipV="false" rot="0">
              <a:off x="0" y="0"/>
              <a:ext cx="1651803" cy="315008"/>
            </a:xfrm>
            <a:custGeom>
              <a:avLst/>
              <a:gdLst/>
              <a:ahLst/>
              <a:cxnLst/>
              <a:rect r="r" b="b" t="t" l="l"/>
              <a:pathLst>
                <a:path h="315008" w="1651803">
                  <a:moveTo>
                    <a:pt x="89973" y="0"/>
                  </a:moveTo>
                  <a:lnTo>
                    <a:pt x="1561829" y="0"/>
                  </a:lnTo>
                  <a:cubicBezTo>
                    <a:pt x="1611520" y="0"/>
                    <a:pt x="1651803" y="40282"/>
                    <a:pt x="1651803" y="89973"/>
                  </a:cubicBezTo>
                  <a:lnTo>
                    <a:pt x="1651803" y="225035"/>
                  </a:lnTo>
                  <a:cubicBezTo>
                    <a:pt x="1651803" y="274725"/>
                    <a:pt x="1611520" y="315008"/>
                    <a:pt x="1561829" y="315008"/>
                  </a:cubicBezTo>
                  <a:lnTo>
                    <a:pt x="89973" y="315008"/>
                  </a:lnTo>
                  <a:cubicBezTo>
                    <a:pt x="40282" y="315008"/>
                    <a:pt x="0" y="274725"/>
                    <a:pt x="0" y="225035"/>
                  </a:cubicBezTo>
                  <a:lnTo>
                    <a:pt x="0" y="89973"/>
                  </a:lnTo>
                  <a:cubicBezTo>
                    <a:pt x="0" y="40282"/>
                    <a:pt x="40282" y="0"/>
                    <a:pt x="89973" y="0"/>
                  </a:cubicBezTo>
                  <a:close/>
                </a:path>
              </a:pathLst>
            </a:custGeom>
            <a:gradFill rotWithShape="true">
              <a:gsLst>
                <a:gs pos="0">
                  <a:srgbClr val="FFFFFF">
                    <a:alpha val="10500"/>
                  </a:srgbClr>
                </a:gs>
                <a:gs pos="25000">
                  <a:srgbClr val="FFFFFF">
                    <a:alpha val="15000"/>
                  </a:srgbClr>
                </a:gs>
                <a:gs pos="50000">
                  <a:srgbClr val="FFFFFF">
                    <a:alpha val="10000"/>
                  </a:srgbClr>
                </a:gs>
                <a:gs pos="75000">
                  <a:srgbClr val="FFFFFF">
                    <a:alpha val="15000"/>
                  </a:srgbClr>
                </a:gs>
                <a:gs pos="100000">
                  <a:srgbClr val="FFFFFF">
                    <a:alpha val="10000"/>
                  </a:srgbClr>
                </a:gs>
              </a:gsLst>
              <a:lin ang="2700000"/>
            </a:gradFill>
            <a:ln w="19050" cap="rnd">
              <a:solidFill>
                <a:srgbClr val="FFFFFF"/>
              </a:solidFill>
              <a:prstDash val="solid"/>
              <a:round/>
            </a:ln>
          </p:spPr>
        </p:sp>
        <p:sp>
          <p:nvSpPr>
            <p:cNvPr name="TextBox 27" id="27"/>
            <p:cNvSpPr txBox="true"/>
            <p:nvPr/>
          </p:nvSpPr>
          <p:spPr>
            <a:xfrm>
              <a:off x="0" y="85725"/>
              <a:ext cx="1651803" cy="229283"/>
            </a:xfrm>
            <a:prstGeom prst="rect">
              <a:avLst/>
            </a:prstGeom>
          </p:spPr>
          <p:txBody>
            <a:bodyPr anchor="ctr" rtlCol="false" tIns="50800" lIns="50800" bIns="50800" rIns="50800"/>
            <a:lstStyle/>
            <a:p>
              <a:pPr algn="ctr" marL="0" indent="0" lvl="0">
                <a:lnSpc>
                  <a:spcPts val="2218"/>
                </a:lnSpc>
                <a:spcBef>
                  <a:spcPct val="0"/>
                </a:spcBef>
              </a:pPr>
            </a:p>
          </p:txBody>
        </p:sp>
      </p:grpSp>
      <p:grpSp>
        <p:nvGrpSpPr>
          <p:cNvPr name="Group 28" id="28"/>
          <p:cNvGrpSpPr/>
          <p:nvPr/>
        </p:nvGrpSpPr>
        <p:grpSpPr>
          <a:xfrm rot="0">
            <a:off x="10211189" y="8341457"/>
            <a:ext cx="3380799" cy="836891"/>
            <a:chOff x="0" y="0"/>
            <a:chExt cx="1272542" cy="315008"/>
          </a:xfrm>
        </p:grpSpPr>
        <p:sp>
          <p:nvSpPr>
            <p:cNvPr name="Freeform 29" id="29"/>
            <p:cNvSpPr/>
            <p:nvPr/>
          </p:nvSpPr>
          <p:spPr>
            <a:xfrm flipH="false" flipV="false" rot="0">
              <a:off x="0" y="0"/>
              <a:ext cx="1272542" cy="315008"/>
            </a:xfrm>
            <a:custGeom>
              <a:avLst/>
              <a:gdLst/>
              <a:ahLst/>
              <a:cxnLst/>
              <a:rect r="r" b="b" t="t" l="l"/>
              <a:pathLst>
                <a:path h="315008" w="1272542">
                  <a:moveTo>
                    <a:pt x="116788" y="0"/>
                  </a:moveTo>
                  <a:lnTo>
                    <a:pt x="1155753" y="0"/>
                  </a:lnTo>
                  <a:cubicBezTo>
                    <a:pt x="1186727" y="0"/>
                    <a:pt x="1216433" y="12304"/>
                    <a:pt x="1238335" y="34207"/>
                  </a:cubicBezTo>
                  <a:cubicBezTo>
                    <a:pt x="1260237" y="56109"/>
                    <a:pt x="1272542" y="85814"/>
                    <a:pt x="1272542" y="116788"/>
                  </a:cubicBezTo>
                  <a:lnTo>
                    <a:pt x="1272542" y="198219"/>
                  </a:lnTo>
                  <a:cubicBezTo>
                    <a:pt x="1272542" y="262720"/>
                    <a:pt x="1220254" y="315008"/>
                    <a:pt x="1155753" y="315008"/>
                  </a:cubicBezTo>
                  <a:lnTo>
                    <a:pt x="116788" y="315008"/>
                  </a:lnTo>
                  <a:cubicBezTo>
                    <a:pt x="85814" y="315008"/>
                    <a:pt x="56109" y="302703"/>
                    <a:pt x="34207" y="280801"/>
                  </a:cubicBezTo>
                  <a:cubicBezTo>
                    <a:pt x="12304" y="258899"/>
                    <a:pt x="0" y="229194"/>
                    <a:pt x="0" y="198219"/>
                  </a:cubicBezTo>
                  <a:lnTo>
                    <a:pt x="0" y="116788"/>
                  </a:lnTo>
                  <a:cubicBezTo>
                    <a:pt x="0" y="52288"/>
                    <a:pt x="52288" y="0"/>
                    <a:pt x="116788" y="0"/>
                  </a:cubicBezTo>
                  <a:close/>
                </a:path>
              </a:pathLst>
            </a:custGeom>
            <a:gradFill rotWithShape="true">
              <a:gsLst>
                <a:gs pos="0">
                  <a:srgbClr val="FFFFFF">
                    <a:alpha val="10500"/>
                  </a:srgbClr>
                </a:gs>
                <a:gs pos="25000">
                  <a:srgbClr val="FFFFFF">
                    <a:alpha val="15000"/>
                  </a:srgbClr>
                </a:gs>
                <a:gs pos="50000">
                  <a:srgbClr val="FFFFFF">
                    <a:alpha val="10000"/>
                  </a:srgbClr>
                </a:gs>
                <a:gs pos="75000">
                  <a:srgbClr val="FFFFFF">
                    <a:alpha val="15000"/>
                  </a:srgbClr>
                </a:gs>
                <a:gs pos="100000">
                  <a:srgbClr val="FFFFFF">
                    <a:alpha val="10000"/>
                  </a:srgbClr>
                </a:gs>
              </a:gsLst>
              <a:lin ang="2700000"/>
            </a:gradFill>
            <a:ln w="19050" cap="rnd">
              <a:solidFill>
                <a:srgbClr val="FFFFFF"/>
              </a:solidFill>
              <a:prstDash val="solid"/>
              <a:round/>
            </a:ln>
          </p:spPr>
        </p:sp>
        <p:sp>
          <p:nvSpPr>
            <p:cNvPr name="TextBox 30" id="30"/>
            <p:cNvSpPr txBox="true"/>
            <p:nvPr/>
          </p:nvSpPr>
          <p:spPr>
            <a:xfrm>
              <a:off x="0" y="85725"/>
              <a:ext cx="1272542" cy="229283"/>
            </a:xfrm>
            <a:prstGeom prst="rect">
              <a:avLst/>
            </a:prstGeom>
          </p:spPr>
          <p:txBody>
            <a:bodyPr anchor="ctr" rtlCol="false" tIns="50800" lIns="50800" bIns="50800" rIns="50800"/>
            <a:lstStyle/>
            <a:p>
              <a:pPr algn="ctr" marL="0" indent="0" lvl="0">
                <a:lnSpc>
                  <a:spcPts val="2218"/>
                </a:lnSpc>
                <a:spcBef>
                  <a:spcPct val="0"/>
                </a:spcBef>
              </a:pPr>
            </a:p>
          </p:txBody>
        </p:sp>
      </p:grpSp>
      <p:grpSp>
        <p:nvGrpSpPr>
          <p:cNvPr name="Group 31" id="31"/>
          <p:cNvGrpSpPr/>
          <p:nvPr/>
        </p:nvGrpSpPr>
        <p:grpSpPr>
          <a:xfrm rot="0">
            <a:off x="17002549" y="8341457"/>
            <a:ext cx="4388393" cy="836891"/>
            <a:chOff x="0" y="0"/>
            <a:chExt cx="1651803" cy="315008"/>
          </a:xfrm>
        </p:grpSpPr>
        <p:sp>
          <p:nvSpPr>
            <p:cNvPr name="Freeform 32" id="32"/>
            <p:cNvSpPr/>
            <p:nvPr/>
          </p:nvSpPr>
          <p:spPr>
            <a:xfrm flipH="false" flipV="false" rot="0">
              <a:off x="0" y="0"/>
              <a:ext cx="1651803" cy="315008"/>
            </a:xfrm>
            <a:custGeom>
              <a:avLst/>
              <a:gdLst/>
              <a:ahLst/>
              <a:cxnLst/>
              <a:rect r="r" b="b" t="t" l="l"/>
              <a:pathLst>
                <a:path h="315008" w="1651803">
                  <a:moveTo>
                    <a:pt x="89973" y="0"/>
                  </a:moveTo>
                  <a:lnTo>
                    <a:pt x="1561829" y="0"/>
                  </a:lnTo>
                  <a:cubicBezTo>
                    <a:pt x="1611520" y="0"/>
                    <a:pt x="1651803" y="40282"/>
                    <a:pt x="1651803" y="89973"/>
                  </a:cubicBezTo>
                  <a:lnTo>
                    <a:pt x="1651803" y="225035"/>
                  </a:lnTo>
                  <a:cubicBezTo>
                    <a:pt x="1651803" y="274725"/>
                    <a:pt x="1611520" y="315008"/>
                    <a:pt x="1561829" y="315008"/>
                  </a:cubicBezTo>
                  <a:lnTo>
                    <a:pt x="89973" y="315008"/>
                  </a:lnTo>
                  <a:cubicBezTo>
                    <a:pt x="40282" y="315008"/>
                    <a:pt x="0" y="274725"/>
                    <a:pt x="0" y="225035"/>
                  </a:cubicBezTo>
                  <a:lnTo>
                    <a:pt x="0" y="89973"/>
                  </a:lnTo>
                  <a:cubicBezTo>
                    <a:pt x="0" y="40282"/>
                    <a:pt x="40282" y="0"/>
                    <a:pt x="89973" y="0"/>
                  </a:cubicBezTo>
                  <a:close/>
                </a:path>
              </a:pathLst>
            </a:custGeom>
            <a:gradFill rotWithShape="true">
              <a:gsLst>
                <a:gs pos="0">
                  <a:srgbClr val="FFFFFF">
                    <a:alpha val="10500"/>
                  </a:srgbClr>
                </a:gs>
                <a:gs pos="25000">
                  <a:srgbClr val="FFFFFF">
                    <a:alpha val="15000"/>
                  </a:srgbClr>
                </a:gs>
                <a:gs pos="50000">
                  <a:srgbClr val="FFFFFF">
                    <a:alpha val="10000"/>
                  </a:srgbClr>
                </a:gs>
                <a:gs pos="75000">
                  <a:srgbClr val="FFFFFF">
                    <a:alpha val="15000"/>
                  </a:srgbClr>
                </a:gs>
                <a:gs pos="100000">
                  <a:srgbClr val="FFFFFF">
                    <a:alpha val="10000"/>
                  </a:srgbClr>
                </a:gs>
              </a:gsLst>
              <a:lin ang="2700000"/>
            </a:gradFill>
            <a:ln w="19050" cap="rnd">
              <a:solidFill>
                <a:srgbClr val="FFFFFF"/>
              </a:solidFill>
              <a:prstDash val="solid"/>
              <a:round/>
            </a:ln>
          </p:spPr>
        </p:sp>
        <p:sp>
          <p:nvSpPr>
            <p:cNvPr name="TextBox 33" id="33"/>
            <p:cNvSpPr txBox="true"/>
            <p:nvPr/>
          </p:nvSpPr>
          <p:spPr>
            <a:xfrm>
              <a:off x="0" y="85725"/>
              <a:ext cx="1651803" cy="229283"/>
            </a:xfrm>
            <a:prstGeom prst="rect">
              <a:avLst/>
            </a:prstGeom>
          </p:spPr>
          <p:txBody>
            <a:bodyPr anchor="ctr" rtlCol="false" tIns="50800" lIns="50800" bIns="50800" rIns="50800"/>
            <a:lstStyle/>
            <a:p>
              <a:pPr algn="ctr" marL="0" indent="0" lvl="0">
                <a:lnSpc>
                  <a:spcPts val="2218"/>
                </a:lnSpc>
                <a:spcBef>
                  <a:spcPct val="0"/>
                </a:spcBef>
              </a:pPr>
            </a:p>
          </p:txBody>
        </p:sp>
      </p:grpSp>
      <p:grpSp>
        <p:nvGrpSpPr>
          <p:cNvPr name="Group 34" id="34"/>
          <p:cNvGrpSpPr/>
          <p:nvPr/>
        </p:nvGrpSpPr>
        <p:grpSpPr>
          <a:xfrm rot="0">
            <a:off x="8626900" y="7072006"/>
            <a:ext cx="4450738" cy="836891"/>
            <a:chOff x="0" y="0"/>
            <a:chExt cx="1675270" cy="315008"/>
          </a:xfrm>
        </p:grpSpPr>
        <p:sp>
          <p:nvSpPr>
            <p:cNvPr name="Freeform 35" id="35"/>
            <p:cNvSpPr/>
            <p:nvPr/>
          </p:nvSpPr>
          <p:spPr>
            <a:xfrm flipH="false" flipV="false" rot="0">
              <a:off x="0" y="0"/>
              <a:ext cx="1675270" cy="315008"/>
            </a:xfrm>
            <a:custGeom>
              <a:avLst/>
              <a:gdLst/>
              <a:ahLst/>
              <a:cxnLst/>
              <a:rect r="r" b="b" t="t" l="l"/>
              <a:pathLst>
                <a:path h="315008" w="1675270">
                  <a:moveTo>
                    <a:pt x="88713" y="0"/>
                  </a:moveTo>
                  <a:lnTo>
                    <a:pt x="1586557" y="0"/>
                  </a:lnTo>
                  <a:cubicBezTo>
                    <a:pt x="1635552" y="0"/>
                    <a:pt x="1675270" y="39718"/>
                    <a:pt x="1675270" y="88713"/>
                  </a:cubicBezTo>
                  <a:lnTo>
                    <a:pt x="1675270" y="226295"/>
                  </a:lnTo>
                  <a:cubicBezTo>
                    <a:pt x="1675270" y="275290"/>
                    <a:pt x="1635552" y="315008"/>
                    <a:pt x="1586557" y="315008"/>
                  </a:cubicBezTo>
                  <a:lnTo>
                    <a:pt x="88713" y="315008"/>
                  </a:lnTo>
                  <a:cubicBezTo>
                    <a:pt x="39718" y="315008"/>
                    <a:pt x="0" y="275290"/>
                    <a:pt x="0" y="226295"/>
                  </a:cubicBezTo>
                  <a:lnTo>
                    <a:pt x="0" y="88713"/>
                  </a:lnTo>
                  <a:cubicBezTo>
                    <a:pt x="0" y="39718"/>
                    <a:pt x="39718" y="0"/>
                    <a:pt x="88713" y="0"/>
                  </a:cubicBezTo>
                  <a:close/>
                </a:path>
              </a:pathLst>
            </a:custGeom>
            <a:gradFill rotWithShape="true">
              <a:gsLst>
                <a:gs pos="0">
                  <a:srgbClr val="C55CD1">
                    <a:alpha val="100000"/>
                  </a:srgbClr>
                </a:gs>
                <a:gs pos="100000">
                  <a:srgbClr val="923ACD">
                    <a:alpha val="100000"/>
                  </a:srgbClr>
                </a:gs>
              </a:gsLst>
              <a:lin ang="2700000"/>
            </a:gradFill>
            <a:ln w="19050" cap="rnd">
              <a:solidFill>
                <a:srgbClr val="FFFFFF"/>
              </a:solidFill>
              <a:prstDash val="solid"/>
              <a:round/>
            </a:ln>
          </p:spPr>
        </p:sp>
        <p:sp>
          <p:nvSpPr>
            <p:cNvPr name="TextBox 36" id="36"/>
            <p:cNvSpPr txBox="true"/>
            <p:nvPr/>
          </p:nvSpPr>
          <p:spPr>
            <a:xfrm>
              <a:off x="0" y="85725"/>
              <a:ext cx="1675270" cy="229283"/>
            </a:xfrm>
            <a:prstGeom prst="rect">
              <a:avLst/>
            </a:prstGeom>
          </p:spPr>
          <p:txBody>
            <a:bodyPr anchor="ctr" rtlCol="false" tIns="50800" lIns="50800" bIns="50800" rIns="50800"/>
            <a:lstStyle/>
            <a:p>
              <a:pPr algn="ctr" marL="0" indent="0" lvl="0">
                <a:lnSpc>
                  <a:spcPts val="2218"/>
                </a:lnSpc>
                <a:spcBef>
                  <a:spcPct val="0"/>
                </a:spcBef>
              </a:pPr>
            </a:p>
          </p:txBody>
        </p:sp>
      </p:grpSp>
      <p:grpSp>
        <p:nvGrpSpPr>
          <p:cNvPr name="Group 37" id="37"/>
          <p:cNvGrpSpPr/>
          <p:nvPr/>
        </p:nvGrpSpPr>
        <p:grpSpPr>
          <a:xfrm rot="0">
            <a:off x="17543180" y="7072006"/>
            <a:ext cx="3398058" cy="836891"/>
            <a:chOff x="0" y="0"/>
            <a:chExt cx="1279038" cy="315008"/>
          </a:xfrm>
        </p:grpSpPr>
        <p:sp>
          <p:nvSpPr>
            <p:cNvPr name="Freeform 38" id="38"/>
            <p:cNvSpPr/>
            <p:nvPr/>
          </p:nvSpPr>
          <p:spPr>
            <a:xfrm flipH="false" flipV="false" rot="0">
              <a:off x="0" y="0"/>
              <a:ext cx="1279038" cy="315008"/>
            </a:xfrm>
            <a:custGeom>
              <a:avLst/>
              <a:gdLst/>
              <a:ahLst/>
              <a:cxnLst/>
              <a:rect r="r" b="b" t="t" l="l"/>
              <a:pathLst>
                <a:path h="315008" w="1279038">
                  <a:moveTo>
                    <a:pt x="116195" y="0"/>
                  </a:moveTo>
                  <a:lnTo>
                    <a:pt x="1162843" y="0"/>
                  </a:lnTo>
                  <a:cubicBezTo>
                    <a:pt x="1193660" y="0"/>
                    <a:pt x="1223214" y="12242"/>
                    <a:pt x="1245005" y="34033"/>
                  </a:cubicBezTo>
                  <a:cubicBezTo>
                    <a:pt x="1266796" y="55824"/>
                    <a:pt x="1279038" y="85378"/>
                    <a:pt x="1279038" y="116195"/>
                  </a:cubicBezTo>
                  <a:lnTo>
                    <a:pt x="1279038" y="198813"/>
                  </a:lnTo>
                  <a:cubicBezTo>
                    <a:pt x="1279038" y="229630"/>
                    <a:pt x="1266796" y="259184"/>
                    <a:pt x="1245005" y="280975"/>
                  </a:cubicBezTo>
                  <a:cubicBezTo>
                    <a:pt x="1223214" y="302766"/>
                    <a:pt x="1193660" y="315008"/>
                    <a:pt x="1162843" y="315008"/>
                  </a:cubicBezTo>
                  <a:lnTo>
                    <a:pt x="116195" y="315008"/>
                  </a:lnTo>
                  <a:cubicBezTo>
                    <a:pt x="85378" y="315008"/>
                    <a:pt x="55824" y="302766"/>
                    <a:pt x="34033" y="280975"/>
                  </a:cubicBezTo>
                  <a:cubicBezTo>
                    <a:pt x="12242" y="259184"/>
                    <a:pt x="0" y="229630"/>
                    <a:pt x="0" y="198813"/>
                  </a:cubicBezTo>
                  <a:lnTo>
                    <a:pt x="0" y="116195"/>
                  </a:lnTo>
                  <a:cubicBezTo>
                    <a:pt x="0" y="85378"/>
                    <a:pt x="12242" y="55824"/>
                    <a:pt x="34033" y="34033"/>
                  </a:cubicBezTo>
                  <a:cubicBezTo>
                    <a:pt x="55824" y="12242"/>
                    <a:pt x="85378" y="0"/>
                    <a:pt x="116195" y="0"/>
                  </a:cubicBezTo>
                  <a:close/>
                </a:path>
              </a:pathLst>
            </a:custGeom>
            <a:gradFill rotWithShape="true">
              <a:gsLst>
                <a:gs pos="0">
                  <a:srgbClr val="FFFFFF">
                    <a:alpha val="10500"/>
                  </a:srgbClr>
                </a:gs>
                <a:gs pos="25000">
                  <a:srgbClr val="FFFFFF">
                    <a:alpha val="15000"/>
                  </a:srgbClr>
                </a:gs>
                <a:gs pos="50000">
                  <a:srgbClr val="FFFFFF">
                    <a:alpha val="10000"/>
                  </a:srgbClr>
                </a:gs>
                <a:gs pos="75000">
                  <a:srgbClr val="FFFFFF">
                    <a:alpha val="15000"/>
                  </a:srgbClr>
                </a:gs>
                <a:gs pos="100000">
                  <a:srgbClr val="FFFFFF">
                    <a:alpha val="10000"/>
                  </a:srgbClr>
                </a:gs>
              </a:gsLst>
              <a:lin ang="2700000"/>
            </a:gradFill>
            <a:ln w="19050" cap="rnd">
              <a:solidFill>
                <a:srgbClr val="FFFFFF"/>
              </a:solidFill>
              <a:prstDash val="solid"/>
              <a:round/>
            </a:ln>
          </p:spPr>
        </p:sp>
        <p:sp>
          <p:nvSpPr>
            <p:cNvPr name="TextBox 39" id="39"/>
            <p:cNvSpPr txBox="true"/>
            <p:nvPr/>
          </p:nvSpPr>
          <p:spPr>
            <a:xfrm>
              <a:off x="0" y="85725"/>
              <a:ext cx="1279038" cy="229283"/>
            </a:xfrm>
            <a:prstGeom prst="rect">
              <a:avLst/>
            </a:prstGeom>
          </p:spPr>
          <p:txBody>
            <a:bodyPr anchor="ctr" rtlCol="false" tIns="50800" lIns="50800" bIns="50800" rIns="50800"/>
            <a:lstStyle/>
            <a:p>
              <a:pPr algn="ctr" marL="0" indent="0" lvl="0">
                <a:lnSpc>
                  <a:spcPts val="2218"/>
                </a:lnSpc>
                <a:spcBef>
                  <a:spcPct val="0"/>
                </a:spcBef>
              </a:pPr>
            </a:p>
          </p:txBody>
        </p:sp>
      </p:grpSp>
      <p:grpSp>
        <p:nvGrpSpPr>
          <p:cNvPr name="Group 40" id="40"/>
          <p:cNvGrpSpPr/>
          <p:nvPr/>
        </p:nvGrpSpPr>
        <p:grpSpPr>
          <a:xfrm rot="0">
            <a:off x="13868213" y="8341457"/>
            <a:ext cx="2924786" cy="836891"/>
            <a:chOff x="0" y="0"/>
            <a:chExt cx="1100897" cy="315008"/>
          </a:xfrm>
        </p:grpSpPr>
        <p:sp>
          <p:nvSpPr>
            <p:cNvPr name="Freeform 41" id="41"/>
            <p:cNvSpPr/>
            <p:nvPr/>
          </p:nvSpPr>
          <p:spPr>
            <a:xfrm flipH="false" flipV="false" rot="0">
              <a:off x="0" y="0"/>
              <a:ext cx="1100897" cy="315008"/>
            </a:xfrm>
            <a:custGeom>
              <a:avLst/>
              <a:gdLst/>
              <a:ahLst/>
              <a:cxnLst/>
              <a:rect r="r" b="b" t="t" l="l"/>
              <a:pathLst>
                <a:path h="315008" w="1100897">
                  <a:moveTo>
                    <a:pt x="134997" y="0"/>
                  </a:moveTo>
                  <a:lnTo>
                    <a:pt x="965900" y="0"/>
                  </a:lnTo>
                  <a:cubicBezTo>
                    <a:pt x="1040457" y="0"/>
                    <a:pt x="1100897" y="60440"/>
                    <a:pt x="1100897" y="134997"/>
                  </a:cubicBezTo>
                  <a:lnTo>
                    <a:pt x="1100897" y="180011"/>
                  </a:lnTo>
                  <a:cubicBezTo>
                    <a:pt x="1100897" y="254568"/>
                    <a:pt x="1040457" y="315008"/>
                    <a:pt x="965900" y="315008"/>
                  </a:cubicBezTo>
                  <a:lnTo>
                    <a:pt x="134997" y="315008"/>
                  </a:lnTo>
                  <a:cubicBezTo>
                    <a:pt x="60440" y="315008"/>
                    <a:pt x="0" y="254568"/>
                    <a:pt x="0" y="180011"/>
                  </a:cubicBezTo>
                  <a:lnTo>
                    <a:pt x="0" y="134997"/>
                  </a:lnTo>
                  <a:cubicBezTo>
                    <a:pt x="0" y="60440"/>
                    <a:pt x="60440" y="0"/>
                    <a:pt x="134997" y="0"/>
                  </a:cubicBezTo>
                  <a:close/>
                </a:path>
              </a:pathLst>
            </a:custGeom>
            <a:gradFill rotWithShape="true">
              <a:gsLst>
                <a:gs pos="0">
                  <a:srgbClr val="C55CD1">
                    <a:alpha val="100000"/>
                  </a:srgbClr>
                </a:gs>
                <a:gs pos="100000">
                  <a:srgbClr val="923ACD">
                    <a:alpha val="100000"/>
                  </a:srgbClr>
                </a:gs>
              </a:gsLst>
              <a:lin ang="2700000"/>
            </a:gradFill>
            <a:ln w="19050" cap="rnd">
              <a:solidFill>
                <a:srgbClr val="FFFFFF"/>
              </a:solidFill>
              <a:prstDash val="solid"/>
              <a:round/>
            </a:ln>
          </p:spPr>
        </p:sp>
        <p:sp>
          <p:nvSpPr>
            <p:cNvPr name="TextBox 42" id="42"/>
            <p:cNvSpPr txBox="true"/>
            <p:nvPr/>
          </p:nvSpPr>
          <p:spPr>
            <a:xfrm>
              <a:off x="0" y="85725"/>
              <a:ext cx="1100897" cy="229283"/>
            </a:xfrm>
            <a:prstGeom prst="rect">
              <a:avLst/>
            </a:prstGeom>
          </p:spPr>
          <p:txBody>
            <a:bodyPr anchor="ctr" rtlCol="false" tIns="50800" lIns="50800" bIns="50800" rIns="50800"/>
            <a:lstStyle/>
            <a:p>
              <a:pPr algn="ctr" marL="0" indent="0" lvl="0">
                <a:lnSpc>
                  <a:spcPts val="2218"/>
                </a:lnSpc>
                <a:spcBef>
                  <a:spcPct val="0"/>
                </a:spcBef>
              </a:pPr>
            </a:p>
          </p:txBody>
        </p:sp>
      </p:grpSp>
      <p:grpSp>
        <p:nvGrpSpPr>
          <p:cNvPr name="Group 43" id="43"/>
          <p:cNvGrpSpPr/>
          <p:nvPr/>
        </p:nvGrpSpPr>
        <p:grpSpPr>
          <a:xfrm rot="0">
            <a:off x="13287188" y="7072006"/>
            <a:ext cx="4046442" cy="836891"/>
            <a:chOff x="0" y="0"/>
            <a:chExt cx="1523091" cy="315008"/>
          </a:xfrm>
        </p:grpSpPr>
        <p:sp>
          <p:nvSpPr>
            <p:cNvPr name="Freeform 44" id="44"/>
            <p:cNvSpPr/>
            <p:nvPr/>
          </p:nvSpPr>
          <p:spPr>
            <a:xfrm flipH="false" flipV="false" rot="0">
              <a:off x="0" y="0"/>
              <a:ext cx="1523092" cy="315008"/>
            </a:xfrm>
            <a:custGeom>
              <a:avLst/>
              <a:gdLst/>
              <a:ahLst/>
              <a:cxnLst/>
              <a:rect r="r" b="b" t="t" l="l"/>
              <a:pathLst>
                <a:path h="315008" w="1523092">
                  <a:moveTo>
                    <a:pt x="97577" y="0"/>
                  </a:moveTo>
                  <a:lnTo>
                    <a:pt x="1425515" y="0"/>
                  </a:lnTo>
                  <a:cubicBezTo>
                    <a:pt x="1479405" y="0"/>
                    <a:pt x="1523092" y="43687"/>
                    <a:pt x="1523092" y="97577"/>
                  </a:cubicBezTo>
                  <a:lnTo>
                    <a:pt x="1523092" y="217431"/>
                  </a:lnTo>
                  <a:cubicBezTo>
                    <a:pt x="1523092" y="271321"/>
                    <a:pt x="1479405" y="315008"/>
                    <a:pt x="1425515" y="315008"/>
                  </a:cubicBezTo>
                  <a:lnTo>
                    <a:pt x="97577" y="315008"/>
                  </a:lnTo>
                  <a:cubicBezTo>
                    <a:pt x="43687" y="315008"/>
                    <a:pt x="0" y="271321"/>
                    <a:pt x="0" y="217431"/>
                  </a:cubicBezTo>
                  <a:lnTo>
                    <a:pt x="0" y="97577"/>
                  </a:lnTo>
                  <a:cubicBezTo>
                    <a:pt x="0" y="43687"/>
                    <a:pt x="43687" y="0"/>
                    <a:pt x="97577" y="0"/>
                  </a:cubicBezTo>
                  <a:close/>
                </a:path>
              </a:pathLst>
            </a:custGeom>
            <a:gradFill rotWithShape="true">
              <a:gsLst>
                <a:gs pos="0">
                  <a:srgbClr val="FFFFFF">
                    <a:alpha val="10500"/>
                  </a:srgbClr>
                </a:gs>
                <a:gs pos="25000">
                  <a:srgbClr val="FFFFFF">
                    <a:alpha val="15000"/>
                  </a:srgbClr>
                </a:gs>
                <a:gs pos="50000">
                  <a:srgbClr val="FFFFFF">
                    <a:alpha val="10000"/>
                  </a:srgbClr>
                </a:gs>
                <a:gs pos="75000">
                  <a:srgbClr val="FFFFFF">
                    <a:alpha val="15000"/>
                  </a:srgbClr>
                </a:gs>
                <a:gs pos="100000">
                  <a:srgbClr val="FFFFFF">
                    <a:alpha val="10000"/>
                  </a:srgbClr>
                </a:gs>
              </a:gsLst>
              <a:lin ang="2700000"/>
            </a:gradFill>
            <a:ln w="19050" cap="rnd">
              <a:solidFill>
                <a:srgbClr val="FFFFFF"/>
              </a:solidFill>
              <a:prstDash val="solid"/>
              <a:round/>
            </a:ln>
          </p:spPr>
        </p:sp>
        <p:sp>
          <p:nvSpPr>
            <p:cNvPr name="TextBox 45" id="45"/>
            <p:cNvSpPr txBox="true"/>
            <p:nvPr/>
          </p:nvSpPr>
          <p:spPr>
            <a:xfrm>
              <a:off x="0" y="85725"/>
              <a:ext cx="1523091" cy="229283"/>
            </a:xfrm>
            <a:prstGeom prst="rect">
              <a:avLst/>
            </a:prstGeom>
          </p:spPr>
          <p:txBody>
            <a:bodyPr anchor="ctr" rtlCol="false" tIns="50800" lIns="50800" bIns="50800" rIns="50800"/>
            <a:lstStyle/>
            <a:p>
              <a:pPr algn="ctr" marL="0" indent="0" lvl="0">
                <a:lnSpc>
                  <a:spcPts val="2218"/>
                </a:lnSpc>
                <a:spcBef>
                  <a:spcPct val="0"/>
                </a:spcBef>
              </a:pPr>
            </a:p>
          </p:txBody>
        </p:sp>
      </p:grpSp>
      <p:sp>
        <p:nvSpPr>
          <p:cNvPr name="TextBox 46" id="46"/>
          <p:cNvSpPr txBox="true"/>
          <p:nvPr/>
        </p:nvSpPr>
        <p:spPr>
          <a:xfrm rot="0">
            <a:off x="990502" y="7246086"/>
            <a:ext cx="681061" cy="449580"/>
          </a:xfrm>
          <a:prstGeom prst="rect">
            <a:avLst/>
          </a:prstGeom>
        </p:spPr>
        <p:txBody>
          <a:bodyPr anchor="t" rtlCol="false" tIns="0" lIns="0" bIns="0" rIns="0">
            <a:spAutoFit/>
          </a:bodyPr>
          <a:lstStyle/>
          <a:p>
            <a:pPr algn="l">
              <a:lnSpc>
                <a:spcPts val="3509"/>
              </a:lnSpc>
            </a:pPr>
            <a:r>
              <a:rPr lang="en-US" sz="3000" spc="-126" b="true">
                <a:solidFill>
                  <a:srgbClr val="FFFFFF"/>
                </a:solidFill>
                <a:latin typeface="Open Sauce Bold"/>
                <a:ea typeface="Open Sauce Bold"/>
                <a:cs typeface="Open Sauce Bold"/>
                <a:sym typeface="Open Sauce Bold"/>
              </a:rPr>
              <a:t>01.</a:t>
            </a:r>
          </a:p>
        </p:txBody>
      </p:sp>
      <p:sp>
        <p:nvSpPr>
          <p:cNvPr name="TextBox 47" id="47"/>
          <p:cNvSpPr txBox="true"/>
          <p:nvPr/>
        </p:nvSpPr>
        <p:spPr>
          <a:xfrm rot="0">
            <a:off x="4923399" y="7246086"/>
            <a:ext cx="681061" cy="449580"/>
          </a:xfrm>
          <a:prstGeom prst="rect">
            <a:avLst/>
          </a:prstGeom>
        </p:spPr>
        <p:txBody>
          <a:bodyPr anchor="t" rtlCol="false" tIns="0" lIns="0" bIns="0" rIns="0">
            <a:spAutoFit/>
          </a:bodyPr>
          <a:lstStyle/>
          <a:p>
            <a:pPr algn="l">
              <a:lnSpc>
                <a:spcPts val="3509"/>
              </a:lnSpc>
            </a:pPr>
            <a:r>
              <a:rPr lang="en-US" sz="3000" spc="-126" b="true">
                <a:solidFill>
                  <a:srgbClr val="FFFFFF"/>
                </a:solidFill>
                <a:latin typeface="Open Sauce Bold"/>
                <a:ea typeface="Open Sauce Bold"/>
                <a:cs typeface="Open Sauce Bold"/>
                <a:sym typeface="Open Sauce Bold"/>
              </a:rPr>
              <a:t>02.</a:t>
            </a:r>
          </a:p>
        </p:txBody>
      </p:sp>
      <p:sp>
        <p:nvSpPr>
          <p:cNvPr name="TextBox 48" id="48"/>
          <p:cNvSpPr txBox="true"/>
          <p:nvPr/>
        </p:nvSpPr>
        <p:spPr>
          <a:xfrm rot="0">
            <a:off x="1393714" y="8515536"/>
            <a:ext cx="681061" cy="449580"/>
          </a:xfrm>
          <a:prstGeom prst="rect">
            <a:avLst/>
          </a:prstGeom>
        </p:spPr>
        <p:txBody>
          <a:bodyPr anchor="t" rtlCol="false" tIns="0" lIns="0" bIns="0" rIns="0">
            <a:spAutoFit/>
          </a:bodyPr>
          <a:lstStyle/>
          <a:p>
            <a:pPr algn="l">
              <a:lnSpc>
                <a:spcPts val="3509"/>
              </a:lnSpc>
            </a:pPr>
            <a:r>
              <a:rPr lang="en-US" sz="3000" spc="-126" b="true">
                <a:solidFill>
                  <a:srgbClr val="FFFFFF"/>
                </a:solidFill>
                <a:latin typeface="Open Sauce Bold"/>
                <a:ea typeface="Open Sauce Bold"/>
                <a:cs typeface="Open Sauce Bold"/>
                <a:sym typeface="Open Sauce Bold"/>
              </a:rPr>
              <a:t>05.</a:t>
            </a:r>
          </a:p>
        </p:txBody>
      </p:sp>
      <p:sp>
        <p:nvSpPr>
          <p:cNvPr name="TextBox 49" id="49"/>
          <p:cNvSpPr txBox="true"/>
          <p:nvPr/>
        </p:nvSpPr>
        <p:spPr>
          <a:xfrm rot="0">
            <a:off x="5990727" y="8515536"/>
            <a:ext cx="681061" cy="449580"/>
          </a:xfrm>
          <a:prstGeom prst="rect">
            <a:avLst/>
          </a:prstGeom>
        </p:spPr>
        <p:txBody>
          <a:bodyPr anchor="t" rtlCol="false" tIns="0" lIns="0" bIns="0" rIns="0">
            <a:spAutoFit/>
          </a:bodyPr>
          <a:lstStyle/>
          <a:p>
            <a:pPr algn="l">
              <a:lnSpc>
                <a:spcPts val="3509"/>
              </a:lnSpc>
            </a:pPr>
            <a:r>
              <a:rPr lang="en-US" sz="3000" spc="-126" b="true">
                <a:solidFill>
                  <a:srgbClr val="FFFFFF"/>
                </a:solidFill>
                <a:latin typeface="Open Sauce Bold"/>
                <a:ea typeface="Open Sauce Bold"/>
                <a:cs typeface="Open Sauce Bold"/>
                <a:sym typeface="Open Sauce Bold"/>
              </a:rPr>
              <a:t>06.</a:t>
            </a:r>
          </a:p>
        </p:txBody>
      </p:sp>
      <p:sp>
        <p:nvSpPr>
          <p:cNvPr name="TextBox 50" id="50"/>
          <p:cNvSpPr txBox="true"/>
          <p:nvPr/>
        </p:nvSpPr>
        <p:spPr>
          <a:xfrm rot="0">
            <a:off x="10526831" y="8515536"/>
            <a:ext cx="681061" cy="449580"/>
          </a:xfrm>
          <a:prstGeom prst="rect">
            <a:avLst/>
          </a:prstGeom>
        </p:spPr>
        <p:txBody>
          <a:bodyPr anchor="t" rtlCol="false" tIns="0" lIns="0" bIns="0" rIns="0">
            <a:spAutoFit/>
          </a:bodyPr>
          <a:lstStyle/>
          <a:p>
            <a:pPr algn="l">
              <a:lnSpc>
                <a:spcPts val="3509"/>
              </a:lnSpc>
            </a:pPr>
            <a:r>
              <a:rPr lang="en-US" sz="3000" spc="-126" b="true">
                <a:solidFill>
                  <a:srgbClr val="FFFFFF"/>
                </a:solidFill>
                <a:latin typeface="Open Sauce Bold"/>
                <a:ea typeface="Open Sauce Bold"/>
                <a:cs typeface="Open Sauce Bold"/>
                <a:sym typeface="Open Sauce Bold"/>
              </a:rPr>
              <a:t>07.</a:t>
            </a:r>
          </a:p>
        </p:txBody>
      </p:sp>
      <p:sp>
        <p:nvSpPr>
          <p:cNvPr name="TextBox 51" id="51"/>
          <p:cNvSpPr txBox="true"/>
          <p:nvPr/>
        </p:nvSpPr>
        <p:spPr>
          <a:xfrm rot="0">
            <a:off x="8950633" y="7246086"/>
            <a:ext cx="681061" cy="449580"/>
          </a:xfrm>
          <a:prstGeom prst="rect">
            <a:avLst/>
          </a:prstGeom>
        </p:spPr>
        <p:txBody>
          <a:bodyPr anchor="t" rtlCol="false" tIns="0" lIns="0" bIns="0" rIns="0">
            <a:spAutoFit/>
          </a:bodyPr>
          <a:lstStyle/>
          <a:p>
            <a:pPr algn="l">
              <a:lnSpc>
                <a:spcPts val="3509"/>
              </a:lnSpc>
            </a:pPr>
            <a:r>
              <a:rPr lang="en-US" sz="3000" spc="-126" b="true">
                <a:solidFill>
                  <a:srgbClr val="FFFFFF"/>
                </a:solidFill>
                <a:latin typeface="Open Sauce Bold"/>
                <a:ea typeface="Open Sauce Bold"/>
                <a:cs typeface="Open Sauce Bold"/>
                <a:sym typeface="Open Sauce Bold"/>
              </a:rPr>
              <a:t>03.</a:t>
            </a:r>
          </a:p>
        </p:txBody>
      </p:sp>
      <p:sp>
        <p:nvSpPr>
          <p:cNvPr name="TextBox 52" id="52"/>
          <p:cNvSpPr txBox="true"/>
          <p:nvPr/>
        </p:nvSpPr>
        <p:spPr>
          <a:xfrm rot="0">
            <a:off x="14178943" y="8515536"/>
            <a:ext cx="681061" cy="449580"/>
          </a:xfrm>
          <a:prstGeom prst="rect">
            <a:avLst/>
          </a:prstGeom>
        </p:spPr>
        <p:txBody>
          <a:bodyPr anchor="t" rtlCol="false" tIns="0" lIns="0" bIns="0" rIns="0">
            <a:spAutoFit/>
          </a:bodyPr>
          <a:lstStyle/>
          <a:p>
            <a:pPr algn="l">
              <a:lnSpc>
                <a:spcPts val="3509"/>
              </a:lnSpc>
            </a:pPr>
            <a:r>
              <a:rPr lang="en-US" sz="3000" spc="-126" b="true">
                <a:solidFill>
                  <a:srgbClr val="FFFFFF"/>
                </a:solidFill>
                <a:latin typeface="Open Sauce Bold"/>
                <a:ea typeface="Open Sauce Bold"/>
                <a:cs typeface="Open Sauce Bold"/>
                <a:sym typeface="Open Sauce Bold"/>
              </a:rPr>
              <a:t>08.</a:t>
            </a:r>
          </a:p>
        </p:txBody>
      </p:sp>
      <p:sp>
        <p:nvSpPr>
          <p:cNvPr name="TextBox 53" id="53"/>
          <p:cNvSpPr txBox="true"/>
          <p:nvPr/>
        </p:nvSpPr>
        <p:spPr>
          <a:xfrm rot="0">
            <a:off x="13591988" y="7246086"/>
            <a:ext cx="681061" cy="449580"/>
          </a:xfrm>
          <a:prstGeom prst="rect">
            <a:avLst/>
          </a:prstGeom>
        </p:spPr>
        <p:txBody>
          <a:bodyPr anchor="t" rtlCol="false" tIns="0" lIns="0" bIns="0" rIns="0">
            <a:spAutoFit/>
          </a:bodyPr>
          <a:lstStyle/>
          <a:p>
            <a:pPr algn="l">
              <a:lnSpc>
                <a:spcPts val="3509"/>
              </a:lnSpc>
            </a:pPr>
            <a:r>
              <a:rPr lang="en-US" sz="3000" spc="-126" b="true">
                <a:solidFill>
                  <a:srgbClr val="FFFFFF"/>
                </a:solidFill>
                <a:latin typeface="Open Sauce Bold"/>
                <a:ea typeface="Open Sauce Bold"/>
                <a:cs typeface="Open Sauce Bold"/>
                <a:sym typeface="Open Sauce Bold"/>
              </a:rPr>
              <a:t>04.</a:t>
            </a:r>
          </a:p>
        </p:txBody>
      </p:sp>
      <p:sp>
        <p:nvSpPr>
          <p:cNvPr name="TextBox 54" id="54"/>
          <p:cNvSpPr txBox="true"/>
          <p:nvPr/>
        </p:nvSpPr>
        <p:spPr>
          <a:xfrm rot="0">
            <a:off x="1783133" y="7285029"/>
            <a:ext cx="2611796" cy="372745"/>
          </a:xfrm>
          <a:prstGeom prst="rect">
            <a:avLst/>
          </a:prstGeom>
        </p:spPr>
        <p:txBody>
          <a:bodyPr anchor="t" rtlCol="false" tIns="0" lIns="0" bIns="0" rIns="0">
            <a:spAutoFit/>
          </a:bodyPr>
          <a:lstStyle/>
          <a:p>
            <a:pPr algn="l" marL="0" indent="0" lvl="0">
              <a:lnSpc>
                <a:spcPts val="3079"/>
              </a:lnSpc>
              <a:spcBef>
                <a:spcPct val="0"/>
              </a:spcBef>
            </a:pPr>
            <a:r>
              <a:rPr lang="en-US" b="true" sz="2199">
                <a:solidFill>
                  <a:srgbClr val="FFFFFF"/>
                </a:solidFill>
                <a:latin typeface="Open Sauce Bold"/>
                <a:ea typeface="Open Sauce Bold"/>
                <a:cs typeface="Open Sauce Bold"/>
                <a:sym typeface="Open Sauce Bold"/>
              </a:rPr>
              <a:t>Problem</a:t>
            </a:r>
          </a:p>
        </p:txBody>
      </p:sp>
      <p:sp>
        <p:nvSpPr>
          <p:cNvPr name="TextBox 55" id="55"/>
          <p:cNvSpPr txBox="true"/>
          <p:nvPr/>
        </p:nvSpPr>
        <p:spPr>
          <a:xfrm rot="0">
            <a:off x="5716031" y="7285029"/>
            <a:ext cx="2447677" cy="372745"/>
          </a:xfrm>
          <a:prstGeom prst="rect">
            <a:avLst/>
          </a:prstGeom>
        </p:spPr>
        <p:txBody>
          <a:bodyPr anchor="t" rtlCol="false" tIns="0" lIns="0" bIns="0" rIns="0">
            <a:spAutoFit/>
          </a:bodyPr>
          <a:lstStyle/>
          <a:p>
            <a:pPr algn="l" marL="0" indent="0" lvl="0">
              <a:lnSpc>
                <a:spcPts val="3079"/>
              </a:lnSpc>
              <a:spcBef>
                <a:spcPct val="0"/>
              </a:spcBef>
            </a:pPr>
            <a:r>
              <a:rPr lang="en-US" b="true" sz="2199">
                <a:solidFill>
                  <a:srgbClr val="FFFFFF"/>
                </a:solidFill>
                <a:latin typeface="Open Sauce Medium"/>
                <a:ea typeface="Open Sauce Medium"/>
                <a:cs typeface="Open Sauce Medium"/>
                <a:sym typeface="Open Sauce Medium"/>
              </a:rPr>
              <a:t>Solution</a:t>
            </a:r>
          </a:p>
        </p:txBody>
      </p:sp>
      <p:sp>
        <p:nvSpPr>
          <p:cNvPr name="TextBox 56" id="56"/>
          <p:cNvSpPr txBox="true"/>
          <p:nvPr/>
        </p:nvSpPr>
        <p:spPr>
          <a:xfrm rot="0">
            <a:off x="2186345" y="8554480"/>
            <a:ext cx="2413508" cy="372745"/>
          </a:xfrm>
          <a:prstGeom prst="rect">
            <a:avLst/>
          </a:prstGeom>
        </p:spPr>
        <p:txBody>
          <a:bodyPr anchor="t" rtlCol="false" tIns="0" lIns="0" bIns="0" rIns="0">
            <a:spAutoFit/>
          </a:bodyPr>
          <a:lstStyle/>
          <a:p>
            <a:pPr algn="l" marL="0" indent="0" lvl="0">
              <a:lnSpc>
                <a:spcPts val="3079"/>
              </a:lnSpc>
              <a:spcBef>
                <a:spcPct val="0"/>
              </a:spcBef>
            </a:pPr>
            <a:r>
              <a:rPr lang="en-US" b="true" sz="2199">
                <a:solidFill>
                  <a:srgbClr val="FFFFFF"/>
                </a:solidFill>
                <a:latin typeface="Open Sauce Medium"/>
                <a:ea typeface="Open Sauce Medium"/>
                <a:cs typeface="Open Sauce Medium"/>
                <a:sym typeface="Open Sauce Medium"/>
              </a:rPr>
              <a:t>Value Propotiton</a:t>
            </a:r>
          </a:p>
        </p:txBody>
      </p:sp>
      <p:sp>
        <p:nvSpPr>
          <p:cNvPr name="TextBox 57" id="57"/>
          <p:cNvSpPr txBox="true"/>
          <p:nvPr/>
        </p:nvSpPr>
        <p:spPr>
          <a:xfrm rot="0">
            <a:off x="6783359" y="8554480"/>
            <a:ext cx="2332066" cy="372745"/>
          </a:xfrm>
          <a:prstGeom prst="rect">
            <a:avLst/>
          </a:prstGeom>
        </p:spPr>
        <p:txBody>
          <a:bodyPr anchor="t" rtlCol="false" tIns="0" lIns="0" bIns="0" rIns="0">
            <a:spAutoFit/>
          </a:bodyPr>
          <a:lstStyle/>
          <a:p>
            <a:pPr algn="l" marL="0" indent="0" lvl="0">
              <a:lnSpc>
                <a:spcPts val="3079"/>
              </a:lnSpc>
              <a:spcBef>
                <a:spcPct val="0"/>
              </a:spcBef>
            </a:pPr>
            <a:r>
              <a:rPr lang="en-US" b="true" sz="2199">
                <a:solidFill>
                  <a:srgbClr val="FFFFFF"/>
                </a:solidFill>
                <a:latin typeface="Open Sauce Medium"/>
                <a:ea typeface="Open Sauce Medium"/>
                <a:cs typeface="Open Sauce Medium"/>
                <a:sym typeface="Open Sauce Medium"/>
              </a:rPr>
              <a:t>Business Model</a:t>
            </a:r>
          </a:p>
        </p:txBody>
      </p:sp>
      <p:sp>
        <p:nvSpPr>
          <p:cNvPr name="TextBox 58" id="58"/>
          <p:cNvSpPr txBox="true"/>
          <p:nvPr/>
        </p:nvSpPr>
        <p:spPr>
          <a:xfrm rot="0">
            <a:off x="11319463" y="8554480"/>
            <a:ext cx="2745181" cy="372745"/>
          </a:xfrm>
          <a:prstGeom prst="rect">
            <a:avLst/>
          </a:prstGeom>
        </p:spPr>
        <p:txBody>
          <a:bodyPr anchor="t" rtlCol="false" tIns="0" lIns="0" bIns="0" rIns="0">
            <a:spAutoFit/>
          </a:bodyPr>
          <a:lstStyle/>
          <a:p>
            <a:pPr algn="l" marL="0" indent="0" lvl="0">
              <a:lnSpc>
                <a:spcPts val="3079"/>
              </a:lnSpc>
              <a:spcBef>
                <a:spcPct val="0"/>
              </a:spcBef>
            </a:pPr>
            <a:r>
              <a:rPr lang="en-US" b="true" sz="2199">
                <a:solidFill>
                  <a:srgbClr val="FFFFFF"/>
                </a:solidFill>
                <a:latin typeface="Open Sauce Bold"/>
                <a:ea typeface="Open Sauce Bold"/>
                <a:cs typeface="Open Sauce Bold"/>
                <a:sym typeface="Open Sauce Bold"/>
              </a:rPr>
              <a:t>Competitor</a:t>
            </a:r>
          </a:p>
        </p:txBody>
      </p:sp>
      <p:sp>
        <p:nvSpPr>
          <p:cNvPr name="TextBox 59" id="59"/>
          <p:cNvSpPr txBox="true"/>
          <p:nvPr/>
        </p:nvSpPr>
        <p:spPr>
          <a:xfrm rot="0">
            <a:off x="9745994" y="7285029"/>
            <a:ext cx="3133102" cy="372745"/>
          </a:xfrm>
          <a:prstGeom prst="rect">
            <a:avLst/>
          </a:prstGeom>
        </p:spPr>
        <p:txBody>
          <a:bodyPr anchor="t" rtlCol="false" tIns="0" lIns="0" bIns="0" rIns="0">
            <a:spAutoFit/>
          </a:bodyPr>
          <a:lstStyle/>
          <a:p>
            <a:pPr algn="l" marL="0" indent="0" lvl="0">
              <a:lnSpc>
                <a:spcPts val="3079"/>
              </a:lnSpc>
              <a:spcBef>
                <a:spcPct val="0"/>
              </a:spcBef>
            </a:pPr>
            <a:r>
              <a:rPr lang="en-US" b="true" sz="2199">
                <a:solidFill>
                  <a:srgbClr val="FFFFFF"/>
                </a:solidFill>
                <a:latin typeface="Open Sauce Medium"/>
                <a:ea typeface="Open Sauce Medium"/>
                <a:cs typeface="Open Sauce Medium"/>
                <a:sym typeface="Open Sauce Medium"/>
              </a:rPr>
              <a:t>Product &amp; Service</a:t>
            </a:r>
          </a:p>
        </p:txBody>
      </p:sp>
      <p:sp>
        <p:nvSpPr>
          <p:cNvPr name="TextBox 60" id="60"/>
          <p:cNvSpPr txBox="true"/>
          <p:nvPr/>
        </p:nvSpPr>
        <p:spPr>
          <a:xfrm rot="0">
            <a:off x="14966262" y="8554480"/>
            <a:ext cx="3526378" cy="372745"/>
          </a:xfrm>
          <a:prstGeom prst="rect">
            <a:avLst/>
          </a:prstGeom>
        </p:spPr>
        <p:txBody>
          <a:bodyPr anchor="t" rtlCol="false" tIns="0" lIns="0" bIns="0" rIns="0">
            <a:spAutoFit/>
          </a:bodyPr>
          <a:lstStyle/>
          <a:p>
            <a:pPr algn="l" marL="0" indent="0" lvl="0">
              <a:lnSpc>
                <a:spcPts val="3079"/>
              </a:lnSpc>
              <a:spcBef>
                <a:spcPct val="0"/>
              </a:spcBef>
            </a:pPr>
            <a:r>
              <a:rPr lang="en-US" b="true" sz="2199">
                <a:solidFill>
                  <a:srgbClr val="FFFFFF"/>
                </a:solidFill>
                <a:latin typeface="Open Sauce Medium"/>
                <a:ea typeface="Open Sauce Medium"/>
                <a:cs typeface="Open Sauce Medium"/>
                <a:sym typeface="Open Sauce Medium"/>
              </a:rPr>
              <a:t>Summary</a:t>
            </a:r>
          </a:p>
        </p:txBody>
      </p:sp>
      <p:sp>
        <p:nvSpPr>
          <p:cNvPr name="TextBox 61" id="61"/>
          <p:cNvSpPr txBox="true"/>
          <p:nvPr/>
        </p:nvSpPr>
        <p:spPr>
          <a:xfrm rot="0">
            <a:off x="14387349" y="7285029"/>
            <a:ext cx="2701941" cy="372745"/>
          </a:xfrm>
          <a:prstGeom prst="rect">
            <a:avLst/>
          </a:prstGeom>
        </p:spPr>
        <p:txBody>
          <a:bodyPr anchor="t" rtlCol="false" tIns="0" lIns="0" bIns="0" rIns="0">
            <a:spAutoFit/>
          </a:bodyPr>
          <a:lstStyle/>
          <a:p>
            <a:pPr algn="l" marL="0" indent="0" lvl="0">
              <a:lnSpc>
                <a:spcPts val="3079"/>
              </a:lnSpc>
              <a:spcBef>
                <a:spcPct val="0"/>
              </a:spcBef>
            </a:pPr>
            <a:r>
              <a:rPr lang="en-US" b="true" sz="2199">
                <a:solidFill>
                  <a:srgbClr val="FFFFFF"/>
                </a:solidFill>
                <a:latin typeface="Open Sauce Medium"/>
                <a:ea typeface="Open Sauce Medium"/>
                <a:cs typeface="Open Sauce Medium"/>
                <a:sym typeface="Open Sauce Medium"/>
              </a:rPr>
              <a:t>Target Market</a:t>
            </a:r>
          </a:p>
        </p:txBody>
      </p:sp>
      <p:sp>
        <p:nvSpPr>
          <p:cNvPr name="TextBox 62" id="62"/>
          <p:cNvSpPr txBox="true"/>
          <p:nvPr/>
        </p:nvSpPr>
        <p:spPr>
          <a:xfrm rot="0">
            <a:off x="1132972" y="852689"/>
            <a:ext cx="5168833" cy="372323"/>
          </a:xfrm>
          <a:prstGeom prst="rect">
            <a:avLst/>
          </a:prstGeom>
        </p:spPr>
        <p:txBody>
          <a:bodyPr anchor="t" rtlCol="false" tIns="0" lIns="0" bIns="0" rIns="0">
            <a:spAutoFit/>
          </a:bodyPr>
          <a:lstStyle/>
          <a:p>
            <a:pPr algn="l">
              <a:lnSpc>
                <a:spcPts val="3121"/>
              </a:lnSpc>
            </a:pPr>
            <a:r>
              <a:rPr lang="en-US" sz="2229" spc="-104" b="true">
                <a:solidFill>
                  <a:srgbClr val="FFFFFF"/>
                </a:solidFill>
                <a:latin typeface="Open Sauce Heavy"/>
                <a:ea typeface="Open Sauce Heavy"/>
                <a:cs typeface="Open Sauce Heavy"/>
                <a:sym typeface="Open Sauce Heavy"/>
              </a:rPr>
              <a:t>CV. Sukses Jaya</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true" rot="0">
            <a:off x="0" y="0"/>
            <a:ext cx="18288000" cy="10287000"/>
          </a:xfrm>
          <a:custGeom>
            <a:avLst/>
            <a:gdLst/>
            <a:ahLst/>
            <a:cxnLst/>
            <a:rect r="r" b="b" t="t" l="l"/>
            <a:pathLst>
              <a:path h="10287000" w="18288000">
                <a:moveTo>
                  <a:pt x="18288000" y="10287000"/>
                </a:moveTo>
                <a:lnTo>
                  <a:pt x="0" y="10287000"/>
                </a:lnTo>
                <a:lnTo>
                  <a:pt x="0" y="0"/>
                </a:lnTo>
                <a:lnTo>
                  <a:pt x="18288000" y="0"/>
                </a:lnTo>
                <a:lnTo>
                  <a:pt x="18288000" y="10287000"/>
                </a:lnTo>
                <a:close/>
              </a:path>
            </a:pathLst>
          </a:custGeom>
          <a:blipFill>
            <a:blip r:embed="rId2"/>
            <a:stretch>
              <a:fillRect l="0" t="-9222" r="0" b="-9222"/>
            </a:stretch>
          </a:blipFill>
        </p:spPr>
      </p:sp>
      <p:grpSp>
        <p:nvGrpSpPr>
          <p:cNvPr name="Group 3" id="3"/>
          <p:cNvGrpSpPr/>
          <p:nvPr/>
        </p:nvGrpSpPr>
        <p:grpSpPr>
          <a:xfrm rot="-9278497">
            <a:off x="-5455214" y="259623"/>
            <a:ext cx="17891941" cy="17891941"/>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lnTo>
                    <a:pt x="406400" y="0"/>
                  </a:lnTo>
                  <a:close/>
                </a:path>
              </a:pathLst>
            </a:custGeom>
            <a:gradFill rotWithShape="true">
              <a:gsLst>
                <a:gs pos="0">
                  <a:srgbClr val="FFFFFF">
                    <a:alpha val="735"/>
                  </a:srgbClr>
                </a:gs>
                <a:gs pos="25000">
                  <a:srgbClr val="FFFFFF">
                    <a:alpha val="1050"/>
                  </a:srgbClr>
                </a:gs>
                <a:gs pos="50000">
                  <a:srgbClr val="FFFFFF">
                    <a:alpha val="700"/>
                  </a:srgbClr>
                </a:gs>
                <a:gs pos="75000">
                  <a:srgbClr val="FFFFFF">
                    <a:alpha val="1050"/>
                  </a:srgbClr>
                </a:gs>
                <a:gs pos="100000">
                  <a:srgbClr val="FFFFFF">
                    <a:alpha val="700"/>
                  </a:srgbClr>
                </a:gs>
              </a:gsLst>
              <a:lin ang="2700000"/>
            </a:gradFill>
            <a:ln w="19050" cap="rnd">
              <a:solidFill>
                <a:srgbClr val="FFFFFF">
                  <a:alpha val="6667"/>
                </a:srgbClr>
              </a:solidFill>
              <a:prstDash val="solid"/>
              <a:round/>
            </a:ln>
          </p:spPr>
        </p:sp>
        <p:sp>
          <p:nvSpPr>
            <p:cNvPr name="TextBox 5" id="5"/>
            <p:cNvSpPr txBox="true"/>
            <p:nvPr/>
          </p:nvSpPr>
          <p:spPr>
            <a:xfrm>
              <a:off x="76200" y="819150"/>
              <a:ext cx="660400" cy="660400"/>
            </a:xfrm>
            <a:prstGeom prst="rect">
              <a:avLst/>
            </a:prstGeom>
          </p:spPr>
          <p:txBody>
            <a:bodyPr anchor="ctr" rtlCol="false" tIns="50800" lIns="50800" bIns="50800" rIns="50800"/>
            <a:lstStyle/>
            <a:p>
              <a:pPr algn="l" marL="0" indent="0" lvl="0">
                <a:lnSpc>
                  <a:spcPts val="19673"/>
                </a:lnSpc>
                <a:spcBef>
                  <a:spcPct val="0"/>
                </a:spcBef>
              </a:pPr>
            </a:p>
          </p:txBody>
        </p:sp>
      </p:grpSp>
      <p:grpSp>
        <p:nvGrpSpPr>
          <p:cNvPr name="Group 6" id="6"/>
          <p:cNvGrpSpPr/>
          <p:nvPr/>
        </p:nvGrpSpPr>
        <p:grpSpPr>
          <a:xfrm rot="-9278497">
            <a:off x="-2545378" y="2475015"/>
            <a:ext cx="12072268" cy="12072268"/>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lnTo>
                    <a:pt x="406400" y="0"/>
                  </a:lnTo>
                  <a:close/>
                </a:path>
              </a:pathLst>
            </a:custGeom>
            <a:gradFill rotWithShape="true">
              <a:gsLst>
                <a:gs pos="0">
                  <a:srgbClr val="FFFFFF">
                    <a:alpha val="735"/>
                  </a:srgbClr>
                </a:gs>
                <a:gs pos="25000">
                  <a:srgbClr val="FFFFFF">
                    <a:alpha val="1050"/>
                  </a:srgbClr>
                </a:gs>
                <a:gs pos="50000">
                  <a:srgbClr val="FFFFFF">
                    <a:alpha val="700"/>
                  </a:srgbClr>
                </a:gs>
                <a:gs pos="75000">
                  <a:srgbClr val="FFFFFF">
                    <a:alpha val="1050"/>
                  </a:srgbClr>
                </a:gs>
                <a:gs pos="100000">
                  <a:srgbClr val="FFFFFF">
                    <a:alpha val="700"/>
                  </a:srgbClr>
                </a:gs>
              </a:gsLst>
              <a:lin ang="2700000"/>
            </a:gradFill>
            <a:ln w="19050" cap="rnd">
              <a:solidFill>
                <a:srgbClr val="FFFFFF">
                  <a:alpha val="6667"/>
                </a:srgbClr>
              </a:solidFill>
              <a:prstDash val="solid"/>
              <a:round/>
            </a:ln>
          </p:spPr>
        </p:sp>
        <p:sp>
          <p:nvSpPr>
            <p:cNvPr name="TextBox 8" id="8"/>
            <p:cNvSpPr txBox="true"/>
            <p:nvPr/>
          </p:nvSpPr>
          <p:spPr>
            <a:xfrm>
              <a:off x="76200" y="161925"/>
              <a:ext cx="660400" cy="574675"/>
            </a:xfrm>
            <a:prstGeom prst="rect">
              <a:avLst/>
            </a:prstGeom>
          </p:spPr>
          <p:txBody>
            <a:bodyPr anchor="ctr" rtlCol="false" tIns="50800" lIns="50800" bIns="50800" rIns="50800"/>
            <a:lstStyle/>
            <a:p>
              <a:pPr algn="ctr" marL="0" indent="0" lvl="0">
                <a:lnSpc>
                  <a:spcPts val="2218"/>
                </a:lnSpc>
                <a:spcBef>
                  <a:spcPct val="0"/>
                </a:spcBef>
              </a:pPr>
            </a:p>
          </p:txBody>
        </p:sp>
      </p:grpSp>
      <p:grpSp>
        <p:nvGrpSpPr>
          <p:cNvPr name="Group 9" id="9"/>
          <p:cNvGrpSpPr/>
          <p:nvPr/>
        </p:nvGrpSpPr>
        <p:grpSpPr>
          <a:xfrm rot="0">
            <a:off x="9589392" y="4542800"/>
            <a:ext cx="3882090" cy="1460492"/>
            <a:chOff x="0" y="0"/>
            <a:chExt cx="5176120" cy="1947322"/>
          </a:xfrm>
        </p:grpSpPr>
        <p:grpSp>
          <p:nvGrpSpPr>
            <p:cNvPr name="Group 10" id="10"/>
            <p:cNvGrpSpPr/>
            <p:nvPr/>
          </p:nvGrpSpPr>
          <p:grpSpPr>
            <a:xfrm rot="0">
              <a:off x="359515" y="404229"/>
              <a:ext cx="4816605" cy="1543093"/>
              <a:chOff x="0" y="0"/>
              <a:chExt cx="1359737" cy="435618"/>
            </a:xfrm>
          </p:grpSpPr>
          <p:sp>
            <p:nvSpPr>
              <p:cNvPr name="Freeform 11" id="11"/>
              <p:cNvSpPr/>
              <p:nvPr/>
            </p:nvSpPr>
            <p:spPr>
              <a:xfrm flipH="false" flipV="false" rot="0">
                <a:off x="0" y="0"/>
                <a:ext cx="1359737" cy="435618"/>
              </a:xfrm>
              <a:custGeom>
                <a:avLst/>
                <a:gdLst/>
                <a:ahLst/>
                <a:cxnLst/>
                <a:rect r="r" b="b" t="t" l="l"/>
                <a:pathLst>
                  <a:path h="435618" w="1359737">
                    <a:moveTo>
                      <a:pt x="109299" y="0"/>
                    </a:moveTo>
                    <a:lnTo>
                      <a:pt x="1250438" y="0"/>
                    </a:lnTo>
                    <a:cubicBezTo>
                      <a:pt x="1279426" y="0"/>
                      <a:pt x="1307227" y="11515"/>
                      <a:pt x="1327724" y="32013"/>
                    </a:cubicBezTo>
                    <a:cubicBezTo>
                      <a:pt x="1348222" y="52511"/>
                      <a:pt x="1359737" y="80311"/>
                      <a:pt x="1359737" y="109299"/>
                    </a:cubicBezTo>
                    <a:lnTo>
                      <a:pt x="1359737" y="326319"/>
                    </a:lnTo>
                    <a:cubicBezTo>
                      <a:pt x="1359737" y="355307"/>
                      <a:pt x="1348222" y="383108"/>
                      <a:pt x="1327724" y="403605"/>
                    </a:cubicBezTo>
                    <a:cubicBezTo>
                      <a:pt x="1307227" y="424103"/>
                      <a:pt x="1279426" y="435618"/>
                      <a:pt x="1250438" y="435618"/>
                    </a:cubicBezTo>
                    <a:lnTo>
                      <a:pt x="109299" y="435618"/>
                    </a:lnTo>
                    <a:cubicBezTo>
                      <a:pt x="48935" y="435618"/>
                      <a:pt x="0" y="386683"/>
                      <a:pt x="0" y="326319"/>
                    </a:cubicBezTo>
                    <a:lnTo>
                      <a:pt x="0" y="109299"/>
                    </a:lnTo>
                    <a:cubicBezTo>
                      <a:pt x="0" y="80311"/>
                      <a:pt x="11515" y="52511"/>
                      <a:pt x="32013" y="32013"/>
                    </a:cubicBezTo>
                    <a:cubicBezTo>
                      <a:pt x="52511" y="11515"/>
                      <a:pt x="80311" y="0"/>
                      <a:pt x="109299" y="0"/>
                    </a:cubicBezTo>
                    <a:close/>
                  </a:path>
                </a:pathLst>
              </a:custGeom>
              <a:gradFill rotWithShape="true">
                <a:gsLst>
                  <a:gs pos="0">
                    <a:srgbClr val="FFFFFF">
                      <a:alpha val="10500"/>
                    </a:srgbClr>
                  </a:gs>
                  <a:gs pos="25000">
                    <a:srgbClr val="FFFFFF">
                      <a:alpha val="15000"/>
                    </a:srgbClr>
                  </a:gs>
                  <a:gs pos="50000">
                    <a:srgbClr val="FFFFFF">
                      <a:alpha val="10000"/>
                    </a:srgbClr>
                  </a:gs>
                  <a:gs pos="75000">
                    <a:srgbClr val="FFFFFF">
                      <a:alpha val="15000"/>
                    </a:srgbClr>
                  </a:gs>
                  <a:gs pos="100000">
                    <a:srgbClr val="FFFFFF">
                      <a:alpha val="10000"/>
                    </a:srgbClr>
                  </a:gs>
                </a:gsLst>
                <a:lin ang="2700000"/>
              </a:gradFill>
              <a:ln w="19050" cap="rnd">
                <a:solidFill>
                  <a:srgbClr val="FFFFFF"/>
                </a:solidFill>
                <a:prstDash val="solid"/>
                <a:round/>
              </a:ln>
            </p:spPr>
          </p:sp>
          <p:sp>
            <p:nvSpPr>
              <p:cNvPr name="TextBox 12" id="12"/>
              <p:cNvSpPr txBox="true"/>
              <p:nvPr/>
            </p:nvSpPr>
            <p:spPr>
              <a:xfrm>
                <a:off x="0" y="85725"/>
                <a:ext cx="1359737" cy="349893"/>
              </a:xfrm>
              <a:prstGeom prst="rect">
                <a:avLst/>
              </a:prstGeom>
            </p:spPr>
            <p:txBody>
              <a:bodyPr anchor="ctr" rtlCol="false" tIns="50800" lIns="50800" bIns="50800" rIns="50800"/>
              <a:lstStyle/>
              <a:p>
                <a:pPr algn="ctr" marL="0" indent="0" lvl="0">
                  <a:lnSpc>
                    <a:spcPts val="2218"/>
                  </a:lnSpc>
                  <a:spcBef>
                    <a:spcPct val="0"/>
                  </a:spcBef>
                </a:pPr>
              </a:p>
            </p:txBody>
          </p:sp>
        </p:grpSp>
        <p:sp>
          <p:nvSpPr>
            <p:cNvPr name="Freeform 13" id="13"/>
            <p:cNvSpPr/>
            <p:nvPr/>
          </p:nvSpPr>
          <p:spPr>
            <a:xfrm flipH="false" flipV="false" rot="0">
              <a:off x="0" y="0"/>
              <a:ext cx="1329710" cy="1329710"/>
            </a:xfrm>
            <a:custGeom>
              <a:avLst/>
              <a:gdLst/>
              <a:ahLst/>
              <a:cxnLst/>
              <a:rect r="r" b="b" t="t" l="l"/>
              <a:pathLst>
                <a:path h="1329710" w="1329710">
                  <a:moveTo>
                    <a:pt x="0" y="0"/>
                  </a:moveTo>
                  <a:lnTo>
                    <a:pt x="1329710" y="0"/>
                  </a:lnTo>
                  <a:lnTo>
                    <a:pt x="1329710" y="1329710"/>
                  </a:lnTo>
                  <a:lnTo>
                    <a:pt x="0" y="1329710"/>
                  </a:lnTo>
                  <a:lnTo>
                    <a:pt x="0" y="0"/>
                  </a:lnTo>
                  <a:close/>
                </a:path>
              </a:pathLst>
            </a:custGeom>
            <a:blipFill>
              <a:blip r:embed="rId3"/>
              <a:stretch>
                <a:fillRect l="0" t="0" r="0" b="0"/>
              </a:stretch>
            </a:blipFill>
          </p:spPr>
        </p:sp>
        <p:sp>
          <p:nvSpPr>
            <p:cNvPr name="TextBox 14" id="14"/>
            <p:cNvSpPr txBox="true"/>
            <p:nvPr/>
          </p:nvSpPr>
          <p:spPr>
            <a:xfrm rot="0">
              <a:off x="1694649" y="760116"/>
              <a:ext cx="3207248" cy="831319"/>
            </a:xfrm>
            <a:prstGeom prst="rect">
              <a:avLst/>
            </a:prstGeom>
          </p:spPr>
          <p:txBody>
            <a:bodyPr anchor="t" rtlCol="false" tIns="0" lIns="0" bIns="0" rIns="0">
              <a:spAutoFit/>
            </a:bodyPr>
            <a:lstStyle/>
            <a:p>
              <a:pPr algn="l">
                <a:lnSpc>
                  <a:spcPts val="2478"/>
                </a:lnSpc>
              </a:pPr>
              <a:r>
                <a:rPr lang="en-US" sz="2031" spc="-117">
                  <a:solidFill>
                    <a:srgbClr val="FFFFFF"/>
                  </a:solidFill>
                  <a:latin typeface="Open Sauce"/>
                  <a:ea typeface="Open Sauce"/>
                  <a:cs typeface="Open Sauce"/>
                  <a:sym typeface="Open Sauce"/>
                </a:rPr>
                <a:t>UMKM masih banyak pencatatan manual</a:t>
              </a:r>
            </a:p>
          </p:txBody>
        </p:sp>
      </p:grpSp>
      <p:grpSp>
        <p:nvGrpSpPr>
          <p:cNvPr name="Group 15" id="15"/>
          <p:cNvGrpSpPr/>
          <p:nvPr/>
        </p:nvGrpSpPr>
        <p:grpSpPr>
          <a:xfrm rot="0">
            <a:off x="13981238" y="4401591"/>
            <a:ext cx="3882090" cy="1483817"/>
            <a:chOff x="0" y="0"/>
            <a:chExt cx="5176120" cy="1978423"/>
          </a:xfrm>
        </p:grpSpPr>
        <p:grpSp>
          <p:nvGrpSpPr>
            <p:cNvPr name="Group 16" id="16"/>
            <p:cNvGrpSpPr/>
            <p:nvPr/>
          </p:nvGrpSpPr>
          <p:grpSpPr>
            <a:xfrm rot="0">
              <a:off x="360069" y="435330"/>
              <a:ext cx="4816051" cy="1543093"/>
              <a:chOff x="0" y="0"/>
              <a:chExt cx="1359581" cy="435618"/>
            </a:xfrm>
          </p:grpSpPr>
          <p:sp>
            <p:nvSpPr>
              <p:cNvPr name="Freeform 17" id="17"/>
              <p:cNvSpPr/>
              <p:nvPr/>
            </p:nvSpPr>
            <p:spPr>
              <a:xfrm flipH="false" flipV="false" rot="0">
                <a:off x="0" y="0"/>
                <a:ext cx="1359581" cy="435618"/>
              </a:xfrm>
              <a:custGeom>
                <a:avLst/>
                <a:gdLst/>
                <a:ahLst/>
                <a:cxnLst/>
                <a:rect r="r" b="b" t="t" l="l"/>
                <a:pathLst>
                  <a:path h="435618" w="1359581">
                    <a:moveTo>
                      <a:pt x="109312" y="0"/>
                    </a:moveTo>
                    <a:lnTo>
                      <a:pt x="1250269" y="0"/>
                    </a:lnTo>
                    <a:cubicBezTo>
                      <a:pt x="1310640" y="0"/>
                      <a:pt x="1359581" y="48941"/>
                      <a:pt x="1359581" y="109312"/>
                    </a:cubicBezTo>
                    <a:lnTo>
                      <a:pt x="1359581" y="326307"/>
                    </a:lnTo>
                    <a:cubicBezTo>
                      <a:pt x="1359581" y="386678"/>
                      <a:pt x="1310640" y="435618"/>
                      <a:pt x="1250269" y="435618"/>
                    </a:cubicBezTo>
                    <a:lnTo>
                      <a:pt x="109312" y="435618"/>
                    </a:lnTo>
                    <a:cubicBezTo>
                      <a:pt x="48941" y="435618"/>
                      <a:pt x="0" y="386678"/>
                      <a:pt x="0" y="326307"/>
                    </a:cubicBezTo>
                    <a:lnTo>
                      <a:pt x="0" y="109312"/>
                    </a:lnTo>
                    <a:cubicBezTo>
                      <a:pt x="0" y="48941"/>
                      <a:pt x="48941" y="0"/>
                      <a:pt x="109312" y="0"/>
                    </a:cubicBezTo>
                    <a:close/>
                  </a:path>
                </a:pathLst>
              </a:custGeom>
              <a:gradFill rotWithShape="true">
                <a:gsLst>
                  <a:gs pos="0">
                    <a:srgbClr val="FFFFFF">
                      <a:alpha val="10500"/>
                    </a:srgbClr>
                  </a:gs>
                  <a:gs pos="25000">
                    <a:srgbClr val="FFFFFF">
                      <a:alpha val="15000"/>
                    </a:srgbClr>
                  </a:gs>
                  <a:gs pos="50000">
                    <a:srgbClr val="FFFFFF">
                      <a:alpha val="10000"/>
                    </a:srgbClr>
                  </a:gs>
                  <a:gs pos="75000">
                    <a:srgbClr val="FFFFFF">
                      <a:alpha val="15000"/>
                    </a:srgbClr>
                  </a:gs>
                  <a:gs pos="100000">
                    <a:srgbClr val="FFFFFF">
                      <a:alpha val="10000"/>
                    </a:srgbClr>
                  </a:gs>
                </a:gsLst>
                <a:lin ang="2700000"/>
              </a:gradFill>
              <a:ln w="19050" cap="rnd">
                <a:solidFill>
                  <a:srgbClr val="FFFFFF"/>
                </a:solidFill>
                <a:prstDash val="solid"/>
                <a:round/>
              </a:ln>
            </p:spPr>
          </p:sp>
          <p:sp>
            <p:nvSpPr>
              <p:cNvPr name="TextBox 18" id="18"/>
              <p:cNvSpPr txBox="true"/>
              <p:nvPr/>
            </p:nvSpPr>
            <p:spPr>
              <a:xfrm>
                <a:off x="0" y="85725"/>
                <a:ext cx="1359581" cy="349893"/>
              </a:xfrm>
              <a:prstGeom prst="rect">
                <a:avLst/>
              </a:prstGeom>
            </p:spPr>
            <p:txBody>
              <a:bodyPr anchor="ctr" rtlCol="false" tIns="50800" lIns="50800" bIns="50800" rIns="50800"/>
              <a:lstStyle/>
              <a:p>
                <a:pPr algn="ctr" marL="0" indent="0" lvl="0">
                  <a:lnSpc>
                    <a:spcPts val="2218"/>
                  </a:lnSpc>
                  <a:spcBef>
                    <a:spcPct val="0"/>
                  </a:spcBef>
                </a:pPr>
              </a:p>
            </p:txBody>
          </p:sp>
        </p:grpSp>
        <p:sp>
          <p:nvSpPr>
            <p:cNvPr name="Freeform 19" id="19"/>
            <p:cNvSpPr/>
            <p:nvPr/>
          </p:nvSpPr>
          <p:spPr>
            <a:xfrm flipH="false" flipV="false" rot="0">
              <a:off x="0" y="0"/>
              <a:ext cx="1330264" cy="1329710"/>
            </a:xfrm>
            <a:custGeom>
              <a:avLst/>
              <a:gdLst/>
              <a:ahLst/>
              <a:cxnLst/>
              <a:rect r="r" b="b" t="t" l="l"/>
              <a:pathLst>
                <a:path h="1329710" w="1330264">
                  <a:moveTo>
                    <a:pt x="0" y="0"/>
                  </a:moveTo>
                  <a:lnTo>
                    <a:pt x="1330264" y="0"/>
                  </a:lnTo>
                  <a:lnTo>
                    <a:pt x="1330264" y="1329710"/>
                  </a:lnTo>
                  <a:lnTo>
                    <a:pt x="0" y="1329710"/>
                  </a:lnTo>
                  <a:lnTo>
                    <a:pt x="0" y="0"/>
                  </a:lnTo>
                  <a:close/>
                </a:path>
              </a:pathLst>
            </a:custGeom>
            <a:blipFill>
              <a:blip r:embed="rId4"/>
              <a:stretch>
                <a:fillRect l="0" t="0" r="0" b="0"/>
              </a:stretch>
            </a:blipFill>
          </p:spPr>
        </p:sp>
        <p:sp>
          <p:nvSpPr>
            <p:cNvPr name="TextBox 20" id="20"/>
            <p:cNvSpPr txBox="true"/>
            <p:nvPr/>
          </p:nvSpPr>
          <p:spPr>
            <a:xfrm rot="0">
              <a:off x="1694649" y="791217"/>
              <a:ext cx="2628497" cy="831319"/>
            </a:xfrm>
            <a:prstGeom prst="rect">
              <a:avLst/>
            </a:prstGeom>
          </p:spPr>
          <p:txBody>
            <a:bodyPr anchor="t" rtlCol="false" tIns="0" lIns="0" bIns="0" rIns="0">
              <a:spAutoFit/>
            </a:bodyPr>
            <a:lstStyle/>
            <a:p>
              <a:pPr algn="l">
                <a:lnSpc>
                  <a:spcPts val="2478"/>
                </a:lnSpc>
              </a:pPr>
              <a:r>
                <a:rPr lang="en-US" sz="2031" spc="-117">
                  <a:solidFill>
                    <a:srgbClr val="FFFFFF"/>
                  </a:solidFill>
                  <a:latin typeface="Open Sauce"/>
                  <a:ea typeface="Open Sauce"/>
                  <a:cs typeface="Open Sauce"/>
                  <a:sym typeface="Open Sauce"/>
                </a:rPr>
                <a:t>Stok sering tidak akurat</a:t>
              </a:r>
            </a:p>
          </p:txBody>
        </p:sp>
      </p:grpSp>
      <p:grpSp>
        <p:nvGrpSpPr>
          <p:cNvPr name="Group 21" id="21"/>
          <p:cNvGrpSpPr/>
          <p:nvPr/>
        </p:nvGrpSpPr>
        <p:grpSpPr>
          <a:xfrm rot="0">
            <a:off x="9589392" y="6846812"/>
            <a:ext cx="4035199" cy="1460492"/>
            <a:chOff x="0" y="0"/>
            <a:chExt cx="5380266" cy="1947322"/>
          </a:xfrm>
        </p:grpSpPr>
        <p:grpSp>
          <p:nvGrpSpPr>
            <p:cNvPr name="Group 22" id="22"/>
            <p:cNvGrpSpPr/>
            <p:nvPr/>
          </p:nvGrpSpPr>
          <p:grpSpPr>
            <a:xfrm rot="0">
              <a:off x="427862" y="404229"/>
              <a:ext cx="4748258" cy="1543093"/>
              <a:chOff x="0" y="0"/>
              <a:chExt cx="1340443" cy="435618"/>
            </a:xfrm>
          </p:grpSpPr>
          <p:sp>
            <p:nvSpPr>
              <p:cNvPr name="Freeform 23" id="23"/>
              <p:cNvSpPr/>
              <p:nvPr/>
            </p:nvSpPr>
            <p:spPr>
              <a:xfrm flipH="false" flipV="false" rot="0">
                <a:off x="0" y="0"/>
                <a:ext cx="1340443" cy="435618"/>
              </a:xfrm>
              <a:custGeom>
                <a:avLst/>
                <a:gdLst/>
                <a:ahLst/>
                <a:cxnLst/>
                <a:rect r="r" b="b" t="t" l="l"/>
                <a:pathLst>
                  <a:path h="435618" w="1340443">
                    <a:moveTo>
                      <a:pt x="110872" y="0"/>
                    </a:moveTo>
                    <a:lnTo>
                      <a:pt x="1229570" y="0"/>
                    </a:lnTo>
                    <a:cubicBezTo>
                      <a:pt x="1258975" y="0"/>
                      <a:pt x="1287176" y="11681"/>
                      <a:pt x="1307969" y="32474"/>
                    </a:cubicBezTo>
                    <a:cubicBezTo>
                      <a:pt x="1328762" y="53266"/>
                      <a:pt x="1340443" y="81467"/>
                      <a:pt x="1340443" y="110872"/>
                    </a:cubicBezTo>
                    <a:lnTo>
                      <a:pt x="1340443" y="324746"/>
                    </a:lnTo>
                    <a:cubicBezTo>
                      <a:pt x="1340443" y="354151"/>
                      <a:pt x="1328762" y="382352"/>
                      <a:pt x="1307969" y="403144"/>
                    </a:cubicBezTo>
                    <a:cubicBezTo>
                      <a:pt x="1287176" y="423937"/>
                      <a:pt x="1258975" y="435618"/>
                      <a:pt x="1229570" y="435618"/>
                    </a:cubicBezTo>
                    <a:lnTo>
                      <a:pt x="110872" y="435618"/>
                    </a:lnTo>
                    <a:cubicBezTo>
                      <a:pt x="81467" y="435618"/>
                      <a:pt x="53266" y="423937"/>
                      <a:pt x="32474" y="403144"/>
                    </a:cubicBezTo>
                    <a:cubicBezTo>
                      <a:pt x="11681" y="382352"/>
                      <a:pt x="0" y="354151"/>
                      <a:pt x="0" y="324746"/>
                    </a:cubicBezTo>
                    <a:lnTo>
                      <a:pt x="0" y="110872"/>
                    </a:lnTo>
                    <a:cubicBezTo>
                      <a:pt x="0" y="81467"/>
                      <a:pt x="11681" y="53266"/>
                      <a:pt x="32474" y="32474"/>
                    </a:cubicBezTo>
                    <a:cubicBezTo>
                      <a:pt x="53266" y="11681"/>
                      <a:pt x="81467" y="0"/>
                      <a:pt x="110872" y="0"/>
                    </a:cubicBezTo>
                    <a:close/>
                  </a:path>
                </a:pathLst>
              </a:custGeom>
              <a:gradFill rotWithShape="true">
                <a:gsLst>
                  <a:gs pos="0">
                    <a:srgbClr val="FFFFFF">
                      <a:alpha val="10500"/>
                    </a:srgbClr>
                  </a:gs>
                  <a:gs pos="25000">
                    <a:srgbClr val="FFFFFF">
                      <a:alpha val="15000"/>
                    </a:srgbClr>
                  </a:gs>
                  <a:gs pos="50000">
                    <a:srgbClr val="FFFFFF">
                      <a:alpha val="10000"/>
                    </a:srgbClr>
                  </a:gs>
                  <a:gs pos="75000">
                    <a:srgbClr val="FFFFFF">
                      <a:alpha val="15000"/>
                    </a:srgbClr>
                  </a:gs>
                  <a:gs pos="100000">
                    <a:srgbClr val="FFFFFF">
                      <a:alpha val="10000"/>
                    </a:srgbClr>
                  </a:gs>
                </a:gsLst>
                <a:lin ang="2700000"/>
              </a:gradFill>
              <a:ln w="19050" cap="rnd">
                <a:solidFill>
                  <a:srgbClr val="FFFFFF"/>
                </a:solidFill>
                <a:prstDash val="solid"/>
                <a:round/>
              </a:ln>
            </p:spPr>
          </p:sp>
          <p:sp>
            <p:nvSpPr>
              <p:cNvPr name="TextBox 24" id="24"/>
              <p:cNvSpPr txBox="true"/>
              <p:nvPr/>
            </p:nvSpPr>
            <p:spPr>
              <a:xfrm>
                <a:off x="0" y="85725"/>
                <a:ext cx="1340443" cy="349893"/>
              </a:xfrm>
              <a:prstGeom prst="rect">
                <a:avLst/>
              </a:prstGeom>
            </p:spPr>
            <p:txBody>
              <a:bodyPr anchor="ctr" rtlCol="false" tIns="50800" lIns="50800" bIns="50800" rIns="50800"/>
              <a:lstStyle/>
              <a:p>
                <a:pPr algn="ctr" marL="0" indent="0" lvl="0">
                  <a:lnSpc>
                    <a:spcPts val="2218"/>
                  </a:lnSpc>
                  <a:spcBef>
                    <a:spcPct val="0"/>
                  </a:spcBef>
                </a:pPr>
              </a:p>
            </p:txBody>
          </p:sp>
        </p:grpSp>
        <p:sp>
          <p:nvSpPr>
            <p:cNvPr name="Freeform 25" id="25"/>
            <p:cNvSpPr/>
            <p:nvPr/>
          </p:nvSpPr>
          <p:spPr>
            <a:xfrm flipH="false" flipV="false" rot="0">
              <a:off x="0" y="0"/>
              <a:ext cx="1330264" cy="1329710"/>
            </a:xfrm>
            <a:custGeom>
              <a:avLst/>
              <a:gdLst/>
              <a:ahLst/>
              <a:cxnLst/>
              <a:rect r="r" b="b" t="t" l="l"/>
              <a:pathLst>
                <a:path h="1329710" w="1330264">
                  <a:moveTo>
                    <a:pt x="0" y="0"/>
                  </a:moveTo>
                  <a:lnTo>
                    <a:pt x="1330264" y="0"/>
                  </a:lnTo>
                  <a:lnTo>
                    <a:pt x="1330264" y="1329710"/>
                  </a:lnTo>
                  <a:lnTo>
                    <a:pt x="0" y="1329710"/>
                  </a:lnTo>
                  <a:lnTo>
                    <a:pt x="0" y="0"/>
                  </a:lnTo>
                  <a:close/>
                </a:path>
              </a:pathLst>
            </a:custGeom>
            <a:blipFill>
              <a:blip r:embed="rId5"/>
              <a:stretch>
                <a:fillRect l="0" t="0" r="0" b="0"/>
              </a:stretch>
            </a:blipFill>
          </p:spPr>
        </p:sp>
        <p:sp>
          <p:nvSpPr>
            <p:cNvPr name="TextBox 26" id="26"/>
            <p:cNvSpPr txBox="true"/>
            <p:nvPr/>
          </p:nvSpPr>
          <p:spPr>
            <a:xfrm rot="0">
              <a:off x="1694649" y="760116"/>
              <a:ext cx="3685617" cy="831319"/>
            </a:xfrm>
            <a:prstGeom prst="rect">
              <a:avLst/>
            </a:prstGeom>
          </p:spPr>
          <p:txBody>
            <a:bodyPr anchor="t" rtlCol="false" tIns="0" lIns="0" bIns="0" rIns="0">
              <a:spAutoFit/>
            </a:bodyPr>
            <a:lstStyle/>
            <a:p>
              <a:pPr algn="l">
                <a:lnSpc>
                  <a:spcPts val="2478"/>
                </a:lnSpc>
              </a:pPr>
              <a:r>
                <a:rPr lang="en-US" sz="2031" spc="-117">
                  <a:solidFill>
                    <a:srgbClr val="FFFFFF"/>
                  </a:solidFill>
                  <a:latin typeface="Open Sauce"/>
                  <a:ea typeface="Open Sauce"/>
                  <a:cs typeface="Open Sauce"/>
                  <a:sym typeface="Open Sauce"/>
                </a:rPr>
                <a:t>Sulit melihat</a:t>
              </a:r>
            </a:p>
            <a:p>
              <a:pPr algn="l">
                <a:lnSpc>
                  <a:spcPts val="2478"/>
                </a:lnSpc>
              </a:pPr>
              <a:r>
                <a:rPr lang="en-US" sz="2031" spc="-117">
                  <a:solidFill>
                    <a:srgbClr val="FFFFFF"/>
                  </a:solidFill>
                  <a:latin typeface="Open Sauce"/>
                  <a:ea typeface="Open Sauce"/>
                  <a:cs typeface="Open Sauce"/>
                  <a:sym typeface="Open Sauce"/>
                </a:rPr>
                <a:t>laporan real-time</a:t>
              </a:r>
            </a:p>
          </p:txBody>
        </p:sp>
      </p:grpSp>
      <p:grpSp>
        <p:nvGrpSpPr>
          <p:cNvPr name="Group 27" id="27"/>
          <p:cNvGrpSpPr/>
          <p:nvPr/>
        </p:nvGrpSpPr>
        <p:grpSpPr>
          <a:xfrm rot="0">
            <a:off x="13981238" y="6823487"/>
            <a:ext cx="4009561" cy="1483817"/>
            <a:chOff x="0" y="0"/>
            <a:chExt cx="5346081" cy="1978423"/>
          </a:xfrm>
        </p:grpSpPr>
        <p:grpSp>
          <p:nvGrpSpPr>
            <p:cNvPr name="Group 28" id="28"/>
            <p:cNvGrpSpPr/>
            <p:nvPr/>
          </p:nvGrpSpPr>
          <p:grpSpPr>
            <a:xfrm rot="0">
              <a:off x="427862" y="435330"/>
              <a:ext cx="4748258" cy="1543093"/>
              <a:chOff x="0" y="0"/>
              <a:chExt cx="1340443" cy="435618"/>
            </a:xfrm>
          </p:grpSpPr>
          <p:sp>
            <p:nvSpPr>
              <p:cNvPr name="Freeform 29" id="29"/>
              <p:cNvSpPr/>
              <p:nvPr/>
            </p:nvSpPr>
            <p:spPr>
              <a:xfrm flipH="false" flipV="false" rot="0">
                <a:off x="0" y="0"/>
                <a:ext cx="1340443" cy="435618"/>
              </a:xfrm>
              <a:custGeom>
                <a:avLst/>
                <a:gdLst/>
                <a:ahLst/>
                <a:cxnLst/>
                <a:rect r="r" b="b" t="t" l="l"/>
                <a:pathLst>
                  <a:path h="435618" w="1340443">
                    <a:moveTo>
                      <a:pt x="110872" y="0"/>
                    </a:moveTo>
                    <a:lnTo>
                      <a:pt x="1229570" y="0"/>
                    </a:lnTo>
                    <a:cubicBezTo>
                      <a:pt x="1258975" y="0"/>
                      <a:pt x="1287176" y="11681"/>
                      <a:pt x="1307969" y="32474"/>
                    </a:cubicBezTo>
                    <a:cubicBezTo>
                      <a:pt x="1328762" y="53266"/>
                      <a:pt x="1340443" y="81467"/>
                      <a:pt x="1340443" y="110872"/>
                    </a:cubicBezTo>
                    <a:lnTo>
                      <a:pt x="1340443" y="324746"/>
                    </a:lnTo>
                    <a:cubicBezTo>
                      <a:pt x="1340443" y="354151"/>
                      <a:pt x="1328762" y="382352"/>
                      <a:pt x="1307969" y="403144"/>
                    </a:cubicBezTo>
                    <a:cubicBezTo>
                      <a:pt x="1287176" y="423937"/>
                      <a:pt x="1258975" y="435618"/>
                      <a:pt x="1229570" y="435618"/>
                    </a:cubicBezTo>
                    <a:lnTo>
                      <a:pt x="110872" y="435618"/>
                    </a:lnTo>
                    <a:cubicBezTo>
                      <a:pt x="81467" y="435618"/>
                      <a:pt x="53266" y="423937"/>
                      <a:pt x="32474" y="403144"/>
                    </a:cubicBezTo>
                    <a:cubicBezTo>
                      <a:pt x="11681" y="382352"/>
                      <a:pt x="0" y="354151"/>
                      <a:pt x="0" y="324746"/>
                    </a:cubicBezTo>
                    <a:lnTo>
                      <a:pt x="0" y="110872"/>
                    </a:lnTo>
                    <a:cubicBezTo>
                      <a:pt x="0" y="81467"/>
                      <a:pt x="11681" y="53266"/>
                      <a:pt x="32474" y="32474"/>
                    </a:cubicBezTo>
                    <a:cubicBezTo>
                      <a:pt x="53266" y="11681"/>
                      <a:pt x="81467" y="0"/>
                      <a:pt x="110872" y="0"/>
                    </a:cubicBezTo>
                    <a:close/>
                  </a:path>
                </a:pathLst>
              </a:custGeom>
              <a:gradFill rotWithShape="true">
                <a:gsLst>
                  <a:gs pos="0">
                    <a:srgbClr val="FFFFFF">
                      <a:alpha val="10500"/>
                    </a:srgbClr>
                  </a:gs>
                  <a:gs pos="25000">
                    <a:srgbClr val="FFFFFF">
                      <a:alpha val="15000"/>
                    </a:srgbClr>
                  </a:gs>
                  <a:gs pos="50000">
                    <a:srgbClr val="FFFFFF">
                      <a:alpha val="10000"/>
                    </a:srgbClr>
                  </a:gs>
                  <a:gs pos="75000">
                    <a:srgbClr val="FFFFFF">
                      <a:alpha val="15000"/>
                    </a:srgbClr>
                  </a:gs>
                  <a:gs pos="100000">
                    <a:srgbClr val="FFFFFF">
                      <a:alpha val="10000"/>
                    </a:srgbClr>
                  </a:gs>
                </a:gsLst>
                <a:lin ang="2700000"/>
              </a:gradFill>
              <a:ln w="19050" cap="rnd">
                <a:solidFill>
                  <a:srgbClr val="FFFFFF"/>
                </a:solidFill>
                <a:prstDash val="solid"/>
                <a:round/>
              </a:ln>
            </p:spPr>
          </p:sp>
          <p:sp>
            <p:nvSpPr>
              <p:cNvPr name="TextBox 30" id="30"/>
              <p:cNvSpPr txBox="true"/>
              <p:nvPr/>
            </p:nvSpPr>
            <p:spPr>
              <a:xfrm>
                <a:off x="0" y="85725"/>
                <a:ext cx="1340443" cy="349893"/>
              </a:xfrm>
              <a:prstGeom prst="rect">
                <a:avLst/>
              </a:prstGeom>
            </p:spPr>
            <p:txBody>
              <a:bodyPr anchor="ctr" rtlCol="false" tIns="50800" lIns="50800" bIns="50800" rIns="50800"/>
              <a:lstStyle/>
              <a:p>
                <a:pPr algn="ctr" marL="0" indent="0" lvl="0">
                  <a:lnSpc>
                    <a:spcPts val="2218"/>
                  </a:lnSpc>
                  <a:spcBef>
                    <a:spcPct val="0"/>
                  </a:spcBef>
                </a:pPr>
              </a:p>
            </p:txBody>
          </p:sp>
        </p:grpSp>
        <p:sp>
          <p:nvSpPr>
            <p:cNvPr name="Freeform 31" id="31"/>
            <p:cNvSpPr/>
            <p:nvPr/>
          </p:nvSpPr>
          <p:spPr>
            <a:xfrm flipH="false" flipV="false" rot="0">
              <a:off x="0" y="0"/>
              <a:ext cx="1330264" cy="1329710"/>
            </a:xfrm>
            <a:custGeom>
              <a:avLst/>
              <a:gdLst/>
              <a:ahLst/>
              <a:cxnLst/>
              <a:rect r="r" b="b" t="t" l="l"/>
              <a:pathLst>
                <a:path h="1329710" w="1330264">
                  <a:moveTo>
                    <a:pt x="0" y="0"/>
                  </a:moveTo>
                  <a:lnTo>
                    <a:pt x="1330264" y="0"/>
                  </a:lnTo>
                  <a:lnTo>
                    <a:pt x="1330264" y="1329710"/>
                  </a:lnTo>
                  <a:lnTo>
                    <a:pt x="0" y="1329710"/>
                  </a:lnTo>
                  <a:lnTo>
                    <a:pt x="0" y="0"/>
                  </a:lnTo>
                  <a:close/>
                </a:path>
              </a:pathLst>
            </a:custGeom>
            <a:blipFill>
              <a:blip r:embed="rId6"/>
              <a:stretch>
                <a:fillRect l="0" t="0" r="0" b="0"/>
              </a:stretch>
            </a:blipFill>
          </p:spPr>
        </p:sp>
        <p:sp>
          <p:nvSpPr>
            <p:cNvPr name="TextBox 32" id="32"/>
            <p:cNvSpPr txBox="true"/>
            <p:nvPr/>
          </p:nvSpPr>
          <p:spPr>
            <a:xfrm rot="0">
              <a:off x="1660464" y="791217"/>
              <a:ext cx="3685617" cy="831319"/>
            </a:xfrm>
            <a:prstGeom prst="rect">
              <a:avLst/>
            </a:prstGeom>
          </p:spPr>
          <p:txBody>
            <a:bodyPr anchor="t" rtlCol="false" tIns="0" lIns="0" bIns="0" rIns="0">
              <a:spAutoFit/>
            </a:bodyPr>
            <a:lstStyle/>
            <a:p>
              <a:pPr algn="l">
                <a:lnSpc>
                  <a:spcPts val="2478"/>
                </a:lnSpc>
              </a:pPr>
              <a:r>
                <a:rPr lang="en-US" sz="2031" spc="-117">
                  <a:solidFill>
                    <a:srgbClr val="FFFFFF"/>
                  </a:solidFill>
                  <a:latin typeface="Open Sauce"/>
                  <a:ea typeface="Open Sauce"/>
                  <a:cs typeface="Open Sauce"/>
                  <a:sym typeface="Open Sauce"/>
                </a:rPr>
                <a:t>Sistem POS mahal</a:t>
              </a:r>
            </a:p>
            <a:p>
              <a:pPr algn="l">
                <a:lnSpc>
                  <a:spcPts val="2478"/>
                </a:lnSpc>
              </a:pPr>
              <a:r>
                <a:rPr lang="en-US" sz="2031" spc="-117">
                  <a:solidFill>
                    <a:srgbClr val="FFFFFF"/>
                  </a:solidFill>
                  <a:latin typeface="Open Sauce"/>
                  <a:ea typeface="Open Sauce"/>
                  <a:cs typeface="Open Sauce"/>
                  <a:sym typeface="Open Sauce"/>
                </a:rPr>
                <a:t>&amp; tidak fleksibel</a:t>
              </a:r>
            </a:p>
          </p:txBody>
        </p:sp>
      </p:grpSp>
      <p:grpSp>
        <p:nvGrpSpPr>
          <p:cNvPr name="Group 33" id="33"/>
          <p:cNvGrpSpPr/>
          <p:nvPr/>
        </p:nvGrpSpPr>
        <p:grpSpPr>
          <a:xfrm rot="0">
            <a:off x="1028700" y="4401591"/>
            <a:ext cx="6952475" cy="4286949"/>
            <a:chOff x="0" y="0"/>
            <a:chExt cx="710036" cy="437814"/>
          </a:xfrm>
        </p:grpSpPr>
        <p:sp>
          <p:nvSpPr>
            <p:cNvPr name="Freeform 34" id="34"/>
            <p:cNvSpPr/>
            <p:nvPr/>
          </p:nvSpPr>
          <p:spPr>
            <a:xfrm flipH="false" flipV="false" rot="0">
              <a:off x="0" y="0"/>
              <a:ext cx="710036" cy="437814"/>
            </a:xfrm>
            <a:custGeom>
              <a:avLst/>
              <a:gdLst/>
              <a:ahLst/>
              <a:cxnLst/>
              <a:rect r="r" b="b" t="t" l="l"/>
              <a:pathLst>
                <a:path h="437814" w="710036">
                  <a:moveTo>
                    <a:pt x="44542" y="0"/>
                  </a:moveTo>
                  <a:lnTo>
                    <a:pt x="665495" y="0"/>
                  </a:lnTo>
                  <a:cubicBezTo>
                    <a:pt x="677308" y="0"/>
                    <a:pt x="688637" y="4693"/>
                    <a:pt x="696990" y="13046"/>
                  </a:cubicBezTo>
                  <a:cubicBezTo>
                    <a:pt x="705344" y="21399"/>
                    <a:pt x="710036" y="32729"/>
                    <a:pt x="710036" y="44542"/>
                  </a:cubicBezTo>
                  <a:lnTo>
                    <a:pt x="710036" y="393272"/>
                  </a:lnTo>
                  <a:cubicBezTo>
                    <a:pt x="710036" y="417872"/>
                    <a:pt x="690094" y="437814"/>
                    <a:pt x="665495" y="437814"/>
                  </a:cubicBezTo>
                  <a:lnTo>
                    <a:pt x="44542" y="437814"/>
                  </a:lnTo>
                  <a:cubicBezTo>
                    <a:pt x="19942" y="437814"/>
                    <a:pt x="0" y="417872"/>
                    <a:pt x="0" y="393272"/>
                  </a:cubicBezTo>
                  <a:lnTo>
                    <a:pt x="0" y="44542"/>
                  </a:lnTo>
                  <a:cubicBezTo>
                    <a:pt x="0" y="19942"/>
                    <a:pt x="19942" y="0"/>
                    <a:pt x="44542" y="0"/>
                  </a:cubicBezTo>
                  <a:close/>
                </a:path>
              </a:pathLst>
            </a:custGeom>
            <a:blipFill>
              <a:blip r:embed="rId7"/>
              <a:stretch>
                <a:fillRect l="0" t="-2606" r="0" b="-2606"/>
              </a:stretch>
            </a:blipFill>
            <a:ln w="19050" cap="rnd">
              <a:solidFill>
                <a:srgbClr val="FFFFFF"/>
              </a:solidFill>
              <a:prstDash val="solid"/>
              <a:round/>
            </a:ln>
          </p:spPr>
        </p:sp>
      </p:grpSp>
      <p:sp>
        <p:nvSpPr>
          <p:cNvPr name="TextBox 35" id="35"/>
          <p:cNvSpPr txBox="true"/>
          <p:nvPr/>
        </p:nvSpPr>
        <p:spPr>
          <a:xfrm rot="0">
            <a:off x="5037211" y="1728940"/>
            <a:ext cx="8213579" cy="1642110"/>
          </a:xfrm>
          <a:prstGeom prst="rect">
            <a:avLst/>
          </a:prstGeom>
        </p:spPr>
        <p:txBody>
          <a:bodyPr anchor="t" rtlCol="false" tIns="0" lIns="0" bIns="0" rIns="0">
            <a:spAutoFit/>
          </a:bodyPr>
          <a:lstStyle/>
          <a:p>
            <a:pPr algn="ctr">
              <a:lnSpc>
                <a:spcPts val="12870"/>
              </a:lnSpc>
            </a:pPr>
            <a:r>
              <a:rPr lang="en-US" b="true" sz="11000" spc="-462">
                <a:solidFill>
                  <a:srgbClr val="FFFFFF"/>
                </a:solidFill>
                <a:latin typeface="Open Sauce Bold"/>
                <a:ea typeface="Open Sauce Bold"/>
                <a:cs typeface="Open Sauce Bold"/>
                <a:sym typeface="Open Sauce Bold"/>
              </a:rPr>
              <a:t>Problem</a:t>
            </a:r>
          </a:p>
        </p:txBody>
      </p:sp>
      <p:sp>
        <p:nvSpPr>
          <p:cNvPr name="TextBox 36" id="36"/>
          <p:cNvSpPr txBox="true"/>
          <p:nvPr/>
        </p:nvSpPr>
        <p:spPr>
          <a:xfrm rot="0">
            <a:off x="1132972" y="852689"/>
            <a:ext cx="5168833" cy="372323"/>
          </a:xfrm>
          <a:prstGeom prst="rect">
            <a:avLst/>
          </a:prstGeom>
        </p:spPr>
        <p:txBody>
          <a:bodyPr anchor="t" rtlCol="false" tIns="0" lIns="0" bIns="0" rIns="0">
            <a:spAutoFit/>
          </a:bodyPr>
          <a:lstStyle/>
          <a:p>
            <a:pPr algn="l">
              <a:lnSpc>
                <a:spcPts val="3121"/>
              </a:lnSpc>
            </a:pPr>
            <a:r>
              <a:rPr lang="en-US" sz="2229" spc="-104" b="true">
                <a:solidFill>
                  <a:srgbClr val="FFFFFF"/>
                </a:solidFill>
                <a:latin typeface="Open Sauce Heavy"/>
                <a:ea typeface="Open Sauce Heavy"/>
                <a:cs typeface="Open Sauce Heavy"/>
                <a:sym typeface="Open Sauce Heavy"/>
              </a:rPr>
              <a:t>CV. Sukses Jaya</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true" rot="0">
            <a:off x="0" y="0"/>
            <a:ext cx="18288000" cy="10287000"/>
          </a:xfrm>
          <a:custGeom>
            <a:avLst/>
            <a:gdLst/>
            <a:ahLst/>
            <a:cxnLst/>
            <a:rect r="r" b="b" t="t" l="l"/>
            <a:pathLst>
              <a:path h="10287000" w="18288000">
                <a:moveTo>
                  <a:pt x="18288000" y="10287000"/>
                </a:moveTo>
                <a:lnTo>
                  <a:pt x="0" y="10287000"/>
                </a:lnTo>
                <a:lnTo>
                  <a:pt x="0" y="0"/>
                </a:lnTo>
                <a:lnTo>
                  <a:pt x="18288000" y="0"/>
                </a:lnTo>
                <a:lnTo>
                  <a:pt x="18288000" y="10287000"/>
                </a:lnTo>
                <a:close/>
              </a:path>
            </a:pathLst>
          </a:custGeom>
          <a:blipFill>
            <a:blip r:embed="rId2"/>
            <a:stretch>
              <a:fillRect l="0" t="-9222" r="0" b="-9222"/>
            </a:stretch>
          </a:blipFill>
        </p:spPr>
      </p:sp>
      <p:grpSp>
        <p:nvGrpSpPr>
          <p:cNvPr name="Group 3" id="3"/>
          <p:cNvGrpSpPr/>
          <p:nvPr/>
        </p:nvGrpSpPr>
        <p:grpSpPr>
          <a:xfrm rot="-9278497">
            <a:off x="13587780" y="5089383"/>
            <a:ext cx="9966661" cy="9966661"/>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lnTo>
                    <a:pt x="406400" y="0"/>
                  </a:lnTo>
                  <a:close/>
                </a:path>
              </a:pathLst>
            </a:custGeom>
            <a:gradFill rotWithShape="true">
              <a:gsLst>
                <a:gs pos="0">
                  <a:srgbClr val="FFFFFF">
                    <a:alpha val="1365"/>
                  </a:srgbClr>
                </a:gs>
                <a:gs pos="25000">
                  <a:srgbClr val="FFFFFF">
                    <a:alpha val="1950"/>
                  </a:srgbClr>
                </a:gs>
                <a:gs pos="50000">
                  <a:srgbClr val="FFFFFF">
                    <a:alpha val="1300"/>
                  </a:srgbClr>
                </a:gs>
                <a:gs pos="75000">
                  <a:srgbClr val="FFFFFF">
                    <a:alpha val="1950"/>
                  </a:srgbClr>
                </a:gs>
                <a:gs pos="100000">
                  <a:srgbClr val="FFFFFF">
                    <a:alpha val="1300"/>
                  </a:srgbClr>
                </a:gs>
              </a:gsLst>
              <a:lin ang="2700000"/>
            </a:gradFill>
            <a:ln w="19050" cap="rnd">
              <a:solidFill>
                <a:srgbClr val="FFFFFF">
                  <a:alpha val="12941"/>
                </a:srgbClr>
              </a:solidFill>
              <a:prstDash val="solid"/>
              <a:round/>
            </a:ln>
          </p:spPr>
        </p:sp>
        <p:sp>
          <p:nvSpPr>
            <p:cNvPr name="TextBox 5" id="5"/>
            <p:cNvSpPr txBox="true"/>
            <p:nvPr/>
          </p:nvSpPr>
          <p:spPr>
            <a:xfrm>
              <a:off x="76200" y="819150"/>
              <a:ext cx="660400" cy="660400"/>
            </a:xfrm>
            <a:prstGeom prst="rect">
              <a:avLst/>
            </a:prstGeom>
          </p:spPr>
          <p:txBody>
            <a:bodyPr anchor="ctr" rtlCol="false" tIns="50800" lIns="50800" bIns="50800" rIns="50800"/>
            <a:lstStyle/>
            <a:p>
              <a:pPr algn="l" marL="0" indent="0" lvl="0">
                <a:lnSpc>
                  <a:spcPts val="19673"/>
                </a:lnSpc>
                <a:spcBef>
                  <a:spcPct val="0"/>
                </a:spcBef>
              </a:pPr>
            </a:p>
          </p:txBody>
        </p:sp>
      </p:grpSp>
      <p:grpSp>
        <p:nvGrpSpPr>
          <p:cNvPr name="Group 6" id="6"/>
          <p:cNvGrpSpPr/>
          <p:nvPr/>
        </p:nvGrpSpPr>
        <p:grpSpPr>
          <a:xfrm rot="-9278497">
            <a:off x="15438586" y="6668025"/>
            <a:ext cx="6254675" cy="6254675"/>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lnTo>
                    <a:pt x="406400" y="0"/>
                  </a:lnTo>
                  <a:close/>
                </a:path>
              </a:pathLst>
            </a:custGeom>
            <a:gradFill rotWithShape="true">
              <a:gsLst>
                <a:gs pos="0">
                  <a:srgbClr val="FFFFFF">
                    <a:alpha val="1365"/>
                  </a:srgbClr>
                </a:gs>
                <a:gs pos="25000">
                  <a:srgbClr val="FFFFFF">
                    <a:alpha val="1950"/>
                  </a:srgbClr>
                </a:gs>
                <a:gs pos="50000">
                  <a:srgbClr val="FFFFFF">
                    <a:alpha val="1300"/>
                  </a:srgbClr>
                </a:gs>
                <a:gs pos="75000">
                  <a:srgbClr val="FFFFFF">
                    <a:alpha val="1950"/>
                  </a:srgbClr>
                </a:gs>
                <a:gs pos="100000">
                  <a:srgbClr val="FFFFFF">
                    <a:alpha val="1300"/>
                  </a:srgbClr>
                </a:gs>
              </a:gsLst>
              <a:lin ang="2700000"/>
            </a:gradFill>
            <a:ln w="19050" cap="rnd">
              <a:solidFill>
                <a:srgbClr val="FFFFFF">
                  <a:alpha val="12941"/>
                </a:srgbClr>
              </a:solidFill>
              <a:prstDash val="solid"/>
              <a:round/>
            </a:ln>
          </p:spPr>
        </p:sp>
        <p:sp>
          <p:nvSpPr>
            <p:cNvPr name="TextBox 8" id="8"/>
            <p:cNvSpPr txBox="true"/>
            <p:nvPr/>
          </p:nvSpPr>
          <p:spPr>
            <a:xfrm>
              <a:off x="76200" y="161925"/>
              <a:ext cx="660400" cy="574675"/>
            </a:xfrm>
            <a:prstGeom prst="rect">
              <a:avLst/>
            </a:prstGeom>
          </p:spPr>
          <p:txBody>
            <a:bodyPr anchor="ctr" rtlCol="false" tIns="50800" lIns="50800" bIns="50800" rIns="50800"/>
            <a:lstStyle/>
            <a:p>
              <a:pPr algn="ctr" marL="0" indent="0" lvl="0">
                <a:lnSpc>
                  <a:spcPts val="2218"/>
                </a:lnSpc>
                <a:spcBef>
                  <a:spcPct val="0"/>
                </a:spcBef>
              </a:pPr>
            </a:p>
          </p:txBody>
        </p:sp>
      </p:grpSp>
      <p:grpSp>
        <p:nvGrpSpPr>
          <p:cNvPr name="Group 9" id="9"/>
          <p:cNvGrpSpPr/>
          <p:nvPr/>
        </p:nvGrpSpPr>
        <p:grpSpPr>
          <a:xfrm rot="0">
            <a:off x="9933412" y="1352043"/>
            <a:ext cx="7065748" cy="9675044"/>
            <a:chOff x="0" y="0"/>
            <a:chExt cx="2659566" cy="3641712"/>
          </a:xfrm>
        </p:grpSpPr>
        <p:sp>
          <p:nvSpPr>
            <p:cNvPr name="Freeform 10" id="10"/>
            <p:cNvSpPr/>
            <p:nvPr/>
          </p:nvSpPr>
          <p:spPr>
            <a:xfrm flipH="false" flipV="false" rot="0">
              <a:off x="0" y="0"/>
              <a:ext cx="2659566" cy="3641712"/>
            </a:xfrm>
            <a:custGeom>
              <a:avLst/>
              <a:gdLst/>
              <a:ahLst/>
              <a:cxnLst/>
              <a:rect r="r" b="b" t="t" l="l"/>
              <a:pathLst>
                <a:path h="3641712" w="2659566">
                  <a:moveTo>
                    <a:pt x="55881" y="0"/>
                  </a:moveTo>
                  <a:lnTo>
                    <a:pt x="2603686" y="0"/>
                  </a:lnTo>
                  <a:cubicBezTo>
                    <a:pt x="2618506" y="0"/>
                    <a:pt x="2632720" y="5887"/>
                    <a:pt x="2643199" y="16367"/>
                  </a:cubicBezTo>
                  <a:cubicBezTo>
                    <a:pt x="2653679" y="26847"/>
                    <a:pt x="2659566" y="41060"/>
                    <a:pt x="2659566" y="55881"/>
                  </a:cubicBezTo>
                  <a:lnTo>
                    <a:pt x="2659566" y="3585832"/>
                  </a:lnTo>
                  <a:cubicBezTo>
                    <a:pt x="2659566" y="3600652"/>
                    <a:pt x="2653679" y="3614865"/>
                    <a:pt x="2643199" y="3625345"/>
                  </a:cubicBezTo>
                  <a:cubicBezTo>
                    <a:pt x="2632720" y="3635825"/>
                    <a:pt x="2618506" y="3641712"/>
                    <a:pt x="2603686" y="3641712"/>
                  </a:cubicBezTo>
                  <a:lnTo>
                    <a:pt x="55881" y="3641712"/>
                  </a:lnTo>
                  <a:cubicBezTo>
                    <a:pt x="41060" y="3641712"/>
                    <a:pt x="26847" y="3635825"/>
                    <a:pt x="16367" y="3625345"/>
                  </a:cubicBezTo>
                  <a:cubicBezTo>
                    <a:pt x="5887" y="3614865"/>
                    <a:pt x="0" y="3600652"/>
                    <a:pt x="0" y="3585832"/>
                  </a:cubicBezTo>
                  <a:lnTo>
                    <a:pt x="0" y="55881"/>
                  </a:lnTo>
                  <a:cubicBezTo>
                    <a:pt x="0" y="41060"/>
                    <a:pt x="5887" y="26847"/>
                    <a:pt x="16367" y="16367"/>
                  </a:cubicBezTo>
                  <a:cubicBezTo>
                    <a:pt x="26847" y="5887"/>
                    <a:pt x="41060" y="0"/>
                    <a:pt x="55881" y="0"/>
                  </a:cubicBezTo>
                  <a:close/>
                </a:path>
              </a:pathLst>
            </a:custGeom>
            <a:gradFill rotWithShape="true">
              <a:gsLst>
                <a:gs pos="0">
                  <a:srgbClr val="FFFFFF">
                    <a:alpha val="10500"/>
                  </a:srgbClr>
                </a:gs>
                <a:gs pos="25000">
                  <a:srgbClr val="FFFFFF">
                    <a:alpha val="15000"/>
                  </a:srgbClr>
                </a:gs>
                <a:gs pos="50000">
                  <a:srgbClr val="FFFFFF">
                    <a:alpha val="10000"/>
                  </a:srgbClr>
                </a:gs>
                <a:gs pos="75000">
                  <a:srgbClr val="FFFFFF">
                    <a:alpha val="15000"/>
                  </a:srgbClr>
                </a:gs>
                <a:gs pos="100000">
                  <a:srgbClr val="FFFFFF">
                    <a:alpha val="10000"/>
                  </a:srgbClr>
                </a:gs>
              </a:gsLst>
              <a:lin ang="2700000"/>
            </a:gradFill>
            <a:ln w="19050" cap="rnd">
              <a:solidFill>
                <a:srgbClr val="FFFFFF"/>
              </a:solidFill>
              <a:prstDash val="solid"/>
              <a:round/>
            </a:ln>
          </p:spPr>
        </p:sp>
        <p:sp>
          <p:nvSpPr>
            <p:cNvPr name="TextBox 11" id="11"/>
            <p:cNvSpPr txBox="true"/>
            <p:nvPr/>
          </p:nvSpPr>
          <p:spPr>
            <a:xfrm>
              <a:off x="0" y="85725"/>
              <a:ext cx="2659566" cy="3555987"/>
            </a:xfrm>
            <a:prstGeom prst="rect">
              <a:avLst/>
            </a:prstGeom>
          </p:spPr>
          <p:txBody>
            <a:bodyPr anchor="ctr" rtlCol="false" tIns="50800" lIns="50800" bIns="50800" rIns="50800"/>
            <a:lstStyle/>
            <a:p>
              <a:pPr algn="ctr" marL="0" indent="0" lvl="0">
                <a:lnSpc>
                  <a:spcPts val="2218"/>
                </a:lnSpc>
                <a:spcBef>
                  <a:spcPct val="0"/>
                </a:spcBef>
              </a:pPr>
            </a:p>
          </p:txBody>
        </p:sp>
      </p:grpSp>
      <p:grpSp>
        <p:nvGrpSpPr>
          <p:cNvPr name="Group 12" id="12"/>
          <p:cNvGrpSpPr/>
          <p:nvPr/>
        </p:nvGrpSpPr>
        <p:grpSpPr>
          <a:xfrm rot="0">
            <a:off x="15605106" y="1645646"/>
            <a:ext cx="228733" cy="228733"/>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FFFFFF">
                    <a:alpha val="100000"/>
                  </a:srgbClr>
                </a:gs>
                <a:gs pos="100000">
                  <a:srgbClr val="DBD8D8">
                    <a:alpha val="100000"/>
                  </a:srgbClr>
                </a:gs>
              </a:gsLst>
              <a:lin ang="5400000"/>
            </a:gradFill>
          </p:spPr>
        </p:sp>
        <p:sp>
          <p:nvSpPr>
            <p:cNvPr name="TextBox 14" id="14"/>
            <p:cNvSpPr txBox="true"/>
            <p:nvPr/>
          </p:nvSpPr>
          <p:spPr>
            <a:xfrm>
              <a:off x="76200" y="161925"/>
              <a:ext cx="660400" cy="574675"/>
            </a:xfrm>
            <a:prstGeom prst="rect">
              <a:avLst/>
            </a:prstGeom>
          </p:spPr>
          <p:txBody>
            <a:bodyPr anchor="ctr" rtlCol="false" tIns="50800" lIns="50800" bIns="50800" rIns="50800"/>
            <a:lstStyle/>
            <a:p>
              <a:pPr algn="ctr">
                <a:lnSpc>
                  <a:spcPts val="2218"/>
                </a:lnSpc>
              </a:pPr>
            </a:p>
          </p:txBody>
        </p:sp>
      </p:grpSp>
      <p:grpSp>
        <p:nvGrpSpPr>
          <p:cNvPr name="Group 15" id="15"/>
          <p:cNvGrpSpPr/>
          <p:nvPr/>
        </p:nvGrpSpPr>
        <p:grpSpPr>
          <a:xfrm rot="0">
            <a:off x="15905555" y="1645646"/>
            <a:ext cx="228733" cy="228733"/>
            <a:chOff x="0" y="0"/>
            <a:chExt cx="812800" cy="812800"/>
          </a:xfrm>
        </p:grpSpPr>
        <p:sp>
          <p:nvSpPr>
            <p:cNvPr name="Freeform 16" id="1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FFFFFF">
                    <a:alpha val="100000"/>
                  </a:srgbClr>
                </a:gs>
                <a:gs pos="100000">
                  <a:srgbClr val="DBD8D8">
                    <a:alpha val="100000"/>
                  </a:srgbClr>
                </a:gs>
              </a:gsLst>
              <a:lin ang="5400000"/>
            </a:gradFill>
          </p:spPr>
        </p:sp>
        <p:sp>
          <p:nvSpPr>
            <p:cNvPr name="TextBox 17" id="17"/>
            <p:cNvSpPr txBox="true"/>
            <p:nvPr/>
          </p:nvSpPr>
          <p:spPr>
            <a:xfrm>
              <a:off x="76200" y="161925"/>
              <a:ext cx="660400" cy="574675"/>
            </a:xfrm>
            <a:prstGeom prst="rect">
              <a:avLst/>
            </a:prstGeom>
          </p:spPr>
          <p:txBody>
            <a:bodyPr anchor="ctr" rtlCol="false" tIns="50800" lIns="50800" bIns="50800" rIns="50800"/>
            <a:lstStyle/>
            <a:p>
              <a:pPr algn="ctr">
                <a:lnSpc>
                  <a:spcPts val="2218"/>
                </a:lnSpc>
              </a:pPr>
            </a:p>
          </p:txBody>
        </p:sp>
      </p:grpSp>
      <p:grpSp>
        <p:nvGrpSpPr>
          <p:cNvPr name="Group 18" id="18"/>
          <p:cNvGrpSpPr/>
          <p:nvPr/>
        </p:nvGrpSpPr>
        <p:grpSpPr>
          <a:xfrm rot="-9278497">
            <a:off x="-5803234" y="-4205483"/>
            <a:ext cx="9966661" cy="9966661"/>
            <a:chOff x="0" y="0"/>
            <a:chExt cx="812800" cy="812800"/>
          </a:xfrm>
        </p:grpSpPr>
        <p:sp>
          <p:nvSpPr>
            <p:cNvPr name="Freeform 19" id="1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lnTo>
                    <a:pt x="406400" y="0"/>
                  </a:lnTo>
                  <a:close/>
                </a:path>
              </a:pathLst>
            </a:custGeom>
            <a:gradFill rotWithShape="true">
              <a:gsLst>
                <a:gs pos="0">
                  <a:srgbClr val="FFFFFF">
                    <a:alpha val="1365"/>
                  </a:srgbClr>
                </a:gs>
                <a:gs pos="25000">
                  <a:srgbClr val="FFFFFF">
                    <a:alpha val="1950"/>
                  </a:srgbClr>
                </a:gs>
                <a:gs pos="50000">
                  <a:srgbClr val="FFFFFF">
                    <a:alpha val="1300"/>
                  </a:srgbClr>
                </a:gs>
                <a:gs pos="75000">
                  <a:srgbClr val="FFFFFF">
                    <a:alpha val="1950"/>
                  </a:srgbClr>
                </a:gs>
                <a:gs pos="100000">
                  <a:srgbClr val="FFFFFF">
                    <a:alpha val="1300"/>
                  </a:srgbClr>
                </a:gs>
              </a:gsLst>
              <a:lin ang="2700000"/>
            </a:gradFill>
            <a:ln w="19050" cap="rnd">
              <a:solidFill>
                <a:srgbClr val="FFFFFF">
                  <a:alpha val="12941"/>
                </a:srgbClr>
              </a:solidFill>
              <a:prstDash val="solid"/>
              <a:round/>
            </a:ln>
          </p:spPr>
        </p:sp>
        <p:sp>
          <p:nvSpPr>
            <p:cNvPr name="TextBox 20" id="20"/>
            <p:cNvSpPr txBox="true"/>
            <p:nvPr/>
          </p:nvSpPr>
          <p:spPr>
            <a:xfrm>
              <a:off x="76200" y="819150"/>
              <a:ext cx="660400" cy="660400"/>
            </a:xfrm>
            <a:prstGeom prst="rect">
              <a:avLst/>
            </a:prstGeom>
          </p:spPr>
          <p:txBody>
            <a:bodyPr anchor="ctr" rtlCol="false" tIns="50800" lIns="50800" bIns="50800" rIns="50800"/>
            <a:lstStyle/>
            <a:p>
              <a:pPr algn="l" marL="0" indent="0" lvl="0">
                <a:lnSpc>
                  <a:spcPts val="19673"/>
                </a:lnSpc>
                <a:spcBef>
                  <a:spcPct val="0"/>
                </a:spcBef>
              </a:pPr>
            </a:p>
          </p:txBody>
        </p:sp>
      </p:grpSp>
      <p:grpSp>
        <p:nvGrpSpPr>
          <p:cNvPr name="Group 21" id="21"/>
          <p:cNvGrpSpPr/>
          <p:nvPr/>
        </p:nvGrpSpPr>
        <p:grpSpPr>
          <a:xfrm rot="-9278497">
            <a:off x="-2997112" y="-1545956"/>
            <a:ext cx="5213104" cy="5213104"/>
            <a:chOff x="0" y="0"/>
            <a:chExt cx="812800" cy="812800"/>
          </a:xfrm>
        </p:grpSpPr>
        <p:sp>
          <p:nvSpPr>
            <p:cNvPr name="Freeform 22" id="2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lnTo>
                    <a:pt x="406400" y="0"/>
                  </a:lnTo>
                  <a:close/>
                </a:path>
              </a:pathLst>
            </a:custGeom>
            <a:gradFill rotWithShape="true">
              <a:gsLst>
                <a:gs pos="0">
                  <a:srgbClr val="FFFFFF">
                    <a:alpha val="1365"/>
                  </a:srgbClr>
                </a:gs>
                <a:gs pos="25000">
                  <a:srgbClr val="FFFFFF">
                    <a:alpha val="1950"/>
                  </a:srgbClr>
                </a:gs>
                <a:gs pos="50000">
                  <a:srgbClr val="FFFFFF">
                    <a:alpha val="1300"/>
                  </a:srgbClr>
                </a:gs>
                <a:gs pos="75000">
                  <a:srgbClr val="FFFFFF">
                    <a:alpha val="1950"/>
                  </a:srgbClr>
                </a:gs>
                <a:gs pos="100000">
                  <a:srgbClr val="FFFFFF">
                    <a:alpha val="1300"/>
                  </a:srgbClr>
                </a:gs>
              </a:gsLst>
              <a:lin ang="2700000"/>
            </a:gradFill>
            <a:ln w="19050" cap="rnd">
              <a:solidFill>
                <a:srgbClr val="FFFFFF">
                  <a:alpha val="12941"/>
                </a:srgbClr>
              </a:solidFill>
              <a:prstDash val="solid"/>
              <a:round/>
            </a:ln>
          </p:spPr>
        </p:sp>
        <p:sp>
          <p:nvSpPr>
            <p:cNvPr name="TextBox 23" id="23"/>
            <p:cNvSpPr txBox="true"/>
            <p:nvPr/>
          </p:nvSpPr>
          <p:spPr>
            <a:xfrm>
              <a:off x="76200" y="161925"/>
              <a:ext cx="660400" cy="574675"/>
            </a:xfrm>
            <a:prstGeom prst="rect">
              <a:avLst/>
            </a:prstGeom>
          </p:spPr>
          <p:txBody>
            <a:bodyPr anchor="ctr" rtlCol="false" tIns="50800" lIns="50800" bIns="50800" rIns="50800"/>
            <a:lstStyle/>
            <a:p>
              <a:pPr algn="ctr" marL="0" indent="0" lvl="0">
                <a:lnSpc>
                  <a:spcPts val="2218"/>
                </a:lnSpc>
                <a:spcBef>
                  <a:spcPct val="0"/>
                </a:spcBef>
              </a:pPr>
            </a:p>
          </p:txBody>
        </p:sp>
      </p:grpSp>
      <p:grpSp>
        <p:nvGrpSpPr>
          <p:cNvPr name="Group 24" id="24"/>
          <p:cNvGrpSpPr/>
          <p:nvPr/>
        </p:nvGrpSpPr>
        <p:grpSpPr>
          <a:xfrm rot="0">
            <a:off x="16206003" y="1645646"/>
            <a:ext cx="228733" cy="228733"/>
            <a:chOff x="0" y="0"/>
            <a:chExt cx="812800" cy="812800"/>
          </a:xfrm>
        </p:grpSpPr>
        <p:sp>
          <p:nvSpPr>
            <p:cNvPr name="Freeform 25" id="2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FFFFFF">
                    <a:alpha val="100000"/>
                  </a:srgbClr>
                </a:gs>
                <a:gs pos="100000">
                  <a:srgbClr val="DBD8D8">
                    <a:alpha val="100000"/>
                  </a:srgbClr>
                </a:gs>
              </a:gsLst>
              <a:lin ang="5400000"/>
            </a:gradFill>
          </p:spPr>
        </p:sp>
        <p:sp>
          <p:nvSpPr>
            <p:cNvPr name="TextBox 26" id="26"/>
            <p:cNvSpPr txBox="true"/>
            <p:nvPr/>
          </p:nvSpPr>
          <p:spPr>
            <a:xfrm>
              <a:off x="76200" y="161925"/>
              <a:ext cx="660400" cy="574675"/>
            </a:xfrm>
            <a:prstGeom prst="rect">
              <a:avLst/>
            </a:prstGeom>
          </p:spPr>
          <p:txBody>
            <a:bodyPr anchor="ctr" rtlCol="false" tIns="50800" lIns="50800" bIns="50800" rIns="50800"/>
            <a:lstStyle/>
            <a:p>
              <a:pPr algn="ctr">
                <a:lnSpc>
                  <a:spcPts val="2218"/>
                </a:lnSpc>
              </a:pPr>
            </a:p>
          </p:txBody>
        </p:sp>
      </p:grpSp>
      <p:grpSp>
        <p:nvGrpSpPr>
          <p:cNvPr name="Group 27" id="27"/>
          <p:cNvGrpSpPr/>
          <p:nvPr/>
        </p:nvGrpSpPr>
        <p:grpSpPr>
          <a:xfrm rot="0">
            <a:off x="723200" y="4953398"/>
            <a:ext cx="8420800" cy="1406719"/>
            <a:chOff x="0" y="0"/>
            <a:chExt cx="11227734" cy="1875626"/>
          </a:xfrm>
        </p:grpSpPr>
        <p:grpSp>
          <p:nvGrpSpPr>
            <p:cNvPr name="Group 28" id="28"/>
            <p:cNvGrpSpPr/>
            <p:nvPr/>
          </p:nvGrpSpPr>
          <p:grpSpPr>
            <a:xfrm rot="0">
              <a:off x="0" y="343727"/>
              <a:ext cx="11227734" cy="1083454"/>
              <a:chOff x="0" y="0"/>
              <a:chExt cx="2247071" cy="216838"/>
            </a:xfrm>
          </p:grpSpPr>
          <p:sp>
            <p:nvSpPr>
              <p:cNvPr name="Freeform 29" id="29"/>
              <p:cNvSpPr/>
              <p:nvPr/>
            </p:nvSpPr>
            <p:spPr>
              <a:xfrm flipH="false" flipV="false" rot="0">
                <a:off x="0" y="0"/>
                <a:ext cx="2247071" cy="216838"/>
              </a:xfrm>
              <a:custGeom>
                <a:avLst/>
                <a:gdLst/>
                <a:ahLst/>
                <a:cxnLst/>
                <a:rect r="r" b="b" t="t" l="l"/>
                <a:pathLst>
                  <a:path h="216838" w="2247071">
                    <a:moveTo>
                      <a:pt x="66139" y="0"/>
                    </a:moveTo>
                    <a:lnTo>
                      <a:pt x="2180932" y="0"/>
                    </a:lnTo>
                    <a:cubicBezTo>
                      <a:pt x="2198473" y="0"/>
                      <a:pt x="2215296" y="6968"/>
                      <a:pt x="2227699" y="19372"/>
                    </a:cubicBezTo>
                    <a:cubicBezTo>
                      <a:pt x="2240102" y="31775"/>
                      <a:pt x="2247071" y="48598"/>
                      <a:pt x="2247071" y="66139"/>
                    </a:cubicBezTo>
                    <a:lnTo>
                      <a:pt x="2247071" y="150699"/>
                    </a:lnTo>
                    <a:cubicBezTo>
                      <a:pt x="2247071" y="168240"/>
                      <a:pt x="2240102" y="185063"/>
                      <a:pt x="2227699" y="197466"/>
                    </a:cubicBezTo>
                    <a:cubicBezTo>
                      <a:pt x="2215296" y="209870"/>
                      <a:pt x="2198473" y="216838"/>
                      <a:pt x="2180932" y="216838"/>
                    </a:cubicBezTo>
                    <a:lnTo>
                      <a:pt x="66139" y="216838"/>
                    </a:lnTo>
                    <a:cubicBezTo>
                      <a:pt x="48598" y="216838"/>
                      <a:pt x="31775" y="209870"/>
                      <a:pt x="19372" y="197466"/>
                    </a:cubicBezTo>
                    <a:cubicBezTo>
                      <a:pt x="6968" y="185063"/>
                      <a:pt x="0" y="168240"/>
                      <a:pt x="0" y="150699"/>
                    </a:cubicBezTo>
                    <a:lnTo>
                      <a:pt x="0" y="66139"/>
                    </a:lnTo>
                    <a:cubicBezTo>
                      <a:pt x="0" y="48598"/>
                      <a:pt x="6968" y="31775"/>
                      <a:pt x="19372" y="19372"/>
                    </a:cubicBezTo>
                    <a:cubicBezTo>
                      <a:pt x="31775" y="6968"/>
                      <a:pt x="48598" y="0"/>
                      <a:pt x="66139" y="0"/>
                    </a:cubicBezTo>
                    <a:close/>
                  </a:path>
                </a:pathLst>
              </a:custGeom>
              <a:gradFill rotWithShape="true">
                <a:gsLst>
                  <a:gs pos="0">
                    <a:srgbClr val="FFFFFF">
                      <a:alpha val="10500"/>
                    </a:srgbClr>
                  </a:gs>
                  <a:gs pos="25000">
                    <a:srgbClr val="FFFFFF">
                      <a:alpha val="15000"/>
                    </a:srgbClr>
                  </a:gs>
                  <a:gs pos="50000">
                    <a:srgbClr val="FFFFFF">
                      <a:alpha val="10000"/>
                    </a:srgbClr>
                  </a:gs>
                  <a:gs pos="75000">
                    <a:srgbClr val="FFFFFF">
                      <a:alpha val="15000"/>
                    </a:srgbClr>
                  </a:gs>
                  <a:gs pos="100000">
                    <a:srgbClr val="FFFFFF">
                      <a:alpha val="10000"/>
                    </a:srgbClr>
                  </a:gs>
                </a:gsLst>
                <a:lin ang="2700000"/>
              </a:gradFill>
              <a:ln w="19050" cap="rnd">
                <a:solidFill>
                  <a:srgbClr val="FFFFFF"/>
                </a:solidFill>
                <a:prstDash val="solid"/>
                <a:round/>
              </a:ln>
            </p:spPr>
          </p:sp>
          <p:sp>
            <p:nvSpPr>
              <p:cNvPr name="TextBox 30" id="30"/>
              <p:cNvSpPr txBox="true"/>
              <p:nvPr/>
            </p:nvSpPr>
            <p:spPr>
              <a:xfrm>
                <a:off x="0" y="85725"/>
                <a:ext cx="2247071" cy="131113"/>
              </a:xfrm>
              <a:prstGeom prst="rect">
                <a:avLst/>
              </a:prstGeom>
            </p:spPr>
            <p:txBody>
              <a:bodyPr anchor="ctr" rtlCol="false" tIns="50800" lIns="50800" bIns="50800" rIns="50800"/>
              <a:lstStyle/>
              <a:p>
                <a:pPr algn="ctr" marL="0" indent="0" lvl="0">
                  <a:lnSpc>
                    <a:spcPts val="2218"/>
                  </a:lnSpc>
                  <a:spcBef>
                    <a:spcPct val="0"/>
                  </a:spcBef>
                </a:pPr>
              </a:p>
            </p:txBody>
          </p:sp>
        </p:grpSp>
        <p:sp>
          <p:nvSpPr>
            <p:cNvPr name="Freeform 31" id="31"/>
            <p:cNvSpPr/>
            <p:nvPr/>
          </p:nvSpPr>
          <p:spPr>
            <a:xfrm flipH="false" flipV="false" rot="0">
              <a:off x="7652" y="0"/>
              <a:ext cx="1875626" cy="1875626"/>
            </a:xfrm>
            <a:custGeom>
              <a:avLst/>
              <a:gdLst/>
              <a:ahLst/>
              <a:cxnLst/>
              <a:rect r="r" b="b" t="t" l="l"/>
              <a:pathLst>
                <a:path h="1875626" w="1875626">
                  <a:moveTo>
                    <a:pt x="0" y="0"/>
                  </a:moveTo>
                  <a:lnTo>
                    <a:pt x="1875625" y="0"/>
                  </a:lnTo>
                  <a:lnTo>
                    <a:pt x="1875625" y="1875626"/>
                  </a:lnTo>
                  <a:lnTo>
                    <a:pt x="0" y="1875626"/>
                  </a:lnTo>
                  <a:lnTo>
                    <a:pt x="0" y="0"/>
                  </a:lnTo>
                  <a:close/>
                </a:path>
              </a:pathLst>
            </a:custGeom>
            <a:blipFill>
              <a:blip r:embed="rId3"/>
              <a:stretch>
                <a:fillRect l="0" t="0" r="0" b="0"/>
              </a:stretch>
            </a:blipFill>
          </p:spPr>
        </p:sp>
        <p:sp>
          <p:nvSpPr>
            <p:cNvPr name="TextBox 32" id="32"/>
            <p:cNvSpPr txBox="true"/>
            <p:nvPr/>
          </p:nvSpPr>
          <p:spPr>
            <a:xfrm rot="0">
              <a:off x="1883277" y="585201"/>
              <a:ext cx="9240049" cy="590982"/>
            </a:xfrm>
            <a:prstGeom prst="rect">
              <a:avLst/>
            </a:prstGeom>
          </p:spPr>
          <p:txBody>
            <a:bodyPr anchor="t" rtlCol="false" tIns="0" lIns="0" bIns="0" rIns="0">
              <a:spAutoFit/>
            </a:bodyPr>
            <a:lstStyle/>
            <a:p>
              <a:pPr algn="l">
                <a:lnSpc>
                  <a:spcPts val="3496"/>
                </a:lnSpc>
              </a:pPr>
              <a:r>
                <a:rPr lang="en-US" sz="2865" spc="-166">
                  <a:solidFill>
                    <a:srgbClr val="FFFFFF"/>
                  </a:solidFill>
                  <a:latin typeface="Open Sauce"/>
                  <a:ea typeface="Open Sauce"/>
                  <a:cs typeface="Open Sauce"/>
                  <a:sym typeface="Open Sauce"/>
                </a:rPr>
                <a:t>Website POS &amp; Inventory berbasis custom</a:t>
              </a:r>
            </a:p>
          </p:txBody>
        </p:sp>
      </p:grpSp>
      <p:grpSp>
        <p:nvGrpSpPr>
          <p:cNvPr name="Group 33" id="33"/>
          <p:cNvGrpSpPr/>
          <p:nvPr/>
        </p:nvGrpSpPr>
        <p:grpSpPr>
          <a:xfrm rot="0">
            <a:off x="723200" y="6533830"/>
            <a:ext cx="8420800" cy="1385233"/>
            <a:chOff x="0" y="0"/>
            <a:chExt cx="11227734" cy="1846977"/>
          </a:xfrm>
        </p:grpSpPr>
        <p:grpSp>
          <p:nvGrpSpPr>
            <p:cNvPr name="Group 34" id="34"/>
            <p:cNvGrpSpPr/>
            <p:nvPr/>
          </p:nvGrpSpPr>
          <p:grpSpPr>
            <a:xfrm rot="0">
              <a:off x="171496" y="98969"/>
              <a:ext cx="11056238" cy="1605829"/>
              <a:chOff x="0" y="0"/>
              <a:chExt cx="2247071" cy="326369"/>
            </a:xfrm>
          </p:grpSpPr>
          <p:sp>
            <p:nvSpPr>
              <p:cNvPr name="Freeform 35" id="35"/>
              <p:cNvSpPr/>
              <p:nvPr/>
            </p:nvSpPr>
            <p:spPr>
              <a:xfrm flipH="false" flipV="false" rot="0">
                <a:off x="0" y="0"/>
                <a:ext cx="2247071" cy="326369"/>
              </a:xfrm>
              <a:custGeom>
                <a:avLst/>
                <a:gdLst/>
                <a:ahLst/>
                <a:cxnLst/>
                <a:rect r="r" b="b" t="t" l="l"/>
                <a:pathLst>
                  <a:path h="326369" w="2247071">
                    <a:moveTo>
                      <a:pt x="47616" y="0"/>
                    </a:moveTo>
                    <a:lnTo>
                      <a:pt x="2199455" y="0"/>
                    </a:lnTo>
                    <a:cubicBezTo>
                      <a:pt x="2212083" y="0"/>
                      <a:pt x="2224195" y="5017"/>
                      <a:pt x="2233124" y="13946"/>
                    </a:cubicBezTo>
                    <a:cubicBezTo>
                      <a:pt x="2242054" y="22876"/>
                      <a:pt x="2247071" y="34987"/>
                      <a:pt x="2247071" y="47616"/>
                    </a:cubicBezTo>
                    <a:lnTo>
                      <a:pt x="2247071" y="278753"/>
                    </a:lnTo>
                    <a:cubicBezTo>
                      <a:pt x="2247071" y="291382"/>
                      <a:pt x="2242054" y="303493"/>
                      <a:pt x="2233124" y="312423"/>
                    </a:cubicBezTo>
                    <a:cubicBezTo>
                      <a:pt x="2224195" y="321352"/>
                      <a:pt x="2212083" y="326369"/>
                      <a:pt x="2199455" y="326369"/>
                    </a:cubicBezTo>
                    <a:lnTo>
                      <a:pt x="47616" y="326369"/>
                    </a:lnTo>
                    <a:cubicBezTo>
                      <a:pt x="34987" y="326369"/>
                      <a:pt x="22876" y="321352"/>
                      <a:pt x="13946" y="312423"/>
                    </a:cubicBezTo>
                    <a:cubicBezTo>
                      <a:pt x="5017" y="303493"/>
                      <a:pt x="0" y="291382"/>
                      <a:pt x="0" y="278753"/>
                    </a:cubicBezTo>
                    <a:lnTo>
                      <a:pt x="0" y="47616"/>
                    </a:lnTo>
                    <a:cubicBezTo>
                      <a:pt x="0" y="34987"/>
                      <a:pt x="5017" y="22876"/>
                      <a:pt x="13946" y="13946"/>
                    </a:cubicBezTo>
                    <a:cubicBezTo>
                      <a:pt x="22876" y="5017"/>
                      <a:pt x="34987" y="0"/>
                      <a:pt x="47616" y="0"/>
                    </a:cubicBezTo>
                    <a:close/>
                  </a:path>
                </a:pathLst>
              </a:custGeom>
              <a:gradFill rotWithShape="true">
                <a:gsLst>
                  <a:gs pos="0">
                    <a:srgbClr val="FFFFFF">
                      <a:alpha val="10500"/>
                    </a:srgbClr>
                  </a:gs>
                  <a:gs pos="25000">
                    <a:srgbClr val="FFFFFF">
                      <a:alpha val="15000"/>
                    </a:srgbClr>
                  </a:gs>
                  <a:gs pos="50000">
                    <a:srgbClr val="FFFFFF">
                      <a:alpha val="10000"/>
                    </a:srgbClr>
                  </a:gs>
                  <a:gs pos="75000">
                    <a:srgbClr val="FFFFFF">
                      <a:alpha val="15000"/>
                    </a:srgbClr>
                  </a:gs>
                  <a:gs pos="100000">
                    <a:srgbClr val="FFFFFF">
                      <a:alpha val="10000"/>
                    </a:srgbClr>
                  </a:gs>
                </a:gsLst>
                <a:lin ang="2700000"/>
              </a:gradFill>
              <a:ln w="19050" cap="rnd">
                <a:solidFill>
                  <a:srgbClr val="FFFFFF"/>
                </a:solidFill>
                <a:prstDash val="solid"/>
                <a:round/>
              </a:ln>
            </p:spPr>
          </p:sp>
          <p:sp>
            <p:nvSpPr>
              <p:cNvPr name="TextBox 36" id="36"/>
              <p:cNvSpPr txBox="true"/>
              <p:nvPr/>
            </p:nvSpPr>
            <p:spPr>
              <a:xfrm>
                <a:off x="0" y="85725"/>
                <a:ext cx="2247071" cy="240644"/>
              </a:xfrm>
              <a:prstGeom prst="rect">
                <a:avLst/>
              </a:prstGeom>
            </p:spPr>
            <p:txBody>
              <a:bodyPr anchor="ctr" rtlCol="false" tIns="70562" lIns="70562" bIns="70562" rIns="70562"/>
              <a:lstStyle/>
              <a:p>
                <a:pPr algn="ctr" marL="0" indent="0" lvl="0">
                  <a:lnSpc>
                    <a:spcPts val="2218"/>
                  </a:lnSpc>
                  <a:spcBef>
                    <a:spcPct val="0"/>
                  </a:spcBef>
                </a:pPr>
              </a:p>
            </p:txBody>
          </p:sp>
        </p:grpSp>
        <p:sp>
          <p:nvSpPr>
            <p:cNvPr name="TextBox 37" id="37"/>
            <p:cNvSpPr txBox="true"/>
            <p:nvPr/>
          </p:nvSpPr>
          <p:spPr>
            <a:xfrm rot="0">
              <a:off x="2128820" y="355659"/>
              <a:ext cx="8713080" cy="1096219"/>
            </a:xfrm>
            <a:prstGeom prst="rect">
              <a:avLst/>
            </a:prstGeom>
          </p:spPr>
          <p:txBody>
            <a:bodyPr anchor="t" rtlCol="false" tIns="0" lIns="0" bIns="0" rIns="0">
              <a:spAutoFit/>
            </a:bodyPr>
            <a:lstStyle/>
            <a:p>
              <a:pPr algn="l">
                <a:lnSpc>
                  <a:spcPts val="3296"/>
                </a:lnSpc>
              </a:pPr>
              <a:r>
                <a:rPr lang="en-US" sz="2702" spc="-156">
                  <a:solidFill>
                    <a:srgbClr val="FFFFFF"/>
                  </a:solidFill>
                  <a:latin typeface="Open Sauce"/>
                  <a:ea typeface="Open Sauce"/>
                  <a:cs typeface="Open Sauce"/>
                  <a:sym typeface="Open Sauce"/>
                </a:rPr>
                <a:t>Fleksibel sesuai kebutuhan klien, mudah digunakan, aman, dan terintegrasi</a:t>
              </a:r>
            </a:p>
          </p:txBody>
        </p:sp>
        <p:sp>
          <p:nvSpPr>
            <p:cNvPr name="Freeform 38" id="38"/>
            <p:cNvSpPr/>
            <p:nvPr/>
          </p:nvSpPr>
          <p:spPr>
            <a:xfrm flipH="false" flipV="false" rot="0">
              <a:off x="0" y="0"/>
              <a:ext cx="1847747" cy="1846977"/>
            </a:xfrm>
            <a:custGeom>
              <a:avLst/>
              <a:gdLst/>
              <a:ahLst/>
              <a:cxnLst/>
              <a:rect r="r" b="b" t="t" l="l"/>
              <a:pathLst>
                <a:path h="1846977" w="1847747">
                  <a:moveTo>
                    <a:pt x="0" y="0"/>
                  </a:moveTo>
                  <a:lnTo>
                    <a:pt x="1847747" y="0"/>
                  </a:lnTo>
                  <a:lnTo>
                    <a:pt x="1847747" y="1846977"/>
                  </a:lnTo>
                  <a:lnTo>
                    <a:pt x="0" y="1846977"/>
                  </a:lnTo>
                  <a:lnTo>
                    <a:pt x="0" y="0"/>
                  </a:lnTo>
                  <a:close/>
                </a:path>
              </a:pathLst>
            </a:custGeom>
            <a:blipFill>
              <a:blip r:embed="rId4"/>
              <a:stretch>
                <a:fillRect l="0" t="0" r="0" b="0"/>
              </a:stretch>
            </a:blipFill>
          </p:spPr>
        </p:sp>
      </p:grpSp>
      <p:grpSp>
        <p:nvGrpSpPr>
          <p:cNvPr name="Group 39" id="39"/>
          <p:cNvGrpSpPr>
            <a:grpSpLocks noChangeAspect="true"/>
          </p:cNvGrpSpPr>
          <p:nvPr/>
        </p:nvGrpSpPr>
        <p:grpSpPr>
          <a:xfrm rot="0">
            <a:off x="10199112" y="2520315"/>
            <a:ext cx="6534348" cy="5246370"/>
            <a:chOff x="0" y="0"/>
            <a:chExt cx="7467600" cy="5995670"/>
          </a:xfrm>
        </p:grpSpPr>
        <p:sp>
          <p:nvSpPr>
            <p:cNvPr name="Freeform 40" id="40">
              <a:hlinkClick r:id="rId5" tooltip="https://www.canva.com/design/DAG92BsQdJs/w2cQQs8Bbcw_VfTq0SCvrQ/edit"/>
            </p:cNvPr>
            <p:cNvSpPr/>
            <p:nvPr/>
          </p:nvSpPr>
          <p:spPr>
            <a:xfrm flipH="false" flipV="false" rot="0">
              <a:off x="0" y="0"/>
              <a:ext cx="7467600" cy="4513580"/>
            </a:xfrm>
            <a:custGeom>
              <a:avLst/>
              <a:gdLst/>
              <a:ahLst/>
              <a:cxnLst/>
              <a:rect r="r" b="b" t="t" l="l"/>
              <a:pathLst>
                <a:path h="4513580" w="7467600">
                  <a:moveTo>
                    <a:pt x="7127240" y="0"/>
                  </a:moveTo>
                  <a:lnTo>
                    <a:pt x="340360" y="0"/>
                  </a:lnTo>
                  <a:cubicBezTo>
                    <a:pt x="152400" y="0"/>
                    <a:pt x="0" y="152400"/>
                    <a:pt x="0" y="340360"/>
                  </a:cubicBezTo>
                  <a:lnTo>
                    <a:pt x="0" y="4513580"/>
                  </a:lnTo>
                  <a:lnTo>
                    <a:pt x="7467600" y="4513580"/>
                  </a:lnTo>
                  <a:lnTo>
                    <a:pt x="7467600" y="340360"/>
                  </a:lnTo>
                  <a:cubicBezTo>
                    <a:pt x="7467600" y="152400"/>
                    <a:pt x="7315200" y="0"/>
                    <a:pt x="7127240" y="0"/>
                  </a:cubicBezTo>
                  <a:close/>
                  <a:moveTo>
                    <a:pt x="7142480" y="4188460"/>
                  </a:moveTo>
                  <a:lnTo>
                    <a:pt x="314961" y="4188460"/>
                  </a:lnTo>
                  <a:lnTo>
                    <a:pt x="314961" y="353060"/>
                  </a:lnTo>
                  <a:lnTo>
                    <a:pt x="7142480" y="353060"/>
                  </a:lnTo>
                  <a:lnTo>
                    <a:pt x="7142480" y="4188460"/>
                  </a:lnTo>
                  <a:close/>
                </a:path>
              </a:pathLst>
            </a:custGeom>
            <a:solidFill>
              <a:srgbClr val="000000"/>
            </a:solidFill>
          </p:spPr>
        </p:sp>
        <p:sp>
          <p:nvSpPr>
            <p:cNvPr name="Freeform 41" id="41">
              <a:hlinkClick r:id="rId6" tooltip="https://www.canva.com/design/DAG92BsQdJs/w2cQQs8Bbcw_VfTq0SCvrQ/edit"/>
            </p:cNvPr>
            <p:cNvSpPr/>
            <p:nvPr/>
          </p:nvSpPr>
          <p:spPr>
            <a:xfrm flipH="false" flipV="false" rot="0">
              <a:off x="0" y="4514850"/>
              <a:ext cx="7467600" cy="695960"/>
            </a:xfrm>
            <a:custGeom>
              <a:avLst/>
              <a:gdLst/>
              <a:ahLst/>
              <a:cxnLst/>
              <a:rect r="r" b="b" t="t" l="l"/>
              <a:pathLst>
                <a:path h="695960" w="7467600">
                  <a:moveTo>
                    <a:pt x="0" y="355600"/>
                  </a:moveTo>
                  <a:cubicBezTo>
                    <a:pt x="0" y="543560"/>
                    <a:pt x="152400" y="695960"/>
                    <a:pt x="340360" y="695960"/>
                  </a:cubicBezTo>
                  <a:lnTo>
                    <a:pt x="7127240" y="695960"/>
                  </a:lnTo>
                  <a:cubicBezTo>
                    <a:pt x="7315200" y="695960"/>
                    <a:pt x="7467600" y="543560"/>
                    <a:pt x="7467600" y="355600"/>
                  </a:cubicBezTo>
                  <a:lnTo>
                    <a:pt x="7467600" y="0"/>
                  </a:lnTo>
                  <a:lnTo>
                    <a:pt x="0" y="0"/>
                  </a:lnTo>
                  <a:lnTo>
                    <a:pt x="0" y="355600"/>
                  </a:lnTo>
                  <a:close/>
                </a:path>
              </a:pathLst>
            </a:custGeom>
            <a:solidFill>
              <a:srgbClr val="E9E9E9"/>
            </a:solidFill>
          </p:spPr>
        </p:sp>
        <p:sp>
          <p:nvSpPr>
            <p:cNvPr name="Freeform 42" id="42">
              <a:hlinkClick r:id="rId7" tooltip="https://www.canva.com/design/DAG92BsQdJs/w2cQQs8Bbcw_VfTq0SCvrQ/edit"/>
            </p:cNvPr>
            <p:cNvSpPr/>
            <p:nvPr/>
          </p:nvSpPr>
          <p:spPr>
            <a:xfrm flipH="false" flipV="false" rot="0">
              <a:off x="2434265" y="5210810"/>
              <a:ext cx="2596530" cy="786130"/>
            </a:xfrm>
            <a:custGeom>
              <a:avLst/>
              <a:gdLst/>
              <a:ahLst/>
              <a:cxnLst/>
              <a:rect r="r" b="b" t="t" l="l"/>
              <a:pathLst>
                <a:path h="786130" w="2596530">
                  <a:moveTo>
                    <a:pt x="1253815" y="0"/>
                  </a:moveTo>
                  <a:lnTo>
                    <a:pt x="448635" y="0"/>
                  </a:lnTo>
                  <a:cubicBezTo>
                    <a:pt x="448635" y="0"/>
                    <a:pt x="424505" y="370840"/>
                    <a:pt x="399105" y="525780"/>
                  </a:cubicBezTo>
                  <a:cubicBezTo>
                    <a:pt x="354655" y="791210"/>
                    <a:pt x="82875" y="706120"/>
                    <a:pt x="5405" y="762000"/>
                  </a:cubicBezTo>
                  <a:cubicBezTo>
                    <a:pt x="-4755" y="769620"/>
                    <a:pt x="325" y="786130"/>
                    <a:pt x="13025" y="786130"/>
                  </a:cubicBezTo>
                  <a:lnTo>
                    <a:pt x="2583505" y="786130"/>
                  </a:lnTo>
                  <a:cubicBezTo>
                    <a:pt x="2596205" y="786130"/>
                    <a:pt x="2601285" y="769620"/>
                    <a:pt x="2591125" y="762000"/>
                  </a:cubicBezTo>
                  <a:cubicBezTo>
                    <a:pt x="2513655" y="706120"/>
                    <a:pt x="2241875" y="791210"/>
                    <a:pt x="2197425" y="525780"/>
                  </a:cubicBezTo>
                  <a:cubicBezTo>
                    <a:pt x="2172025" y="370840"/>
                    <a:pt x="2147895" y="0"/>
                    <a:pt x="2147895" y="0"/>
                  </a:cubicBezTo>
                  <a:lnTo>
                    <a:pt x="1253815" y="0"/>
                  </a:lnTo>
                  <a:close/>
                </a:path>
              </a:pathLst>
            </a:custGeom>
            <a:solidFill>
              <a:srgbClr val="BBBBBB"/>
            </a:solidFill>
          </p:spPr>
        </p:sp>
        <p:sp>
          <p:nvSpPr>
            <p:cNvPr name="Freeform 43" id="43">
              <a:hlinkClick r:id="rId8" tooltip="https://www.canva.com/design/DAG92BsQdJs/w2cQQs8Bbcw_VfTq0SCvrQ/edit"/>
            </p:cNvPr>
            <p:cNvSpPr/>
            <p:nvPr/>
          </p:nvSpPr>
          <p:spPr>
            <a:xfrm flipH="false" flipV="false" rot="0">
              <a:off x="314960" y="353060"/>
              <a:ext cx="6827520" cy="3835400"/>
            </a:xfrm>
            <a:custGeom>
              <a:avLst/>
              <a:gdLst/>
              <a:ahLst/>
              <a:cxnLst/>
              <a:rect r="r" b="b" t="t" l="l"/>
              <a:pathLst>
                <a:path h="3835400" w="6827520">
                  <a:moveTo>
                    <a:pt x="0" y="0"/>
                  </a:moveTo>
                  <a:lnTo>
                    <a:pt x="6827520" y="0"/>
                  </a:lnTo>
                  <a:lnTo>
                    <a:pt x="6827520" y="3835400"/>
                  </a:lnTo>
                  <a:lnTo>
                    <a:pt x="0" y="3835400"/>
                  </a:lnTo>
                  <a:close/>
                </a:path>
              </a:pathLst>
            </a:custGeom>
            <a:blipFill>
              <a:blip r:embed="rId9"/>
              <a:stretch>
                <a:fillRect l="0" t="-956" r="0" b="-956"/>
              </a:stretch>
            </a:blipFill>
          </p:spPr>
        </p:sp>
      </p:grpSp>
      <p:sp>
        <p:nvSpPr>
          <p:cNvPr name="TextBox 44" id="44"/>
          <p:cNvSpPr txBox="true"/>
          <p:nvPr/>
        </p:nvSpPr>
        <p:spPr>
          <a:xfrm rot="0">
            <a:off x="1028700" y="1893430"/>
            <a:ext cx="8547528" cy="1641729"/>
          </a:xfrm>
          <a:prstGeom prst="rect">
            <a:avLst/>
          </a:prstGeom>
        </p:spPr>
        <p:txBody>
          <a:bodyPr anchor="t" rtlCol="false" tIns="0" lIns="0" bIns="0" rIns="0">
            <a:spAutoFit/>
          </a:bodyPr>
          <a:lstStyle/>
          <a:p>
            <a:pPr algn="l">
              <a:lnSpc>
                <a:spcPts val="12752"/>
              </a:lnSpc>
            </a:pPr>
            <a:r>
              <a:rPr lang="en-US" b="true" sz="10899" spc="-457">
                <a:solidFill>
                  <a:srgbClr val="FFFFFF"/>
                </a:solidFill>
                <a:latin typeface="Open Sauce Bold"/>
                <a:ea typeface="Open Sauce Bold"/>
                <a:cs typeface="Open Sauce Bold"/>
                <a:sym typeface="Open Sauce Bold"/>
              </a:rPr>
              <a:t>Solution</a:t>
            </a:r>
          </a:p>
        </p:txBody>
      </p:sp>
      <p:sp>
        <p:nvSpPr>
          <p:cNvPr name="TextBox 45" id="45"/>
          <p:cNvSpPr txBox="true"/>
          <p:nvPr/>
        </p:nvSpPr>
        <p:spPr>
          <a:xfrm rot="0">
            <a:off x="11006969" y="8153058"/>
            <a:ext cx="4918635" cy="1105242"/>
          </a:xfrm>
          <a:prstGeom prst="rect">
            <a:avLst/>
          </a:prstGeom>
        </p:spPr>
        <p:txBody>
          <a:bodyPr anchor="t" rtlCol="false" tIns="0" lIns="0" bIns="0" rIns="0">
            <a:spAutoFit/>
          </a:bodyPr>
          <a:lstStyle/>
          <a:p>
            <a:pPr algn="ctr">
              <a:lnSpc>
                <a:spcPts val="4410"/>
              </a:lnSpc>
            </a:pPr>
            <a:r>
              <a:rPr lang="en-US" b="true" sz="3615" spc="-209">
                <a:solidFill>
                  <a:srgbClr val="FFFFFF"/>
                </a:solidFill>
                <a:latin typeface="Open Sauce Bold"/>
                <a:ea typeface="Open Sauce Bold"/>
                <a:cs typeface="Open Sauce Bold"/>
                <a:sym typeface="Open Sauce Bold"/>
              </a:rPr>
              <a:t>Website CV. Sukses jaya</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9278497">
            <a:off x="4240293" y="-3978498"/>
            <a:ext cx="17891941" cy="17891941"/>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lnTo>
                    <a:pt x="406400" y="0"/>
                  </a:lnTo>
                  <a:close/>
                </a:path>
              </a:pathLst>
            </a:custGeom>
            <a:gradFill rotWithShape="true">
              <a:gsLst>
                <a:gs pos="0">
                  <a:srgbClr val="FFFFFF">
                    <a:alpha val="735"/>
                  </a:srgbClr>
                </a:gs>
                <a:gs pos="25000">
                  <a:srgbClr val="FFFFFF">
                    <a:alpha val="1050"/>
                  </a:srgbClr>
                </a:gs>
                <a:gs pos="50000">
                  <a:srgbClr val="FFFFFF">
                    <a:alpha val="700"/>
                  </a:srgbClr>
                </a:gs>
                <a:gs pos="75000">
                  <a:srgbClr val="FFFFFF">
                    <a:alpha val="1050"/>
                  </a:srgbClr>
                </a:gs>
                <a:gs pos="100000">
                  <a:srgbClr val="FFFFFF">
                    <a:alpha val="700"/>
                  </a:srgbClr>
                </a:gs>
              </a:gsLst>
              <a:lin ang="2700000"/>
            </a:gradFill>
            <a:ln w="19050" cap="rnd">
              <a:solidFill>
                <a:srgbClr val="FFFFFF">
                  <a:alpha val="6667"/>
                </a:srgbClr>
              </a:solidFill>
              <a:prstDash val="solid"/>
              <a:round/>
            </a:ln>
          </p:spPr>
        </p:sp>
        <p:sp>
          <p:nvSpPr>
            <p:cNvPr name="TextBox 5" id="5"/>
            <p:cNvSpPr txBox="true"/>
            <p:nvPr/>
          </p:nvSpPr>
          <p:spPr>
            <a:xfrm>
              <a:off x="76200" y="819150"/>
              <a:ext cx="660400" cy="660400"/>
            </a:xfrm>
            <a:prstGeom prst="rect">
              <a:avLst/>
            </a:prstGeom>
          </p:spPr>
          <p:txBody>
            <a:bodyPr anchor="ctr" rtlCol="false" tIns="50800" lIns="50800" bIns="50800" rIns="50800"/>
            <a:lstStyle/>
            <a:p>
              <a:pPr algn="l" marL="0" indent="0" lvl="0">
                <a:lnSpc>
                  <a:spcPts val="19673"/>
                </a:lnSpc>
                <a:spcBef>
                  <a:spcPct val="0"/>
                </a:spcBef>
              </a:pPr>
            </a:p>
          </p:txBody>
        </p:sp>
      </p:grpSp>
      <p:grpSp>
        <p:nvGrpSpPr>
          <p:cNvPr name="Group 6" id="6"/>
          <p:cNvGrpSpPr/>
          <p:nvPr/>
        </p:nvGrpSpPr>
        <p:grpSpPr>
          <a:xfrm rot="-9278497">
            <a:off x="7150129" y="-1068662"/>
            <a:ext cx="12072268" cy="12072268"/>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lnTo>
                    <a:pt x="406400" y="0"/>
                  </a:lnTo>
                  <a:close/>
                </a:path>
              </a:pathLst>
            </a:custGeom>
            <a:gradFill rotWithShape="true">
              <a:gsLst>
                <a:gs pos="0">
                  <a:srgbClr val="FFFFFF">
                    <a:alpha val="735"/>
                  </a:srgbClr>
                </a:gs>
                <a:gs pos="25000">
                  <a:srgbClr val="FFFFFF">
                    <a:alpha val="1050"/>
                  </a:srgbClr>
                </a:gs>
                <a:gs pos="50000">
                  <a:srgbClr val="FFFFFF">
                    <a:alpha val="700"/>
                  </a:srgbClr>
                </a:gs>
                <a:gs pos="75000">
                  <a:srgbClr val="FFFFFF">
                    <a:alpha val="1050"/>
                  </a:srgbClr>
                </a:gs>
                <a:gs pos="100000">
                  <a:srgbClr val="FFFFFF">
                    <a:alpha val="700"/>
                  </a:srgbClr>
                </a:gs>
              </a:gsLst>
              <a:lin ang="2700000"/>
            </a:gradFill>
            <a:ln w="19050" cap="rnd">
              <a:solidFill>
                <a:srgbClr val="FFFFFF">
                  <a:alpha val="6667"/>
                </a:srgbClr>
              </a:solidFill>
              <a:prstDash val="solid"/>
              <a:round/>
            </a:ln>
          </p:spPr>
        </p:sp>
        <p:sp>
          <p:nvSpPr>
            <p:cNvPr name="TextBox 8" id="8"/>
            <p:cNvSpPr txBox="true"/>
            <p:nvPr/>
          </p:nvSpPr>
          <p:spPr>
            <a:xfrm>
              <a:off x="76200" y="161925"/>
              <a:ext cx="660400" cy="574675"/>
            </a:xfrm>
            <a:prstGeom prst="rect">
              <a:avLst/>
            </a:prstGeom>
          </p:spPr>
          <p:txBody>
            <a:bodyPr anchor="ctr" rtlCol="false" tIns="50800" lIns="50800" bIns="50800" rIns="50800"/>
            <a:lstStyle/>
            <a:p>
              <a:pPr algn="ctr" marL="0" indent="0" lvl="0">
                <a:lnSpc>
                  <a:spcPts val="2218"/>
                </a:lnSpc>
                <a:spcBef>
                  <a:spcPct val="0"/>
                </a:spcBef>
              </a:pPr>
            </a:p>
          </p:txBody>
        </p:sp>
      </p:grpSp>
      <p:sp>
        <p:nvSpPr>
          <p:cNvPr name="TextBox 9" id="9"/>
          <p:cNvSpPr txBox="true"/>
          <p:nvPr/>
        </p:nvSpPr>
        <p:spPr>
          <a:xfrm rot="0">
            <a:off x="1028700" y="826223"/>
            <a:ext cx="7394119" cy="1583436"/>
          </a:xfrm>
          <a:prstGeom prst="rect">
            <a:avLst/>
          </a:prstGeom>
        </p:spPr>
        <p:txBody>
          <a:bodyPr anchor="t" rtlCol="false" tIns="0" lIns="0" bIns="0" rIns="0">
            <a:spAutoFit/>
          </a:bodyPr>
          <a:lstStyle/>
          <a:p>
            <a:pPr algn="l">
              <a:lnSpc>
                <a:spcPts val="12401"/>
              </a:lnSpc>
            </a:pPr>
            <a:r>
              <a:rPr lang="en-US" b="true" sz="10599" spc="-445">
                <a:solidFill>
                  <a:srgbClr val="FFFFFF"/>
                </a:solidFill>
                <a:latin typeface="Open Sauce Bold"/>
                <a:ea typeface="Open Sauce Bold"/>
                <a:cs typeface="Open Sauce Bold"/>
                <a:sym typeface="Open Sauce Bold"/>
              </a:rPr>
              <a:t>Product</a:t>
            </a:r>
          </a:p>
        </p:txBody>
      </p:sp>
      <p:grpSp>
        <p:nvGrpSpPr>
          <p:cNvPr name="Group 10" id="10"/>
          <p:cNvGrpSpPr/>
          <p:nvPr/>
        </p:nvGrpSpPr>
        <p:grpSpPr>
          <a:xfrm rot="0">
            <a:off x="8813344" y="1028700"/>
            <a:ext cx="4207592" cy="8229600"/>
            <a:chOff x="0" y="0"/>
            <a:chExt cx="1693373" cy="3312057"/>
          </a:xfrm>
        </p:grpSpPr>
        <p:sp>
          <p:nvSpPr>
            <p:cNvPr name="Freeform 11" id="11"/>
            <p:cNvSpPr/>
            <p:nvPr/>
          </p:nvSpPr>
          <p:spPr>
            <a:xfrm flipH="false" flipV="false" rot="0">
              <a:off x="0" y="0"/>
              <a:ext cx="1693373" cy="3312057"/>
            </a:xfrm>
            <a:custGeom>
              <a:avLst/>
              <a:gdLst/>
              <a:ahLst/>
              <a:cxnLst/>
              <a:rect r="r" b="b" t="t" l="l"/>
              <a:pathLst>
                <a:path h="3312057" w="1693373">
                  <a:moveTo>
                    <a:pt x="75440" y="0"/>
                  </a:moveTo>
                  <a:lnTo>
                    <a:pt x="1617934" y="0"/>
                  </a:lnTo>
                  <a:cubicBezTo>
                    <a:pt x="1637941" y="0"/>
                    <a:pt x="1657130" y="7948"/>
                    <a:pt x="1671277" y="22096"/>
                  </a:cubicBezTo>
                  <a:cubicBezTo>
                    <a:pt x="1685425" y="36243"/>
                    <a:pt x="1693373" y="55432"/>
                    <a:pt x="1693373" y="75440"/>
                  </a:cubicBezTo>
                  <a:lnTo>
                    <a:pt x="1693373" y="3236617"/>
                  </a:lnTo>
                  <a:cubicBezTo>
                    <a:pt x="1693373" y="3256625"/>
                    <a:pt x="1685425" y="3275813"/>
                    <a:pt x="1671277" y="3289961"/>
                  </a:cubicBezTo>
                  <a:cubicBezTo>
                    <a:pt x="1657130" y="3304109"/>
                    <a:pt x="1637941" y="3312057"/>
                    <a:pt x="1617934" y="3312057"/>
                  </a:cubicBezTo>
                  <a:lnTo>
                    <a:pt x="75440" y="3312057"/>
                  </a:lnTo>
                  <a:cubicBezTo>
                    <a:pt x="33775" y="3312057"/>
                    <a:pt x="0" y="3278281"/>
                    <a:pt x="0" y="3236617"/>
                  </a:cubicBezTo>
                  <a:lnTo>
                    <a:pt x="0" y="75440"/>
                  </a:lnTo>
                  <a:cubicBezTo>
                    <a:pt x="0" y="33775"/>
                    <a:pt x="33775" y="0"/>
                    <a:pt x="75440" y="0"/>
                  </a:cubicBezTo>
                  <a:close/>
                </a:path>
              </a:pathLst>
            </a:custGeom>
            <a:solidFill>
              <a:srgbClr val="000000">
                <a:alpha val="0"/>
              </a:srgbClr>
            </a:solidFill>
            <a:ln w="12700" cap="rnd">
              <a:solidFill>
                <a:srgbClr val="000000"/>
              </a:solidFill>
              <a:prstDash val="solid"/>
              <a:round/>
            </a:ln>
          </p:spPr>
        </p:sp>
      </p:grpSp>
      <p:grpSp>
        <p:nvGrpSpPr>
          <p:cNvPr name="Group 12" id="12"/>
          <p:cNvGrpSpPr/>
          <p:nvPr/>
        </p:nvGrpSpPr>
        <p:grpSpPr>
          <a:xfrm rot="0">
            <a:off x="13412994" y="1028700"/>
            <a:ext cx="3846306" cy="3938772"/>
            <a:chOff x="0" y="0"/>
            <a:chExt cx="1547971" cy="1585185"/>
          </a:xfrm>
        </p:grpSpPr>
        <p:sp>
          <p:nvSpPr>
            <p:cNvPr name="Freeform 13" id="13"/>
            <p:cNvSpPr/>
            <p:nvPr/>
          </p:nvSpPr>
          <p:spPr>
            <a:xfrm flipH="false" flipV="false" rot="0">
              <a:off x="0" y="0"/>
              <a:ext cx="1547971" cy="1585185"/>
            </a:xfrm>
            <a:custGeom>
              <a:avLst/>
              <a:gdLst/>
              <a:ahLst/>
              <a:cxnLst/>
              <a:rect r="r" b="b" t="t" l="l"/>
              <a:pathLst>
                <a:path h="1585185" w="1547971">
                  <a:moveTo>
                    <a:pt x="78500" y="0"/>
                  </a:moveTo>
                  <a:lnTo>
                    <a:pt x="1469471" y="0"/>
                  </a:lnTo>
                  <a:cubicBezTo>
                    <a:pt x="1490291" y="0"/>
                    <a:pt x="1510258" y="8271"/>
                    <a:pt x="1524979" y="22992"/>
                  </a:cubicBezTo>
                  <a:cubicBezTo>
                    <a:pt x="1539701" y="37714"/>
                    <a:pt x="1547971" y="57680"/>
                    <a:pt x="1547971" y="78500"/>
                  </a:cubicBezTo>
                  <a:lnTo>
                    <a:pt x="1547971" y="1506685"/>
                  </a:lnTo>
                  <a:cubicBezTo>
                    <a:pt x="1547971" y="1527504"/>
                    <a:pt x="1539701" y="1547471"/>
                    <a:pt x="1524979" y="1562193"/>
                  </a:cubicBezTo>
                  <a:cubicBezTo>
                    <a:pt x="1510258" y="1576914"/>
                    <a:pt x="1490291" y="1585185"/>
                    <a:pt x="1469471" y="1585185"/>
                  </a:cubicBezTo>
                  <a:lnTo>
                    <a:pt x="78500" y="1585185"/>
                  </a:lnTo>
                  <a:cubicBezTo>
                    <a:pt x="57680" y="1585185"/>
                    <a:pt x="37714" y="1576914"/>
                    <a:pt x="22992" y="1562193"/>
                  </a:cubicBezTo>
                  <a:cubicBezTo>
                    <a:pt x="8271" y="1547471"/>
                    <a:pt x="0" y="1527504"/>
                    <a:pt x="0" y="1506685"/>
                  </a:cubicBezTo>
                  <a:lnTo>
                    <a:pt x="0" y="78500"/>
                  </a:lnTo>
                  <a:cubicBezTo>
                    <a:pt x="0" y="57680"/>
                    <a:pt x="8271" y="37714"/>
                    <a:pt x="22992" y="22992"/>
                  </a:cubicBezTo>
                  <a:cubicBezTo>
                    <a:pt x="37714" y="8271"/>
                    <a:pt x="57680" y="0"/>
                    <a:pt x="78500" y="0"/>
                  </a:cubicBezTo>
                  <a:close/>
                </a:path>
              </a:pathLst>
            </a:custGeom>
            <a:solidFill>
              <a:srgbClr val="000000">
                <a:alpha val="0"/>
              </a:srgbClr>
            </a:solidFill>
            <a:ln w="12700" cap="rnd">
              <a:solidFill>
                <a:srgbClr val="000000"/>
              </a:solidFill>
              <a:prstDash val="solid"/>
              <a:round/>
            </a:ln>
          </p:spPr>
        </p:sp>
      </p:grpSp>
      <p:sp>
        <p:nvSpPr>
          <p:cNvPr name="TextBox 14" id="14"/>
          <p:cNvSpPr txBox="true"/>
          <p:nvPr/>
        </p:nvSpPr>
        <p:spPr>
          <a:xfrm rot="0">
            <a:off x="1028700" y="7822873"/>
            <a:ext cx="6258758" cy="1376553"/>
          </a:xfrm>
          <a:prstGeom prst="rect">
            <a:avLst/>
          </a:prstGeom>
        </p:spPr>
        <p:txBody>
          <a:bodyPr anchor="t" rtlCol="false" tIns="0" lIns="0" bIns="0" rIns="0">
            <a:spAutoFit/>
          </a:bodyPr>
          <a:lstStyle/>
          <a:p>
            <a:pPr algn="l">
              <a:lnSpc>
                <a:spcPts val="2196"/>
              </a:lnSpc>
            </a:pPr>
            <a:r>
              <a:rPr lang="en-US" sz="1800" spc="-37">
                <a:solidFill>
                  <a:srgbClr val="FFFFFF"/>
                </a:solidFill>
                <a:latin typeface="Open Sauce Light"/>
                <a:ea typeface="Open Sauce Light"/>
                <a:cs typeface="Open Sauce Light"/>
                <a:sym typeface="Open Sauce Light"/>
              </a:rPr>
              <a:t>Lorem ipsum dolor sit amet, consectetur adipiscing elit. Quisque molestie nisl eu sem tristique, sit amet convallis ex aliquam. Maecenas varius lectus hendrerit augue blandit, ut posuere erat aliquam. Praesent auctor tellus eget nisl blandit, at varius purus elementum.</a:t>
            </a:r>
          </a:p>
        </p:txBody>
      </p:sp>
      <p:sp>
        <p:nvSpPr>
          <p:cNvPr name="TextBox 15" id="15"/>
          <p:cNvSpPr txBox="true"/>
          <p:nvPr/>
        </p:nvSpPr>
        <p:spPr>
          <a:xfrm rot="0">
            <a:off x="1028700" y="7059176"/>
            <a:ext cx="6470556" cy="449580"/>
          </a:xfrm>
          <a:prstGeom prst="rect">
            <a:avLst/>
          </a:prstGeom>
        </p:spPr>
        <p:txBody>
          <a:bodyPr anchor="t" rtlCol="false" tIns="0" lIns="0" bIns="0" rIns="0">
            <a:spAutoFit/>
          </a:bodyPr>
          <a:lstStyle/>
          <a:p>
            <a:pPr algn="l" marL="0" indent="0" lvl="1">
              <a:lnSpc>
                <a:spcPts val="3509"/>
              </a:lnSpc>
              <a:spcBef>
                <a:spcPct val="0"/>
              </a:spcBef>
            </a:pPr>
            <a:r>
              <a:rPr lang="en-US" b="true" sz="3000" spc="-126" strike="noStrike" u="none">
                <a:solidFill>
                  <a:srgbClr val="FFFFFF"/>
                </a:solidFill>
                <a:latin typeface="Open Sauce Bold"/>
                <a:ea typeface="Open Sauce Bold"/>
                <a:cs typeface="Open Sauce Bold"/>
                <a:sym typeface="Open Sauce Bold"/>
              </a:rPr>
              <a:t>Transformative Campaigns</a:t>
            </a:r>
          </a:p>
        </p:txBody>
      </p:sp>
      <p:grpSp>
        <p:nvGrpSpPr>
          <p:cNvPr name="Group 16" id="16"/>
          <p:cNvGrpSpPr/>
          <p:nvPr/>
        </p:nvGrpSpPr>
        <p:grpSpPr>
          <a:xfrm rot="0">
            <a:off x="13412994" y="5480393"/>
            <a:ext cx="3846306" cy="3777907"/>
            <a:chOff x="0" y="0"/>
            <a:chExt cx="1447760" cy="1422014"/>
          </a:xfrm>
        </p:grpSpPr>
        <p:sp>
          <p:nvSpPr>
            <p:cNvPr name="Freeform 17" id="17"/>
            <p:cNvSpPr/>
            <p:nvPr/>
          </p:nvSpPr>
          <p:spPr>
            <a:xfrm flipH="false" flipV="false" rot="0">
              <a:off x="0" y="0"/>
              <a:ext cx="1447760" cy="1422014"/>
            </a:xfrm>
            <a:custGeom>
              <a:avLst/>
              <a:gdLst/>
              <a:ahLst/>
              <a:cxnLst/>
              <a:rect r="r" b="b" t="t" l="l"/>
              <a:pathLst>
                <a:path h="1422014" w="1447760">
                  <a:moveTo>
                    <a:pt x="102654" y="0"/>
                  </a:moveTo>
                  <a:lnTo>
                    <a:pt x="1345106" y="0"/>
                  </a:lnTo>
                  <a:cubicBezTo>
                    <a:pt x="1372332" y="0"/>
                    <a:pt x="1398442" y="10815"/>
                    <a:pt x="1417693" y="30067"/>
                  </a:cubicBezTo>
                  <a:cubicBezTo>
                    <a:pt x="1436945" y="49318"/>
                    <a:pt x="1447760" y="75428"/>
                    <a:pt x="1447760" y="102654"/>
                  </a:cubicBezTo>
                  <a:lnTo>
                    <a:pt x="1447760" y="1319360"/>
                  </a:lnTo>
                  <a:cubicBezTo>
                    <a:pt x="1447760" y="1346586"/>
                    <a:pt x="1436945" y="1372696"/>
                    <a:pt x="1417693" y="1391948"/>
                  </a:cubicBezTo>
                  <a:cubicBezTo>
                    <a:pt x="1398442" y="1411199"/>
                    <a:pt x="1372332" y="1422014"/>
                    <a:pt x="1345106" y="1422014"/>
                  </a:cubicBezTo>
                  <a:lnTo>
                    <a:pt x="102654" y="1422014"/>
                  </a:lnTo>
                  <a:cubicBezTo>
                    <a:pt x="75428" y="1422014"/>
                    <a:pt x="49318" y="1411199"/>
                    <a:pt x="30067" y="1391948"/>
                  </a:cubicBezTo>
                  <a:cubicBezTo>
                    <a:pt x="10815" y="1372696"/>
                    <a:pt x="0" y="1346586"/>
                    <a:pt x="0" y="1319360"/>
                  </a:cubicBezTo>
                  <a:lnTo>
                    <a:pt x="0" y="102654"/>
                  </a:lnTo>
                  <a:cubicBezTo>
                    <a:pt x="0" y="75428"/>
                    <a:pt x="10815" y="49318"/>
                    <a:pt x="30067" y="30067"/>
                  </a:cubicBezTo>
                  <a:cubicBezTo>
                    <a:pt x="49318" y="10815"/>
                    <a:pt x="75428" y="0"/>
                    <a:pt x="102654" y="0"/>
                  </a:cubicBezTo>
                  <a:close/>
                </a:path>
              </a:pathLst>
            </a:custGeom>
            <a:gradFill rotWithShape="true">
              <a:gsLst>
                <a:gs pos="0">
                  <a:srgbClr val="9245C4">
                    <a:alpha val="100000"/>
                  </a:srgbClr>
                </a:gs>
                <a:gs pos="100000">
                  <a:srgbClr val="AD64DD">
                    <a:alpha val="100000"/>
                  </a:srgbClr>
                </a:gs>
              </a:gsLst>
              <a:lin ang="0"/>
            </a:gradFill>
            <a:ln w="19050" cap="rnd">
              <a:solidFill>
                <a:srgbClr val="FFFFFF"/>
              </a:solidFill>
              <a:prstDash val="solid"/>
              <a:round/>
            </a:ln>
          </p:spPr>
        </p:sp>
        <p:sp>
          <p:nvSpPr>
            <p:cNvPr name="TextBox 18" id="18"/>
            <p:cNvSpPr txBox="true"/>
            <p:nvPr/>
          </p:nvSpPr>
          <p:spPr>
            <a:xfrm>
              <a:off x="0" y="85725"/>
              <a:ext cx="1447760" cy="1336289"/>
            </a:xfrm>
            <a:prstGeom prst="rect">
              <a:avLst/>
            </a:prstGeom>
          </p:spPr>
          <p:txBody>
            <a:bodyPr anchor="ctr" rtlCol="false" tIns="50800" lIns="50800" bIns="50800" rIns="50800"/>
            <a:lstStyle/>
            <a:p>
              <a:pPr algn="ctr" marL="0" indent="0" lvl="0">
                <a:lnSpc>
                  <a:spcPts val="2218"/>
                </a:lnSpc>
                <a:spcBef>
                  <a:spcPct val="0"/>
                </a:spcBef>
              </a:pPr>
            </a:p>
          </p:txBody>
        </p:sp>
      </p:grpSp>
      <p:sp>
        <p:nvSpPr>
          <p:cNvPr name="TextBox 19" id="19"/>
          <p:cNvSpPr txBox="true"/>
          <p:nvPr/>
        </p:nvSpPr>
        <p:spPr>
          <a:xfrm rot="0">
            <a:off x="13869498" y="6032509"/>
            <a:ext cx="2828954" cy="1251457"/>
          </a:xfrm>
          <a:prstGeom prst="rect">
            <a:avLst/>
          </a:prstGeom>
        </p:spPr>
        <p:txBody>
          <a:bodyPr anchor="t" rtlCol="false" tIns="0" lIns="0" bIns="0" rIns="0">
            <a:spAutoFit/>
          </a:bodyPr>
          <a:lstStyle/>
          <a:p>
            <a:pPr algn="l" marL="0" indent="0" lvl="0">
              <a:lnSpc>
                <a:spcPts val="9464"/>
              </a:lnSpc>
              <a:spcBef>
                <a:spcPct val="0"/>
              </a:spcBef>
            </a:pPr>
            <a:r>
              <a:rPr lang="en-US" b="true" sz="9559" spc="-372">
                <a:solidFill>
                  <a:srgbClr val="FFFFFF"/>
                </a:solidFill>
                <a:latin typeface="Canva Sans Bold"/>
                <a:ea typeface="Canva Sans Bold"/>
                <a:cs typeface="Canva Sans Bold"/>
                <a:sym typeface="Canva Sans Bold"/>
              </a:rPr>
              <a:t>30%</a:t>
            </a:r>
          </a:p>
        </p:txBody>
      </p:sp>
      <p:sp>
        <p:nvSpPr>
          <p:cNvPr name="TextBox 20" id="20"/>
          <p:cNvSpPr txBox="true"/>
          <p:nvPr/>
        </p:nvSpPr>
        <p:spPr>
          <a:xfrm rot="0">
            <a:off x="13869498" y="7712586"/>
            <a:ext cx="2828954" cy="1100332"/>
          </a:xfrm>
          <a:prstGeom prst="rect">
            <a:avLst/>
          </a:prstGeom>
        </p:spPr>
        <p:txBody>
          <a:bodyPr anchor="t" rtlCol="false" tIns="0" lIns="0" bIns="0" rIns="0">
            <a:spAutoFit/>
          </a:bodyPr>
          <a:lstStyle/>
          <a:p>
            <a:pPr algn="l">
              <a:lnSpc>
                <a:spcPts val="2194"/>
              </a:lnSpc>
            </a:pPr>
            <a:r>
              <a:rPr lang="en-US" sz="1798" spc="-104" b="true">
                <a:solidFill>
                  <a:srgbClr val="FFFFFF"/>
                </a:solidFill>
                <a:latin typeface="Open Sauce Bold"/>
                <a:ea typeface="Open Sauce Bold"/>
                <a:cs typeface="Open Sauce Bold"/>
                <a:sym typeface="Open Sauce Bold"/>
              </a:rPr>
              <a:t>Lorem ipsum dolor sit amet, consectetur adipiscing elit. Quisque molestie nisl eu sem tristique.</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true" rot="8768940">
            <a:off x="-1315101" y="-4221648"/>
            <a:ext cx="20918202" cy="18730295"/>
          </a:xfrm>
          <a:custGeom>
            <a:avLst/>
            <a:gdLst/>
            <a:ahLst/>
            <a:cxnLst/>
            <a:rect r="r" b="b" t="t" l="l"/>
            <a:pathLst>
              <a:path h="18730295" w="20918202">
                <a:moveTo>
                  <a:pt x="15187984" y="0"/>
                </a:moveTo>
                <a:lnTo>
                  <a:pt x="0" y="10187054"/>
                </a:lnTo>
                <a:lnTo>
                  <a:pt x="5730218" y="18730296"/>
                </a:lnTo>
                <a:lnTo>
                  <a:pt x="20918202" y="8543242"/>
                </a:lnTo>
                <a:lnTo>
                  <a:pt x="15187984" y="0"/>
                </a:lnTo>
                <a:close/>
              </a:path>
            </a:pathLst>
          </a:custGeom>
          <a:blipFill>
            <a:blip r:embed="rId2"/>
            <a:stretch>
              <a:fillRect l="-2753" t="0" r="-31641" b="0"/>
            </a:stretch>
          </a:blipFill>
        </p:spPr>
      </p:sp>
      <p:grpSp>
        <p:nvGrpSpPr>
          <p:cNvPr name="Group 3" id="3"/>
          <p:cNvGrpSpPr/>
          <p:nvPr/>
        </p:nvGrpSpPr>
        <p:grpSpPr>
          <a:xfrm rot="-8457765">
            <a:off x="-301892" y="-10141615"/>
            <a:ext cx="19140231" cy="19140231"/>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lnTo>
                    <a:pt x="406400" y="0"/>
                  </a:lnTo>
                  <a:close/>
                </a:path>
              </a:pathLst>
            </a:custGeom>
            <a:gradFill rotWithShape="true">
              <a:gsLst>
                <a:gs pos="0">
                  <a:srgbClr val="FFFFFF">
                    <a:alpha val="1155"/>
                  </a:srgbClr>
                </a:gs>
                <a:gs pos="25000">
                  <a:srgbClr val="FFFFFF">
                    <a:alpha val="1650"/>
                  </a:srgbClr>
                </a:gs>
                <a:gs pos="50000">
                  <a:srgbClr val="FFFFFF">
                    <a:alpha val="1100"/>
                  </a:srgbClr>
                </a:gs>
                <a:gs pos="75000">
                  <a:srgbClr val="FFFFFF">
                    <a:alpha val="1650"/>
                  </a:srgbClr>
                </a:gs>
                <a:gs pos="100000">
                  <a:srgbClr val="FFFFFF">
                    <a:alpha val="1100"/>
                  </a:srgbClr>
                </a:gs>
              </a:gsLst>
              <a:lin ang="2700000"/>
            </a:gradFill>
            <a:ln w="19050" cap="rnd">
              <a:solidFill>
                <a:srgbClr val="FFFFFF">
                  <a:alpha val="10980"/>
                </a:srgbClr>
              </a:solidFill>
              <a:prstDash val="solid"/>
              <a:round/>
            </a:ln>
          </p:spPr>
        </p:sp>
        <p:sp>
          <p:nvSpPr>
            <p:cNvPr name="TextBox 5" id="5"/>
            <p:cNvSpPr txBox="true"/>
            <p:nvPr/>
          </p:nvSpPr>
          <p:spPr>
            <a:xfrm>
              <a:off x="76200" y="819150"/>
              <a:ext cx="660400" cy="660400"/>
            </a:xfrm>
            <a:prstGeom prst="rect">
              <a:avLst/>
            </a:prstGeom>
          </p:spPr>
          <p:txBody>
            <a:bodyPr anchor="ctr" rtlCol="false" tIns="50800" lIns="50800" bIns="50800" rIns="50800"/>
            <a:lstStyle/>
            <a:p>
              <a:pPr algn="l" marL="0" indent="0" lvl="0">
                <a:lnSpc>
                  <a:spcPts val="19673"/>
                </a:lnSpc>
                <a:spcBef>
                  <a:spcPct val="0"/>
                </a:spcBef>
              </a:pPr>
            </a:p>
          </p:txBody>
        </p:sp>
      </p:grpSp>
      <p:grpSp>
        <p:nvGrpSpPr>
          <p:cNvPr name="Group 6" id="6"/>
          <p:cNvGrpSpPr/>
          <p:nvPr/>
        </p:nvGrpSpPr>
        <p:grpSpPr>
          <a:xfrm rot="-8457765">
            <a:off x="2272193" y="-7407627"/>
            <a:ext cx="13929461" cy="13929461"/>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lnTo>
                    <a:pt x="406400" y="0"/>
                  </a:lnTo>
                  <a:close/>
                </a:path>
              </a:pathLst>
            </a:custGeom>
            <a:gradFill rotWithShape="true">
              <a:gsLst>
                <a:gs pos="0">
                  <a:srgbClr val="FFFFFF">
                    <a:alpha val="1155"/>
                  </a:srgbClr>
                </a:gs>
                <a:gs pos="25000">
                  <a:srgbClr val="FFFFFF">
                    <a:alpha val="1650"/>
                  </a:srgbClr>
                </a:gs>
                <a:gs pos="50000">
                  <a:srgbClr val="FFFFFF">
                    <a:alpha val="1100"/>
                  </a:srgbClr>
                </a:gs>
                <a:gs pos="75000">
                  <a:srgbClr val="FFFFFF">
                    <a:alpha val="1650"/>
                  </a:srgbClr>
                </a:gs>
                <a:gs pos="100000">
                  <a:srgbClr val="FFFFFF">
                    <a:alpha val="1100"/>
                  </a:srgbClr>
                </a:gs>
              </a:gsLst>
              <a:lin ang="2700000"/>
            </a:gradFill>
            <a:ln w="19050" cap="rnd">
              <a:solidFill>
                <a:srgbClr val="FFFFFF">
                  <a:alpha val="10980"/>
                </a:srgbClr>
              </a:solidFill>
              <a:prstDash val="solid"/>
              <a:round/>
            </a:ln>
          </p:spPr>
        </p:sp>
        <p:sp>
          <p:nvSpPr>
            <p:cNvPr name="TextBox 8" id="8"/>
            <p:cNvSpPr txBox="true"/>
            <p:nvPr/>
          </p:nvSpPr>
          <p:spPr>
            <a:xfrm>
              <a:off x="76200" y="161925"/>
              <a:ext cx="660400" cy="574675"/>
            </a:xfrm>
            <a:prstGeom prst="rect">
              <a:avLst/>
            </a:prstGeom>
          </p:spPr>
          <p:txBody>
            <a:bodyPr anchor="ctr" rtlCol="false" tIns="50800" lIns="50800" bIns="50800" rIns="50800"/>
            <a:lstStyle/>
            <a:p>
              <a:pPr algn="ctr" marL="0" indent="0" lvl="0">
                <a:lnSpc>
                  <a:spcPts val="2218"/>
                </a:lnSpc>
                <a:spcBef>
                  <a:spcPct val="0"/>
                </a:spcBef>
              </a:pPr>
            </a:p>
          </p:txBody>
        </p:sp>
      </p:grpSp>
      <p:grpSp>
        <p:nvGrpSpPr>
          <p:cNvPr name="Group 9" id="9"/>
          <p:cNvGrpSpPr/>
          <p:nvPr/>
        </p:nvGrpSpPr>
        <p:grpSpPr>
          <a:xfrm rot="0">
            <a:off x="6852468" y="4737665"/>
            <a:ext cx="4583063" cy="2825952"/>
            <a:chOff x="0" y="0"/>
            <a:chExt cx="710036" cy="437814"/>
          </a:xfrm>
        </p:grpSpPr>
        <p:sp>
          <p:nvSpPr>
            <p:cNvPr name="Freeform 10" id="10"/>
            <p:cNvSpPr/>
            <p:nvPr/>
          </p:nvSpPr>
          <p:spPr>
            <a:xfrm flipH="false" flipV="false" rot="0">
              <a:off x="0" y="0"/>
              <a:ext cx="710036" cy="437814"/>
            </a:xfrm>
            <a:custGeom>
              <a:avLst/>
              <a:gdLst/>
              <a:ahLst/>
              <a:cxnLst/>
              <a:rect r="r" b="b" t="t" l="l"/>
              <a:pathLst>
                <a:path h="437814" w="710036">
                  <a:moveTo>
                    <a:pt x="67570" y="0"/>
                  </a:moveTo>
                  <a:lnTo>
                    <a:pt x="642467" y="0"/>
                  </a:lnTo>
                  <a:cubicBezTo>
                    <a:pt x="660387" y="0"/>
                    <a:pt x="677574" y="7119"/>
                    <a:pt x="690246" y="19791"/>
                  </a:cubicBezTo>
                  <a:cubicBezTo>
                    <a:pt x="702918" y="32463"/>
                    <a:pt x="710036" y="49649"/>
                    <a:pt x="710036" y="67570"/>
                  </a:cubicBezTo>
                  <a:lnTo>
                    <a:pt x="710036" y="370244"/>
                  </a:lnTo>
                  <a:cubicBezTo>
                    <a:pt x="710036" y="388165"/>
                    <a:pt x="702918" y="405351"/>
                    <a:pt x="690246" y="418023"/>
                  </a:cubicBezTo>
                  <a:cubicBezTo>
                    <a:pt x="677574" y="430695"/>
                    <a:pt x="660387" y="437814"/>
                    <a:pt x="642467" y="437814"/>
                  </a:cubicBezTo>
                  <a:lnTo>
                    <a:pt x="67570" y="437814"/>
                  </a:lnTo>
                  <a:cubicBezTo>
                    <a:pt x="49649" y="437814"/>
                    <a:pt x="32463" y="430695"/>
                    <a:pt x="19791" y="418023"/>
                  </a:cubicBezTo>
                  <a:cubicBezTo>
                    <a:pt x="7119" y="405351"/>
                    <a:pt x="0" y="388165"/>
                    <a:pt x="0" y="370244"/>
                  </a:cubicBezTo>
                  <a:lnTo>
                    <a:pt x="0" y="67570"/>
                  </a:lnTo>
                  <a:cubicBezTo>
                    <a:pt x="0" y="49649"/>
                    <a:pt x="7119" y="32463"/>
                    <a:pt x="19791" y="19791"/>
                  </a:cubicBezTo>
                  <a:cubicBezTo>
                    <a:pt x="32463" y="7119"/>
                    <a:pt x="49649" y="0"/>
                    <a:pt x="67570" y="0"/>
                  </a:cubicBezTo>
                  <a:close/>
                </a:path>
              </a:pathLst>
            </a:custGeom>
            <a:blipFill>
              <a:blip r:embed="rId3"/>
              <a:stretch>
                <a:fillRect l="-521" t="-11205" r="-2397" b="0"/>
              </a:stretch>
            </a:blipFill>
            <a:ln w="19050" cap="rnd">
              <a:solidFill>
                <a:srgbClr val="FFFFFF"/>
              </a:solidFill>
              <a:prstDash val="solid"/>
              <a:round/>
            </a:ln>
          </p:spPr>
        </p:sp>
      </p:grpSp>
      <p:sp>
        <p:nvSpPr>
          <p:cNvPr name="TextBox 11" id="11"/>
          <p:cNvSpPr txBox="true"/>
          <p:nvPr/>
        </p:nvSpPr>
        <p:spPr>
          <a:xfrm rot="0">
            <a:off x="1485414" y="696555"/>
            <a:ext cx="15317172" cy="1538738"/>
          </a:xfrm>
          <a:prstGeom prst="rect">
            <a:avLst/>
          </a:prstGeom>
        </p:spPr>
        <p:txBody>
          <a:bodyPr anchor="t" rtlCol="false" tIns="0" lIns="0" bIns="0" rIns="0">
            <a:spAutoFit/>
          </a:bodyPr>
          <a:lstStyle/>
          <a:p>
            <a:pPr algn="ctr">
              <a:lnSpc>
                <a:spcPts val="12035"/>
              </a:lnSpc>
            </a:pPr>
            <a:r>
              <a:rPr lang="en-US" b="true" sz="10286" spc="-432">
                <a:solidFill>
                  <a:srgbClr val="FFFFFF"/>
                </a:solidFill>
                <a:latin typeface="Open Sauce Bold"/>
                <a:ea typeface="Open Sauce Bold"/>
                <a:cs typeface="Open Sauce Bold"/>
                <a:sym typeface="Open Sauce Bold"/>
              </a:rPr>
              <a:t>Target Market</a:t>
            </a:r>
          </a:p>
        </p:txBody>
      </p:sp>
      <p:grpSp>
        <p:nvGrpSpPr>
          <p:cNvPr name="Group 12" id="12"/>
          <p:cNvGrpSpPr/>
          <p:nvPr/>
        </p:nvGrpSpPr>
        <p:grpSpPr>
          <a:xfrm rot="0">
            <a:off x="826365" y="3047298"/>
            <a:ext cx="5492703" cy="3103344"/>
            <a:chOff x="0" y="0"/>
            <a:chExt cx="7323604" cy="4137792"/>
          </a:xfrm>
        </p:grpSpPr>
        <p:grpSp>
          <p:nvGrpSpPr>
            <p:cNvPr name="Group 13" id="13"/>
            <p:cNvGrpSpPr/>
            <p:nvPr/>
          </p:nvGrpSpPr>
          <p:grpSpPr>
            <a:xfrm rot="0">
              <a:off x="0" y="0"/>
              <a:ext cx="7323604" cy="4137792"/>
              <a:chOff x="0" y="0"/>
              <a:chExt cx="2067468" cy="1168107"/>
            </a:xfrm>
          </p:grpSpPr>
          <p:sp>
            <p:nvSpPr>
              <p:cNvPr name="Freeform 14" id="14"/>
              <p:cNvSpPr/>
              <p:nvPr/>
            </p:nvSpPr>
            <p:spPr>
              <a:xfrm flipH="false" flipV="false" rot="0">
                <a:off x="0" y="0"/>
                <a:ext cx="2067468" cy="1168107"/>
              </a:xfrm>
              <a:custGeom>
                <a:avLst/>
                <a:gdLst/>
                <a:ahLst/>
                <a:cxnLst/>
                <a:rect r="r" b="b" t="t" l="l"/>
                <a:pathLst>
                  <a:path h="1168107" w="2067468">
                    <a:moveTo>
                      <a:pt x="71884" y="0"/>
                    </a:moveTo>
                    <a:lnTo>
                      <a:pt x="1995584" y="0"/>
                    </a:lnTo>
                    <a:cubicBezTo>
                      <a:pt x="2014649" y="0"/>
                      <a:pt x="2032933" y="7573"/>
                      <a:pt x="2046414" y="21054"/>
                    </a:cubicBezTo>
                    <a:cubicBezTo>
                      <a:pt x="2059895" y="34535"/>
                      <a:pt x="2067468" y="52819"/>
                      <a:pt x="2067468" y="71884"/>
                    </a:cubicBezTo>
                    <a:lnTo>
                      <a:pt x="2067468" y="1096223"/>
                    </a:lnTo>
                    <a:cubicBezTo>
                      <a:pt x="2067468" y="1115288"/>
                      <a:pt x="2059895" y="1133572"/>
                      <a:pt x="2046414" y="1147052"/>
                    </a:cubicBezTo>
                    <a:cubicBezTo>
                      <a:pt x="2032933" y="1160533"/>
                      <a:pt x="2014649" y="1168107"/>
                      <a:pt x="1995584" y="1168107"/>
                    </a:cubicBezTo>
                    <a:lnTo>
                      <a:pt x="71884" y="1168107"/>
                    </a:lnTo>
                    <a:cubicBezTo>
                      <a:pt x="52819" y="1168107"/>
                      <a:pt x="34535" y="1160533"/>
                      <a:pt x="21054" y="1147052"/>
                    </a:cubicBezTo>
                    <a:cubicBezTo>
                      <a:pt x="7573" y="1133572"/>
                      <a:pt x="0" y="1115288"/>
                      <a:pt x="0" y="1096223"/>
                    </a:cubicBezTo>
                    <a:lnTo>
                      <a:pt x="0" y="71884"/>
                    </a:lnTo>
                    <a:cubicBezTo>
                      <a:pt x="0" y="52819"/>
                      <a:pt x="7573" y="34535"/>
                      <a:pt x="21054" y="21054"/>
                    </a:cubicBezTo>
                    <a:cubicBezTo>
                      <a:pt x="34535" y="7573"/>
                      <a:pt x="52819" y="0"/>
                      <a:pt x="71884" y="0"/>
                    </a:cubicBezTo>
                    <a:close/>
                  </a:path>
                </a:pathLst>
              </a:custGeom>
              <a:gradFill rotWithShape="true">
                <a:gsLst>
                  <a:gs pos="0">
                    <a:srgbClr val="FFFFFF">
                      <a:alpha val="100000"/>
                    </a:srgbClr>
                  </a:gs>
                  <a:gs pos="100000">
                    <a:srgbClr val="DBD8D8">
                      <a:alpha val="100000"/>
                    </a:srgbClr>
                  </a:gs>
                </a:gsLst>
                <a:lin ang="5400000"/>
              </a:gradFill>
              <a:ln w="19050" cap="rnd">
                <a:gradFill>
                  <a:gsLst>
                    <a:gs pos="0">
                      <a:srgbClr val="FFFFFF">
                        <a:alpha val="100000"/>
                      </a:srgbClr>
                    </a:gs>
                    <a:gs pos="100000">
                      <a:srgbClr val="DBD8D8">
                        <a:alpha val="100000"/>
                      </a:srgbClr>
                    </a:gs>
                  </a:gsLst>
                  <a:lin ang="5400000"/>
                </a:gradFill>
                <a:prstDash val="solid"/>
                <a:round/>
              </a:ln>
            </p:spPr>
          </p:sp>
          <p:sp>
            <p:nvSpPr>
              <p:cNvPr name="TextBox 15" id="15"/>
              <p:cNvSpPr txBox="true"/>
              <p:nvPr/>
            </p:nvSpPr>
            <p:spPr>
              <a:xfrm>
                <a:off x="0" y="85725"/>
                <a:ext cx="2067468" cy="1082382"/>
              </a:xfrm>
              <a:prstGeom prst="rect">
                <a:avLst/>
              </a:prstGeom>
            </p:spPr>
            <p:txBody>
              <a:bodyPr anchor="ctr" rtlCol="false" tIns="50800" lIns="50800" bIns="50800" rIns="50800"/>
              <a:lstStyle/>
              <a:p>
                <a:pPr algn="ctr" marL="0" indent="0" lvl="0">
                  <a:lnSpc>
                    <a:spcPts val="2218"/>
                  </a:lnSpc>
                  <a:spcBef>
                    <a:spcPct val="0"/>
                  </a:spcBef>
                </a:pPr>
              </a:p>
            </p:txBody>
          </p:sp>
        </p:grpSp>
        <p:sp>
          <p:nvSpPr>
            <p:cNvPr name="Freeform 16" id="16"/>
            <p:cNvSpPr/>
            <p:nvPr/>
          </p:nvSpPr>
          <p:spPr>
            <a:xfrm flipH="false" flipV="false" rot="0">
              <a:off x="443852" y="1073390"/>
              <a:ext cx="1868848" cy="1991012"/>
            </a:xfrm>
            <a:custGeom>
              <a:avLst/>
              <a:gdLst/>
              <a:ahLst/>
              <a:cxnLst/>
              <a:rect r="r" b="b" t="t" l="l"/>
              <a:pathLst>
                <a:path h="1991012" w="1868848">
                  <a:moveTo>
                    <a:pt x="0" y="0"/>
                  </a:moveTo>
                  <a:lnTo>
                    <a:pt x="1868848" y="0"/>
                  </a:lnTo>
                  <a:lnTo>
                    <a:pt x="1868848" y="1991012"/>
                  </a:lnTo>
                  <a:lnTo>
                    <a:pt x="0" y="199101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7" id="17"/>
            <p:cNvSpPr txBox="true"/>
            <p:nvPr/>
          </p:nvSpPr>
          <p:spPr>
            <a:xfrm rot="0">
              <a:off x="2694609" y="292119"/>
              <a:ext cx="4461177" cy="1527683"/>
            </a:xfrm>
            <a:prstGeom prst="rect">
              <a:avLst/>
            </a:prstGeom>
          </p:spPr>
          <p:txBody>
            <a:bodyPr anchor="t" rtlCol="false" tIns="0" lIns="0" bIns="0" rIns="0">
              <a:spAutoFit/>
            </a:bodyPr>
            <a:lstStyle/>
            <a:p>
              <a:pPr algn="l">
                <a:lnSpc>
                  <a:spcPts val="3041"/>
                </a:lnSpc>
              </a:pPr>
              <a:r>
                <a:rPr lang="en-US" b="true" sz="2599" spc="-109">
                  <a:solidFill>
                    <a:srgbClr val="0E0637"/>
                  </a:solidFill>
                  <a:latin typeface="Open Sauce Bold"/>
                  <a:ea typeface="Open Sauce Bold"/>
                  <a:cs typeface="Open Sauce Bold"/>
                  <a:sym typeface="Open Sauce Bold"/>
                </a:rPr>
                <a:t>Usaha Mikro, Kecil, dan Menengah (UMKM)</a:t>
              </a:r>
            </a:p>
          </p:txBody>
        </p:sp>
        <p:sp>
          <p:nvSpPr>
            <p:cNvPr name="TextBox 18" id="18"/>
            <p:cNvSpPr txBox="true"/>
            <p:nvPr/>
          </p:nvSpPr>
          <p:spPr>
            <a:xfrm rot="0">
              <a:off x="2423220" y="1905527"/>
              <a:ext cx="4732566" cy="1895644"/>
            </a:xfrm>
            <a:prstGeom prst="rect">
              <a:avLst/>
            </a:prstGeom>
          </p:spPr>
          <p:txBody>
            <a:bodyPr anchor="t" rtlCol="false" tIns="0" lIns="0" bIns="0" rIns="0">
              <a:spAutoFit/>
            </a:bodyPr>
            <a:lstStyle/>
            <a:p>
              <a:pPr algn="l" marL="302261" indent="-151130" lvl="1">
                <a:lnSpc>
                  <a:spcPts val="1904"/>
                </a:lnSpc>
                <a:buFont typeface="Arial"/>
                <a:buChar char="•"/>
              </a:pPr>
              <a:r>
                <a:rPr lang="en-US" sz="1400" spc="-32">
                  <a:solidFill>
                    <a:srgbClr val="0E0637"/>
                  </a:solidFill>
                  <a:latin typeface="Open Sauce"/>
                  <a:ea typeface="Open Sauce"/>
                  <a:cs typeface="Open Sauce"/>
                  <a:sym typeface="Open Sauce"/>
                </a:rPr>
                <a:t>Toko ritel, warung, minimarket</a:t>
              </a:r>
            </a:p>
            <a:p>
              <a:pPr algn="l" marL="302261" indent="-151130" lvl="1">
                <a:lnSpc>
                  <a:spcPts val="1904"/>
                </a:lnSpc>
                <a:buFont typeface="Arial"/>
                <a:buChar char="•"/>
              </a:pPr>
              <a:r>
                <a:rPr lang="en-US" sz="1400" spc="-32">
                  <a:solidFill>
                    <a:srgbClr val="0E0637"/>
                  </a:solidFill>
                  <a:latin typeface="Open Sauce"/>
                  <a:ea typeface="Open Sauce"/>
                  <a:cs typeface="Open Sauce"/>
                  <a:sym typeface="Open Sauce"/>
                </a:rPr>
                <a:t>Usaha kuliner (café, restoran, kedai)</a:t>
              </a:r>
            </a:p>
            <a:p>
              <a:pPr algn="l" marL="302261" indent="-151130" lvl="1">
                <a:lnSpc>
                  <a:spcPts val="1904"/>
                </a:lnSpc>
                <a:buFont typeface="Arial"/>
                <a:buChar char="•"/>
              </a:pPr>
              <a:r>
                <a:rPr lang="en-US" sz="1400" spc="-32">
                  <a:solidFill>
                    <a:srgbClr val="0E0637"/>
                  </a:solidFill>
                  <a:latin typeface="Open Sauce"/>
                  <a:ea typeface="Open Sauce"/>
                  <a:cs typeface="Open Sauce"/>
                  <a:sym typeface="Open Sauce"/>
                </a:rPr>
                <a:t>Usaha jasa dan perdagangan skala kecil–menengah</a:t>
              </a:r>
            </a:p>
            <a:p>
              <a:pPr algn="l" marL="302261" indent="-151130" lvl="1">
                <a:lnSpc>
                  <a:spcPts val="1904"/>
                </a:lnSpc>
                <a:buFont typeface="Arial"/>
                <a:buChar char="•"/>
              </a:pPr>
              <a:r>
                <a:rPr lang="en-US" sz="1400" spc="-32">
                  <a:solidFill>
                    <a:srgbClr val="0E0637"/>
                  </a:solidFill>
                  <a:latin typeface="Open Sauce"/>
                  <a:ea typeface="Open Sauce"/>
                  <a:cs typeface="Open Sauce"/>
                  <a:sym typeface="Open Sauce"/>
                </a:rPr>
                <a:t>Membutuhkan sistem POS dan inventori yang sederhana namun efektif</a:t>
              </a:r>
            </a:p>
          </p:txBody>
        </p:sp>
      </p:grpSp>
      <p:grpSp>
        <p:nvGrpSpPr>
          <p:cNvPr name="Group 19" id="19"/>
          <p:cNvGrpSpPr/>
          <p:nvPr/>
        </p:nvGrpSpPr>
        <p:grpSpPr>
          <a:xfrm rot="0">
            <a:off x="11967328" y="3163105"/>
            <a:ext cx="5492703" cy="2987536"/>
            <a:chOff x="0" y="0"/>
            <a:chExt cx="7323604" cy="3983381"/>
          </a:xfrm>
        </p:grpSpPr>
        <p:grpSp>
          <p:nvGrpSpPr>
            <p:cNvPr name="Group 20" id="20"/>
            <p:cNvGrpSpPr/>
            <p:nvPr/>
          </p:nvGrpSpPr>
          <p:grpSpPr>
            <a:xfrm rot="0">
              <a:off x="0" y="0"/>
              <a:ext cx="7323604" cy="3863986"/>
              <a:chOff x="0" y="0"/>
              <a:chExt cx="2067468" cy="1090811"/>
            </a:xfrm>
          </p:grpSpPr>
          <p:sp>
            <p:nvSpPr>
              <p:cNvPr name="Freeform 21" id="21"/>
              <p:cNvSpPr/>
              <p:nvPr/>
            </p:nvSpPr>
            <p:spPr>
              <a:xfrm flipH="false" flipV="false" rot="0">
                <a:off x="0" y="0"/>
                <a:ext cx="2067468" cy="1090811"/>
              </a:xfrm>
              <a:custGeom>
                <a:avLst/>
                <a:gdLst/>
                <a:ahLst/>
                <a:cxnLst/>
                <a:rect r="r" b="b" t="t" l="l"/>
                <a:pathLst>
                  <a:path h="1090811" w="2067468">
                    <a:moveTo>
                      <a:pt x="71884" y="0"/>
                    </a:moveTo>
                    <a:lnTo>
                      <a:pt x="1995584" y="0"/>
                    </a:lnTo>
                    <a:cubicBezTo>
                      <a:pt x="2014649" y="0"/>
                      <a:pt x="2032933" y="7573"/>
                      <a:pt x="2046414" y="21054"/>
                    </a:cubicBezTo>
                    <a:cubicBezTo>
                      <a:pt x="2059895" y="34535"/>
                      <a:pt x="2067468" y="52819"/>
                      <a:pt x="2067468" y="71884"/>
                    </a:cubicBezTo>
                    <a:lnTo>
                      <a:pt x="2067468" y="1018927"/>
                    </a:lnTo>
                    <a:cubicBezTo>
                      <a:pt x="2067468" y="1037992"/>
                      <a:pt x="2059895" y="1056276"/>
                      <a:pt x="2046414" y="1069757"/>
                    </a:cubicBezTo>
                    <a:cubicBezTo>
                      <a:pt x="2032933" y="1083237"/>
                      <a:pt x="2014649" y="1090811"/>
                      <a:pt x="1995584" y="1090811"/>
                    </a:cubicBezTo>
                    <a:lnTo>
                      <a:pt x="71884" y="1090811"/>
                    </a:lnTo>
                    <a:cubicBezTo>
                      <a:pt x="52819" y="1090811"/>
                      <a:pt x="34535" y="1083237"/>
                      <a:pt x="21054" y="1069757"/>
                    </a:cubicBezTo>
                    <a:cubicBezTo>
                      <a:pt x="7573" y="1056276"/>
                      <a:pt x="0" y="1037992"/>
                      <a:pt x="0" y="1018927"/>
                    </a:cubicBezTo>
                    <a:lnTo>
                      <a:pt x="0" y="71884"/>
                    </a:lnTo>
                    <a:cubicBezTo>
                      <a:pt x="0" y="52819"/>
                      <a:pt x="7573" y="34535"/>
                      <a:pt x="21054" y="21054"/>
                    </a:cubicBezTo>
                    <a:cubicBezTo>
                      <a:pt x="34535" y="7573"/>
                      <a:pt x="52819" y="0"/>
                      <a:pt x="71884" y="0"/>
                    </a:cubicBezTo>
                    <a:close/>
                  </a:path>
                </a:pathLst>
              </a:custGeom>
              <a:gradFill rotWithShape="true">
                <a:gsLst>
                  <a:gs pos="0">
                    <a:srgbClr val="9245C4">
                      <a:alpha val="100000"/>
                    </a:srgbClr>
                  </a:gs>
                  <a:gs pos="100000">
                    <a:srgbClr val="AD64DD">
                      <a:alpha val="100000"/>
                    </a:srgbClr>
                  </a:gs>
                </a:gsLst>
                <a:lin ang="0"/>
              </a:gradFill>
              <a:ln w="19050" cap="rnd">
                <a:solidFill>
                  <a:srgbClr val="FFFFFF"/>
                </a:solidFill>
                <a:prstDash val="solid"/>
                <a:round/>
              </a:ln>
            </p:spPr>
          </p:sp>
          <p:sp>
            <p:nvSpPr>
              <p:cNvPr name="TextBox 22" id="22"/>
              <p:cNvSpPr txBox="true"/>
              <p:nvPr/>
            </p:nvSpPr>
            <p:spPr>
              <a:xfrm>
                <a:off x="0" y="85725"/>
                <a:ext cx="2067468" cy="1005086"/>
              </a:xfrm>
              <a:prstGeom prst="rect">
                <a:avLst/>
              </a:prstGeom>
            </p:spPr>
            <p:txBody>
              <a:bodyPr anchor="ctr" rtlCol="false" tIns="50800" lIns="50800" bIns="50800" rIns="50800"/>
              <a:lstStyle/>
              <a:p>
                <a:pPr algn="ctr" marL="0" indent="0" lvl="0">
                  <a:lnSpc>
                    <a:spcPts val="2218"/>
                  </a:lnSpc>
                  <a:spcBef>
                    <a:spcPct val="0"/>
                  </a:spcBef>
                </a:pPr>
              </a:p>
            </p:txBody>
          </p:sp>
        </p:grpSp>
        <p:sp>
          <p:nvSpPr>
            <p:cNvPr name="Freeform 23" id="23"/>
            <p:cNvSpPr/>
            <p:nvPr/>
          </p:nvSpPr>
          <p:spPr>
            <a:xfrm flipH="false" flipV="false" rot="0">
              <a:off x="608162" y="928944"/>
              <a:ext cx="1976919" cy="2006098"/>
            </a:xfrm>
            <a:custGeom>
              <a:avLst/>
              <a:gdLst/>
              <a:ahLst/>
              <a:cxnLst/>
              <a:rect r="r" b="b" t="t" l="l"/>
              <a:pathLst>
                <a:path h="2006098" w="1976919">
                  <a:moveTo>
                    <a:pt x="0" y="0"/>
                  </a:moveTo>
                  <a:lnTo>
                    <a:pt x="1976918" y="0"/>
                  </a:lnTo>
                  <a:lnTo>
                    <a:pt x="1976918" y="2006098"/>
                  </a:lnTo>
                  <a:lnTo>
                    <a:pt x="0" y="200609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24" id="24"/>
            <p:cNvSpPr txBox="true"/>
            <p:nvPr/>
          </p:nvSpPr>
          <p:spPr>
            <a:xfrm rot="0">
              <a:off x="2992522" y="115106"/>
              <a:ext cx="4280282" cy="1527683"/>
            </a:xfrm>
            <a:prstGeom prst="rect">
              <a:avLst/>
            </a:prstGeom>
          </p:spPr>
          <p:txBody>
            <a:bodyPr anchor="t" rtlCol="false" tIns="0" lIns="0" bIns="0" rIns="0">
              <a:spAutoFit/>
            </a:bodyPr>
            <a:lstStyle/>
            <a:p>
              <a:pPr algn="l">
                <a:lnSpc>
                  <a:spcPts val="3041"/>
                </a:lnSpc>
              </a:pPr>
              <a:r>
                <a:rPr lang="en-US" b="true" sz="2599" spc="-109">
                  <a:solidFill>
                    <a:srgbClr val="FFFFFF"/>
                  </a:solidFill>
                  <a:latin typeface="Open Sauce Bold"/>
                  <a:ea typeface="Open Sauce Bold"/>
                  <a:cs typeface="Open Sauce Bold"/>
                  <a:sym typeface="Open Sauce Bold"/>
                </a:rPr>
                <a:t>Pemilik Usaha yang Membutuhkan Sistem Custom</a:t>
              </a:r>
            </a:p>
          </p:txBody>
        </p:sp>
        <p:sp>
          <p:nvSpPr>
            <p:cNvPr name="TextBox 25" id="25"/>
            <p:cNvSpPr txBox="true"/>
            <p:nvPr/>
          </p:nvSpPr>
          <p:spPr>
            <a:xfrm rot="0">
              <a:off x="2585080" y="1770237"/>
              <a:ext cx="4492655" cy="2213144"/>
            </a:xfrm>
            <a:prstGeom prst="rect">
              <a:avLst/>
            </a:prstGeom>
          </p:spPr>
          <p:txBody>
            <a:bodyPr anchor="t" rtlCol="false" tIns="0" lIns="0" bIns="0" rIns="0">
              <a:spAutoFit/>
            </a:bodyPr>
            <a:lstStyle/>
            <a:p>
              <a:pPr algn="l" marL="302261" indent="-151130" lvl="1">
                <a:lnSpc>
                  <a:spcPts val="1904"/>
                </a:lnSpc>
                <a:buFont typeface="Arial"/>
                <a:buChar char="•"/>
              </a:pPr>
              <a:r>
                <a:rPr lang="en-US" sz="1400" spc="-32">
                  <a:solidFill>
                    <a:srgbClr val="FFFFFF"/>
                  </a:solidFill>
                  <a:latin typeface="Open Sauce Light"/>
                  <a:ea typeface="Open Sauce Light"/>
                  <a:cs typeface="Open Sauce Light"/>
                  <a:sym typeface="Open Sauce Light"/>
                </a:rPr>
                <a:t>Memiliki kebutuhan bisnis yang spesifik</a:t>
              </a:r>
            </a:p>
            <a:p>
              <a:pPr algn="l" marL="302261" indent="-151130" lvl="1">
                <a:lnSpc>
                  <a:spcPts val="1904"/>
                </a:lnSpc>
                <a:buFont typeface="Arial"/>
                <a:buChar char="•"/>
              </a:pPr>
              <a:r>
                <a:rPr lang="en-US" sz="1400" spc="-32">
                  <a:solidFill>
                    <a:srgbClr val="FFFFFF"/>
                  </a:solidFill>
                  <a:latin typeface="Open Sauce Light"/>
                  <a:ea typeface="Open Sauce Light"/>
                  <a:cs typeface="Open Sauce Light"/>
                  <a:sym typeface="Open Sauce Light"/>
                </a:rPr>
                <a:t>Membutuhkan fitur yang dapat disesuaikan (custom) sesuai alur bisnis</a:t>
              </a:r>
            </a:p>
            <a:p>
              <a:pPr algn="l" marL="302261" indent="-151130" lvl="1">
                <a:lnSpc>
                  <a:spcPts val="1904"/>
                </a:lnSpc>
                <a:buFont typeface="Arial"/>
                <a:buChar char="•"/>
              </a:pPr>
              <a:r>
                <a:rPr lang="en-US" sz="1400" spc="-32">
                  <a:solidFill>
                    <a:srgbClr val="FFFFFF"/>
                  </a:solidFill>
                  <a:latin typeface="Open Sauce Light"/>
                  <a:ea typeface="Open Sauce Light"/>
                  <a:cs typeface="Open Sauce Light"/>
                  <a:sym typeface="Open Sauce Light"/>
                </a:rPr>
                <a:t>Tidak cocok dengan aplikasi POS siap pakai di pasaran</a:t>
              </a:r>
            </a:p>
            <a:p>
              <a:pPr algn="l">
                <a:lnSpc>
                  <a:spcPts val="1904"/>
                </a:lnSpc>
              </a:pPr>
            </a:p>
          </p:txBody>
        </p:sp>
      </p:grpSp>
      <p:grpSp>
        <p:nvGrpSpPr>
          <p:cNvPr name="Group 26" id="26"/>
          <p:cNvGrpSpPr/>
          <p:nvPr/>
        </p:nvGrpSpPr>
        <p:grpSpPr>
          <a:xfrm rot="0">
            <a:off x="11968932" y="6550691"/>
            <a:ext cx="5491099" cy="2610348"/>
            <a:chOff x="0" y="0"/>
            <a:chExt cx="7321466" cy="3480465"/>
          </a:xfrm>
        </p:grpSpPr>
        <p:grpSp>
          <p:nvGrpSpPr>
            <p:cNvPr name="Group 27" id="27"/>
            <p:cNvGrpSpPr/>
            <p:nvPr/>
          </p:nvGrpSpPr>
          <p:grpSpPr>
            <a:xfrm rot="0">
              <a:off x="0" y="0"/>
              <a:ext cx="7321466" cy="3480465"/>
              <a:chOff x="0" y="0"/>
              <a:chExt cx="2066864" cy="982542"/>
            </a:xfrm>
          </p:grpSpPr>
          <p:sp>
            <p:nvSpPr>
              <p:cNvPr name="Freeform 28" id="28"/>
              <p:cNvSpPr/>
              <p:nvPr/>
            </p:nvSpPr>
            <p:spPr>
              <a:xfrm flipH="false" flipV="false" rot="0">
                <a:off x="0" y="0"/>
                <a:ext cx="2066864" cy="982542"/>
              </a:xfrm>
              <a:custGeom>
                <a:avLst/>
                <a:gdLst/>
                <a:ahLst/>
                <a:cxnLst/>
                <a:rect r="r" b="b" t="t" l="l"/>
                <a:pathLst>
                  <a:path h="982542" w="2066864">
                    <a:moveTo>
                      <a:pt x="71905" y="0"/>
                    </a:moveTo>
                    <a:lnTo>
                      <a:pt x="1994959" y="0"/>
                    </a:lnTo>
                    <a:cubicBezTo>
                      <a:pt x="2014030" y="0"/>
                      <a:pt x="2032319" y="7576"/>
                      <a:pt x="2045804" y="21061"/>
                    </a:cubicBezTo>
                    <a:cubicBezTo>
                      <a:pt x="2059289" y="34545"/>
                      <a:pt x="2066864" y="52835"/>
                      <a:pt x="2066864" y="71905"/>
                    </a:cubicBezTo>
                    <a:lnTo>
                      <a:pt x="2066864" y="910637"/>
                    </a:lnTo>
                    <a:cubicBezTo>
                      <a:pt x="2066864" y="950349"/>
                      <a:pt x="2034671" y="982542"/>
                      <a:pt x="1994959" y="982542"/>
                    </a:cubicBezTo>
                    <a:lnTo>
                      <a:pt x="71905" y="982542"/>
                    </a:lnTo>
                    <a:cubicBezTo>
                      <a:pt x="52835" y="982542"/>
                      <a:pt x="34545" y="974966"/>
                      <a:pt x="21061" y="961482"/>
                    </a:cubicBezTo>
                    <a:cubicBezTo>
                      <a:pt x="7576" y="947997"/>
                      <a:pt x="0" y="929707"/>
                      <a:pt x="0" y="910637"/>
                    </a:cubicBezTo>
                    <a:lnTo>
                      <a:pt x="0" y="71905"/>
                    </a:lnTo>
                    <a:cubicBezTo>
                      <a:pt x="0" y="52835"/>
                      <a:pt x="7576" y="34545"/>
                      <a:pt x="21061" y="21061"/>
                    </a:cubicBezTo>
                    <a:cubicBezTo>
                      <a:pt x="34545" y="7576"/>
                      <a:pt x="52835" y="0"/>
                      <a:pt x="71905" y="0"/>
                    </a:cubicBezTo>
                    <a:close/>
                  </a:path>
                </a:pathLst>
              </a:custGeom>
              <a:gradFill rotWithShape="true">
                <a:gsLst>
                  <a:gs pos="0">
                    <a:srgbClr val="FFFFFF">
                      <a:alpha val="10500"/>
                    </a:srgbClr>
                  </a:gs>
                  <a:gs pos="25000">
                    <a:srgbClr val="FFFFFF">
                      <a:alpha val="15000"/>
                    </a:srgbClr>
                  </a:gs>
                  <a:gs pos="50000">
                    <a:srgbClr val="FFFFFF">
                      <a:alpha val="10000"/>
                    </a:srgbClr>
                  </a:gs>
                  <a:gs pos="75000">
                    <a:srgbClr val="FFFFFF">
                      <a:alpha val="15000"/>
                    </a:srgbClr>
                  </a:gs>
                  <a:gs pos="100000">
                    <a:srgbClr val="FFFFFF">
                      <a:alpha val="10000"/>
                    </a:srgbClr>
                  </a:gs>
                </a:gsLst>
                <a:lin ang="2700000"/>
              </a:gradFill>
              <a:ln w="19050" cap="rnd">
                <a:solidFill>
                  <a:srgbClr val="FFFFFF"/>
                </a:solidFill>
                <a:prstDash val="solid"/>
                <a:round/>
              </a:ln>
            </p:spPr>
          </p:sp>
          <p:sp>
            <p:nvSpPr>
              <p:cNvPr name="TextBox 29" id="29"/>
              <p:cNvSpPr txBox="true"/>
              <p:nvPr/>
            </p:nvSpPr>
            <p:spPr>
              <a:xfrm>
                <a:off x="0" y="85725"/>
                <a:ext cx="2066864" cy="896817"/>
              </a:xfrm>
              <a:prstGeom prst="rect">
                <a:avLst/>
              </a:prstGeom>
            </p:spPr>
            <p:txBody>
              <a:bodyPr anchor="ctr" rtlCol="false" tIns="50800" lIns="50800" bIns="50800" rIns="50800"/>
              <a:lstStyle/>
              <a:p>
                <a:pPr algn="ctr" marL="0" indent="0" lvl="0">
                  <a:lnSpc>
                    <a:spcPts val="2218"/>
                  </a:lnSpc>
                  <a:spcBef>
                    <a:spcPct val="0"/>
                  </a:spcBef>
                </a:pPr>
              </a:p>
            </p:txBody>
          </p:sp>
        </p:grpSp>
        <p:sp>
          <p:nvSpPr>
            <p:cNvPr name="Freeform 30" id="30"/>
            <p:cNvSpPr/>
            <p:nvPr/>
          </p:nvSpPr>
          <p:spPr>
            <a:xfrm flipH="false" flipV="false" rot="0">
              <a:off x="268941" y="953828"/>
              <a:ext cx="1918060" cy="1572809"/>
            </a:xfrm>
            <a:custGeom>
              <a:avLst/>
              <a:gdLst/>
              <a:ahLst/>
              <a:cxnLst/>
              <a:rect r="r" b="b" t="t" l="l"/>
              <a:pathLst>
                <a:path h="1572809" w="1918060">
                  <a:moveTo>
                    <a:pt x="0" y="0"/>
                  </a:moveTo>
                  <a:lnTo>
                    <a:pt x="1918060" y="0"/>
                  </a:lnTo>
                  <a:lnTo>
                    <a:pt x="1918060" y="1572809"/>
                  </a:lnTo>
                  <a:lnTo>
                    <a:pt x="0" y="1572809"/>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31" id="31"/>
            <p:cNvSpPr txBox="true"/>
            <p:nvPr/>
          </p:nvSpPr>
          <p:spPr>
            <a:xfrm rot="0">
              <a:off x="2435771" y="211030"/>
              <a:ext cx="4058246" cy="1019683"/>
            </a:xfrm>
            <a:prstGeom prst="rect">
              <a:avLst/>
            </a:prstGeom>
          </p:spPr>
          <p:txBody>
            <a:bodyPr anchor="t" rtlCol="false" tIns="0" lIns="0" bIns="0" rIns="0">
              <a:spAutoFit/>
            </a:bodyPr>
            <a:lstStyle/>
            <a:p>
              <a:pPr algn="l">
                <a:lnSpc>
                  <a:spcPts val="3041"/>
                </a:lnSpc>
              </a:pPr>
              <a:r>
                <a:rPr lang="en-US" b="true" sz="2599" spc="-109">
                  <a:solidFill>
                    <a:srgbClr val="FFFFFF"/>
                  </a:solidFill>
                  <a:latin typeface="Open Sauce Bold"/>
                  <a:ea typeface="Open Sauce Bold"/>
                  <a:cs typeface="Open Sauce Bold"/>
                  <a:sym typeface="Open Sauce Bold"/>
                </a:rPr>
                <a:t>Perusahaan Kecil hingga Menengah</a:t>
              </a:r>
            </a:p>
          </p:txBody>
        </p:sp>
        <p:sp>
          <p:nvSpPr>
            <p:cNvPr name="TextBox 32" id="32"/>
            <p:cNvSpPr txBox="true"/>
            <p:nvPr/>
          </p:nvSpPr>
          <p:spPr>
            <a:xfrm rot="0">
              <a:off x="1836113" y="1294254"/>
              <a:ext cx="5217712" cy="1895644"/>
            </a:xfrm>
            <a:prstGeom prst="rect">
              <a:avLst/>
            </a:prstGeom>
          </p:spPr>
          <p:txBody>
            <a:bodyPr anchor="t" rtlCol="false" tIns="0" lIns="0" bIns="0" rIns="0">
              <a:spAutoFit/>
            </a:bodyPr>
            <a:lstStyle/>
            <a:p>
              <a:pPr algn="l" marL="604521" indent="-201507" lvl="2">
                <a:lnSpc>
                  <a:spcPts val="1904"/>
                </a:lnSpc>
                <a:buFont typeface="Arial"/>
                <a:buChar char="⚬"/>
              </a:pPr>
              <a:r>
                <a:rPr lang="en-US" sz="1400" spc="-32">
                  <a:solidFill>
                    <a:srgbClr val="FFFFFF"/>
                  </a:solidFill>
                  <a:latin typeface="Open Sauce Light"/>
                  <a:ea typeface="Open Sauce Light"/>
                  <a:cs typeface="Open Sauce Light"/>
                  <a:sym typeface="Open Sauce Light"/>
                </a:rPr>
                <a:t>Membutuhkan pengelolaan penjualan dan stok yang terintegrasi</a:t>
              </a:r>
            </a:p>
            <a:p>
              <a:pPr algn="l" marL="604521" indent="-201507" lvl="2">
                <a:lnSpc>
                  <a:spcPts val="1904"/>
                </a:lnSpc>
                <a:buFont typeface="Arial"/>
                <a:buChar char="⚬"/>
              </a:pPr>
              <a:r>
                <a:rPr lang="en-US" sz="1400" spc="-32">
                  <a:solidFill>
                    <a:srgbClr val="FFFFFF"/>
                  </a:solidFill>
                  <a:latin typeface="Open Sauce Light"/>
                  <a:ea typeface="Open Sauce Light"/>
                  <a:cs typeface="Open Sauce Light"/>
                  <a:sym typeface="Open Sauce Light"/>
                </a:rPr>
                <a:t>Membutuhkan laporan penjualan dan inventori secara real-time</a:t>
              </a:r>
            </a:p>
            <a:p>
              <a:pPr algn="l" marL="604521" indent="-201507" lvl="2">
                <a:lnSpc>
                  <a:spcPts val="1904"/>
                </a:lnSpc>
                <a:buFont typeface="Arial"/>
                <a:buChar char="⚬"/>
              </a:pPr>
              <a:r>
                <a:rPr lang="en-US" sz="1400" spc="-32">
                  <a:solidFill>
                    <a:srgbClr val="FFFFFF"/>
                  </a:solidFill>
                  <a:latin typeface="Open Sauce Light"/>
                  <a:ea typeface="Open Sauce Light"/>
                  <a:cs typeface="Open Sauce Light"/>
                  <a:sym typeface="Open Sauce Light"/>
                </a:rPr>
                <a:t>Menginginkan sistem yang dapat diakses melalui browser tanpa instalasi rumit</a:t>
              </a:r>
            </a:p>
          </p:txBody>
        </p:sp>
      </p:grpSp>
      <p:grpSp>
        <p:nvGrpSpPr>
          <p:cNvPr name="Group 33" id="33"/>
          <p:cNvGrpSpPr/>
          <p:nvPr/>
        </p:nvGrpSpPr>
        <p:grpSpPr>
          <a:xfrm rot="0">
            <a:off x="794676" y="6550691"/>
            <a:ext cx="5524392" cy="2897989"/>
            <a:chOff x="0" y="0"/>
            <a:chExt cx="7365857" cy="3863986"/>
          </a:xfrm>
        </p:grpSpPr>
        <p:grpSp>
          <p:nvGrpSpPr>
            <p:cNvPr name="Group 34" id="34"/>
            <p:cNvGrpSpPr/>
            <p:nvPr/>
          </p:nvGrpSpPr>
          <p:grpSpPr>
            <a:xfrm rot="0">
              <a:off x="0" y="0"/>
              <a:ext cx="7323604" cy="3863986"/>
              <a:chOff x="0" y="0"/>
              <a:chExt cx="2067468" cy="1090811"/>
            </a:xfrm>
          </p:grpSpPr>
          <p:sp>
            <p:nvSpPr>
              <p:cNvPr name="Freeform 35" id="35"/>
              <p:cNvSpPr/>
              <p:nvPr/>
            </p:nvSpPr>
            <p:spPr>
              <a:xfrm flipH="false" flipV="false" rot="0">
                <a:off x="0" y="0"/>
                <a:ext cx="2067468" cy="1090811"/>
              </a:xfrm>
              <a:custGeom>
                <a:avLst/>
                <a:gdLst/>
                <a:ahLst/>
                <a:cxnLst/>
                <a:rect r="r" b="b" t="t" l="l"/>
                <a:pathLst>
                  <a:path h="1090811" w="2067468">
                    <a:moveTo>
                      <a:pt x="71884" y="0"/>
                    </a:moveTo>
                    <a:lnTo>
                      <a:pt x="1995584" y="0"/>
                    </a:lnTo>
                    <a:cubicBezTo>
                      <a:pt x="2014649" y="0"/>
                      <a:pt x="2032933" y="7573"/>
                      <a:pt x="2046414" y="21054"/>
                    </a:cubicBezTo>
                    <a:cubicBezTo>
                      <a:pt x="2059895" y="34535"/>
                      <a:pt x="2067468" y="52819"/>
                      <a:pt x="2067468" y="71884"/>
                    </a:cubicBezTo>
                    <a:lnTo>
                      <a:pt x="2067468" y="1018927"/>
                    </a:lnTo>
                    <a:cubicBezTo>
                      <a:pt x="2067468" y="1037992"/>
                      <a:pt x="2059895" y="1056276"/>
                      <a:pt x="2046414" y="1069757"/>
                    </a:cubicBezTo>
                    <a:cubicBezTo>
                      <a:pt x="2032933" y="1083237"/>
                      <a:pt x="2014649" y="1090811"/>
                      <a:pt x="1995584" y="1090811"/>
                    </a:cubicBezTo>
                    <a:lnTo>
                      <a:pt x="71884" y="1090811"/>
                    </a:lnTo>
                    <a:cubicBezTo>
                      <a:pt x="52819" y="1090811"/>
                      <a:pt x="34535" y="1083237"/>
                      <a:pt x="21054" y="1069757"/>
                    </a:cubicBezTo>
                    <a:cubicBezTo>
                      <a:pt x="7573" y="1056276"/>
                      <a:pt x="0" y="1037992"/>
                      <a:pt x="0" y="1018927"/>
                    </a:cubicBezTo>
                    <a:lnTo>
                      <a:pt x="0" y="71884"/>
                    </a:lnTo>
                    <a:cubicBezTo>
                      <a:pt x="0" y="52819"/>
                      <a:pt x="7573" y="34535"/>
                      <a:pt x="21054" y="21054"/>
                    </a:cubicBezTo>
                    <a:cubicBezTo>
                      <a:pt x="34535" y="7573"/>
                      <a:pt x="52819" y="0"/>
                      <a:pt x="71884" y="0"/>
                    </a:cubicBezTo>
                    <a:close/>
                  </a:path>
                </a:pathLst>
              </a:custGeom>
              <a:gradFill rotWithShape="true">
                <a:gsLst>
                  <a:gs pos="0">
                    <a:srgbClr val="F5B4FF">
                      <a:alpha val="100000"/>
                    </a:srgbClr>
                  </a:gs>
                  <a:gs pos="100000">
                    <a:srgbClr val="E393EF">
                      <a:alpha val="100000"/>
                    </a:srgbClr>
                  </a:gs>
                </a:gsLst>
                <a:lin ang="0"/>
              </a:gradFill>
              <a:ln w="19050" cap="rnd">
                <a:solidFill>
                  <a:srgbClr val="FFFFFF"/>
                </a:solidFill>
                <a:prstDash val="solid"/>
                <a:round/>
              </a:ln>
            </p:spPr>
          </p:sp>
          <p:sp>
            <p:nvSpPr>
              <p:cNvPr name="TextBox 36" id="36"/>
              <p:cNvSpPr txBox="true"/>
              <p:nvPr/>
            </p:nvSpPr>
            <p:spPr>
              <a:xfrm>
                <a:off x="0" y="85725"/>
                <a:ext cx="2067468" cy="1005086"/>
              </a:xfrm>
              <a:prstGeom prst="rect">
                <a:avLst/>
              </a:prstGeom>
            </p:spPr>
            <p:txBody>
              <a:bodyPr anchor="ctr" rtlCol="false" tIns="50800" lIns="50800" bIns="50800" rIns="50800"/>
              <a:lstStyle/>
              <a:p>
                <a:pPr algn="ctr" marL="0" indent="0" lvl="0">
                  <a:lnSpc>
                    <a:spcPts val="2218"/>
                  </a:lnSpc>
                  <a:spcBef>
                    <a:spcPct val="0"/>
                  </a:spcBef>
                </a:pPr>
              </a:p>
            </p:txBody>
          </p:sp>
        </p:grpSp>
        <p:sp>
          <p:nvSpPr>
            <p:cNvPr name="Freeform 37" id="37"/>
            <p:cNvSpPr/>
            <p:nvPr/>
          </p:nvSpPr>
          <p:spPr>
            <a:xfrm flipH="false" flipV="false" rot="0">
              <a:off x="516272" y="1352224"/>
              <a:ext cx="1868848" cy="1556234"/>
            </a:xfrm>
            <a:custGeom>
              <a:avLst/>
              <a:gdLst/>
              <a:ahLst/>
              <a:cxnLst/>
              <a:rect r="r" b="b" t="t" l="l"/>
              <a:pathLst>
                <a:path h="1556234" w="1868848">
                  <a:moveTo>
                    <a:pt x="0" y="0"/>
                  </a:moveTo>
                  <a:lnTo>
                    <a:pt x="1868848" y="0"/>
                  </a:lnTo>
                  <a:lnTo>
                    <a:pt x="1868848" y="1556235"/>
                  </a:lnTo>
                  <a:lnTo>
                    <a:pt x="0" y="1556235"/>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38" id="38"/>
            <p:cNvSpPr txBox="true"/>
            <p:nvPr/>
          </p:nvSpPr>
          <p:spPr>
            <a:xfrm rot="0">
              <a:off x="2692307" y="173621"/>
              <a:ext cx="4673549" cy="1527683"/>
            </a:xfrm>
            <a:prstGeom prst="rect">
              <a:avLst/>
            </a:prstGeom>
          </p:spPr>
          <p:txBody>
            <a:bodyPr anchor="t" rtlCol="false" tIns="0" lIns="0" bIns="0" rIns="0">
              <a:spAutoFit/>
            </a:bodyPr>
            <a:lstStyle/>
            <a:p>
              <a:pPr algn="l">
                <a:lnSpc>
                  <a:spcPts val="3041"/>
                </a:lnSpc>
              </a:pPr>
              <a:r>
                <a:rPr lang="en-US" b="true" sz="2599" spc="-109">
                  <a:solidFill>
                    <a:srgbClr val="0E0637"/>
                  </a:solidFill>
                  <a:latin typeface="Open Sauce Bold"/>
                  <a:ea typeface="Open Sauce Bold"/>
                  <a:cs typeface="Open Sauce Bold"/>
                  <a:sym typeface="Open Sauce Bold"/>
                </a:rPr>
                <a:t>Pemilik Bisnis yang Belum Menggunakan Sistem Digital</a:t>
              </a:r>
            </a:p>
          </p:txBody>
        </p:sp>
        <p:sp>
          <p:nvSpPr>
            <p:cNvPr name="TextBox 39" id="39"/>
            <p:cNvSpPr txBox="true"/>
            <p:nvPr/>
          </p:nvSpPr>
          <p:spPr>
            <a:xfrm rot="0">
              <a:off x="2423220" y="1772646"/>
              <a:ext cx="4428162" cy="1895644"/>
            </a:xfrm>
            <a:prstGeom prst="rect">
              <a:avLst/>
            </a:prstGeom>
          </p:spPr>
          <p:txBody>
            <a:bodyPr anchor="t" rtlCol="false" tIns="0" lIns="0" bIns="0" rIns="0">
              <a:spAutoFit/>
            </a:bodyPr>
            <a:lstStyle/>
            <a:p>
              <a:pPr algn="l" marL="302261" indent="-151130" lvl="1">
                <a:lnSpc>
                  <a:spcPts val="1904"/>
                </a:lnSpc>
                <a:buFont typeface="Arial"/>
                <a:buChar char="•"/>
              </a:pPr>
              <a:r>
                <a:rPr lang="en-US" sz="1400" spc="-32">
                  <a:solidFill>
                    <a:srgbClr val="0E0637"/>
                  </a:solidFill>
                  <a:latin typeface="Open Sauce Light"/>
                  <a:ea typeface="Open Sauce Light"/>
                  <a:cs typeface="Open Sauce Light"/>
                  <a:sym typeface="Open Sauce Light"/>
                </a:rPr>
                <a:t>Masih melakukan pencatatan manual atau semi-manual</a:t>
              </a:r>
            </a:p>
            <a:p>
              <a:pPr algn="l" marL="302261" indent="-151130" lvl="1">
                <a:lnSpc>
                  <a:spcPts val="1904"/>
                </a:lnSpc>
                <a:buFont typeface="Arial"/>
                <a:buChar char="•"/>
              </a:pPr>
              <a:r>
                <a:rPr lang="en-US" sz="1400" spc="-32">
                  <a:solidFill>
                    <a:srgbClr val="0E0637"/>
                  </a:solidFill>
                  <a:latin typeface="Open Sauce Light"/>
                  <a:ea typeface="Open Sauce Light"/>
                  <a:cs typeface="Open Sauce Light"/>
                  <a:sym typeface="Open Sauce Light"/>
                </a:rPr>
                <a:t>Ingin beralih ke sistem terkomputerisasi berbasis website</a:t>
              </a:r>
            </a:p>
            <a:p>
              <a:pPr algn="l" marL="302261" indent="-151130" lvl="1">
                <a:lnSpc>
                  <a:spcPts val="1904"/>
                </a:lnSpc>
                <a:buFont typeface="Arial"/>
                <a:buChar char="•"/>
              </a:pPr>
              <a:r>
                <a:rPr lang="en-US" sz="1400" spc="-32">
                  <a:solidFill>
                    <a:srgbClr val="0E0637"/>
                  </a:solidFill>
                  <a:latin typeface="Open Sauce Light"/>
                  <a:ea typeface="Open Sauce Light"/>
                  <a:cs typeface="Open Sauce Light"/>
                  <a:sym typeface="Open Sauce Light"/>
                </a:rPr>
                <a:t>Membutuhkan solusi yang mudah dipahami dan digunakan</a:t>
              </a:r>
            </a:p>
          </p:txBody>
        </p:sp>
      </p:gr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false" rot="8463395">
            <a:off x="-1200863" y="-4604429"/>
            <a:ext cx="20689726" cy="19495858"/>
          </a:xfrm>
          <a:custGeom>
            <a:avLst/>
            <a:gdLst/>
            <a:ahLst/>
            <a:cxnLst/>
            <a:rect r="r" b="b" t="t" l="l"/>
            <a:pathLst>
              <a:path h="19495858" w="20689726">
                <a:moveTo>
                  <a:pt x="6465919" y="19495858"/>
                </a:moveTo>
                <a:lnTo>
                  <a:pt x="20689726" y="8000892"/>
                </a:lnTo>
                <a:lnTo>
                  <a:pt x="14223807" y="0"/>
                </a:lnTo>
                <a:lnTo>
                  <a:pt x="0" y="11494966"/>
                </a:lnTo>
                <a:lnTo>
                  <a:pt x="6465919" y="19495858"/>
                </a:lnTo>
                <a:close/>
              </a:path>
            </a:pathLst>
          </a:custGeom>
          <a:blipFill>
            <a:blip r:embed="rId2"/>
            <a:stretch>
              <a:fillRect l="-4483" t="0" r="-36949" b="0"/>
            </a:stretch>
          </a:blipFill>
        </p:spPr>
      </p:sp>
      <p:grpSp>
        <p:nvGrpSpPr>
          <p:cNvPr name="Group 3" id="3"/>
          <p:cNvGrpSpPr/>
          <p:nvPr/>
        </p:nvGrpSpPr>
        <p:grpSpPr>
          <a:xfrm rot="0">
            <a:off x="568999" y="848663"/>
            <a:ext cx="5779094" cy="8736633"/>
            <a:chOff x="0" y="0"/>
            <a:chExt cx="895333" cy="1353533"/>
          </a:xfrm>
        </p:grpSpPr>
        <p:sp>
          <p:nvSpPr>
            <p:cNvPr name="Freeform 4" id="4"/>
            <p:cNvSpPr/>
            <p:nvPr/>
          </p:nvSpPr>
          <p:spPr>
            <a:xfrm flipH="false" flipV="false" rot="0">
              <a:off x="0" y="0"/>
              <a:ext cx="895333" cy="1353533"/>
            </a:xfrm>
            <a:custGeom>
              <a:avLst/>
              <a:gdLst/>
              <a:ahLst/>
              <a:cxnLst/>
              <a:rect r="r" b="b" t="t" l="l"/>
              <a:pathLst>
                <a:path h="1353533" w="895333">
                  <a:moveTo>
                    <a:pt x="53586" y="0"/>
                  </a:moveTo>
                  <a:lnTo>
                    <a:pt x="841747" y="0"/>
                  </a:lnTo>
                  <a:cubicBezTo>
                    <a:pt x="855959" y="0"/>
                    <a:pt x="869589" y="5646"/>
                    <a:pt x="879638" y="15695"/>
                  </a:cubicBezTo>
                  <a:cubicBezTo>
                    <a:pt x="889687" y="25744"/>
                    <a:pt x="895333" y="39374"/>
                    <a:pt x="895333" y="53586"/>
                  </a:cubicBezTo>
                  <a:lnTo>
                    <a:pt x="895333" y="1299947"/>
                  </a:lnTo>
                  <a:cubicBezTo>
                    <a:pt x="895333" y="1314159"/>
                    <a:pt x="889687" y="1327789"/>
                    <a:pt x="879638" y="1337838"/>
                  </a:cubicBezTo>
                  <a:cubicBezTo>
                    <a:pt x="869589" y="1347887"/>
                    <a:pt x="855959" y="1353533"/>
                    <a:pt x="841747" y="1353533"/>
                  </a:cubicBezTo>
                  <a:lnTo>
                    <a:pt x="53586" y="1353533"/>
                  </a:lnTo>
                  <a:cubicBezTo>
                    <a:pt x="39374" y="1353533"/>
                    <a:pt x="25744" y="1347887"/>
                    <a:pt x="15695" y="1337838"/>
                  </a:cubicBezTo>
                  <a:cubicBezTo>
                    <a:pt x="5646" y="1327789"/>
                    <a:pt x="0" y="1314159"/>
                    <a:pt x="0" y="1299947"/>
                  </a:cubicBezTo>
                  <a:lnTo>
                    <a:pt x="0" y="53586"/>
                  </a:lnTo>
                  <a:cubicBezTo>
                    <a:pt x="0" y="39374"/>
                    <a:pt x="5646" y="25744"/>
                    <a:pt x="15695" y="15695"/>
                  </a:cubicBezTo>
                  <a:cubicBezTo>
                    <a:pt x="25744" y="5646"/>
                    <a:pt x="39374" y="0"/>
                    <a:pt x="53586" y="0"/>
                  </a:cubicBezTo>
                  <a:close/>
                </a:path>
              </a:pathLst>
            </a:custGeom>
            <a:blipFill>
              <a:blip r:embed="rId3"/>
              <a:stretch>
                <a:fillRect l="-360" t="0" r="-360" b="0"/>
              </a:stretch>
            </a:blipFill>
            <a:ln w="19050" cap="rnd">
              <a:solidFill>
                <a:srgbClr val="FFFFFF"/>
              </a:solidFill>
              <a:prstDash val="solid"/>
              <a:round/>
            </a:ln>
          </p:spPr>
        </p:sp>
      </p:grpSp>
      <p:sp>
        <p:nvSpPr>
          <p:cNvPr name="Freeform 5" id="5"/>
          <p:cNvSpPr/>
          <p:nvPr/>
        </p:nvSpPr>
        <p:spPr>
          <a:xfrm flipH="false" flipV="true" rot="-5400000">
            <a:off x="2956852" y="6991105"/>
            <a:ext cx="4029852" cy="798643"/>
          </a:xfrm>
          <a:custGeom>
            <a:avLst/>
            <a:gdLst/>
            <a:ahLst/>
            <a:cxnLst/>
            <a:rect r="r" b="b" t="t" l="l"/>
            <a:pathLst>
              <a:path h="798643" w="4029852">
                <a:moveTo>
                  <a:pt x="0" y="798643"/>
                </a:moveTo>
                <a:lnTo>
                  <a:pt x="4029852" y="798643"/>
                </a:lnTo>
                <a:lnTo>
                  <a:pt x="4029852" y="0"/>
                </a:lnTo>
                <a:lnTo>
                  <a:pt x="0" y="0"/>
                </a:lnTo>
                <a:lnTo>
                  <a:pt x="0" y="798643"/>
                </a:lnTo>
                <a:close/>
              </a:path>
            </a:pathLst>
          </a:custGeom>
          <a:blipFill>
            <a:blip r:embed="rId4">
              <a:alphaModFix amt="56000"/>
            </a:blip>
            <a:stretch>
              <a:fillRect l="0" t="0" r="0" b="0"/>
            </a:stretch>
          </a:blipFill>
        </p:spPr>
      </p:sp>
      <p:grpSp>
        <p:nvGrpSpPr>
          <p:cNvPr name="Group 6" id="6"/>
          <p:cNvGrpSpPr/>
          <p:nvPr/>
        </p:nvGrpSpPr>
        <p:grpSpPr>
          <a:xfrm rot="-9278497">
            <a:off x="10451951" y="3721633"/>
            <a:ext cx="10178180" cy="10178180"/>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lnTo>
                    <a:pt x="406400" y="0"/>
                  </a:lnTo>
                  <a:close/>
                </a:path>
              </a:pathLst>
            </a:custGeom>
            <a:gradFill rotWithShape="true">
              <a:gsLst>
                <a:gs pos="0">
                  <a:srgbClr val="FFFFFF">
                    <a:alpha val="1155"/>
                  </a:srgbClr>
                </a:gs>
                <a:gs pos="25000">
                  <a:srgbClr val="FFFFFF">
                    <a:alpha val="1650"/>
                  </a:srgbClr>
                </a:gs>
                <a:gs pos="50000">
                  <a:srgbClr val="FFFFFF">
                    <a:alpha val="1100"/>
                  </a:srgbClr>
                </a:gs>
                <a:gs pos="75000">
                  <a:srgbClr val="FFFFFF">
                    <a:alpha val="1650"/>
                  </a:srgbClr>
                </a:gs>
                <a:gs pos="100000">
                  <a:srgbClr val="FFFFFF">
                    <a:alpha val="1100"/>
                  </a:srgbClr>
                </a:gs>
              </a:gsLst>
              <a:lin ang="2700000"/>
            </a:gradFill>
            <a:ln w="19050" cap="rnd">
              <a:solidFill>
                <a:srgbClr val="FFFFFF">
                  <a:alpha val="10980"/>
                </a:srgbClr>
              </a:solidFill>
              <a:prstDash val="solid"/>
              <a:round/>
            </a:ln>
          </p:spPr>
        </p:sp>
        <p:sp>
          <p:nvSpPr>
            <p:cNvPr name="TextBox 8" id="8"/>
            <p:cNvSpPr txBox="true"/>
            <p:nvPr/>
          </p:nvSpPr>
          <p:spPr>
            <a:xfrm>
              <a:off x="76200" y="819150"/>
              <a:ext cx="660400" cy="660400"/>
            </a:xfrm>
            <a:prstGeom prst="rect">
              <a:avLst/>
            </a:prstGeom>
          </p:spPr>
          <p:txBody>
            <a:bodyPr anchor="ctr" rtlCol="false" tIns="50800" lIns="50800" bIns="50800" rIns="50800"/>
            <a:lstStyle/>
            <a:p>
              <a:pPr algn="l" marL="0" indent="0" lvl="0">
                <a:lnSpc>
                  <a:spcPts val="19673"/>
                </a:lnSpc>
                <a:spcBef>
                  <a:spcPct val="0"/>
                </a:spcBef>
              </a:pPr>
            </a:p>
          </p:txBody>
        </p:sp>
      </p:grpSp>
      <p:grpSp>
        <p:nvGrpSpPr>
          <p:cNvPr name="Group 9" id="9"/>
          <p:cNvGrpSpPr/>
          <p:nvPr/>
        </p:nvGrpSpPr>
        <p:grpSpPr>
          <a:xfrm rot="-9278497">
            <a:off x="12286055" y="5508827"/>
            <a:ext cx="6657413" cy="6657413"/>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lnTo>
                    <a:pt x="406400" y="0"/>
                  </a:lnTo>
                  <a:close/>
                </a:path>
              </a:pathLst>
            </a:custGeom>
            <a:gradFill rotWithShape="true">
              <a:gsLst>
                <a:gs pos="0">
                  <a:srgbClr val="FFFFFF">
                    <a:alpha val="1155"/>
                  </a:srgbClr>
                </a:gs>
                <a:gs pos="25000">
                  <a:srgbClr val="FFFFFF">
                    <a:alpha val="1650"/>
                  </a:srgbClr>
                </a:gs>
                <a:gs pos="50000">
                  <a:srgbClr val="FFFFFF">
                    <a:alpha val="1100"/>
                  </a:srgbClr>
                </a:gs>
                <a:gs pos="75000">
                  <a:srgbClr val="FFFFFF">
                    <a:alpha val="1650"/>
                  </a:srgbClr>
                </a:gs>
                <a:gs pos="100000">
                  <a:srgbClr val="FFFFFF">
                    <a:alpha val="1100"/>
                  </a:srgbClr>
                </a:gs>
              </a:gsLst>
              <a:lin ang="2700000"/>
            </a:gradFill>
            <a:ln w="19050" cap="rnd">
              <a:solidFill>
                <a:srgbClr val="FFFFFF">
                  <a:alpha val="10980"/>
                </a:srgbClr>
              </a:solidFill>
              <a:prstDash val="solid"/>
              <a:round/>
            </a:ln>
          </p:spPr>
        </p:sp>
        <p:sp>
          <p:nvSpPr>
            <p:cNvPr name="TextBox 11" id="11"/>
            <p:cNvSpPr txBox="true"/>
            <p:nvPr/>
          </p:nvSpPr>
          <p:spPr>
            <a:xfrm>
              <a:off x="76200" y="161925"/>
              <a:ext cx="660400" cy="574675"/>
            </a:xfrm>
            <a:prstGeom prst="rect">
              <a:avLst/>
            </a:prstGeom>
          </p:spPr>
          <p:txBody>
            <a:bodyPr anchor="ctr" rtlCol="false" tIns="50800" lIns="50800" bIns="50800" rIns="50800"/>
            <a:lstStyle/>
            <a:p>
              <a:pPr algn="ctr" marL="0" indent="0" lvl="0">
                <a:lnSpc>
                  <a:spcPts val="2218"/>
                </a:lnSpc>
                <a:spcBef>
                  <a:spcPct val="0"/>
                </a:spcBef>
              </a:pPr>
            </a:p>
          </p:txBody>
        </p:sp>
      </p:grpSp>
      <p:sp>
        <p:nvSpPr>
          <p:cNvPr name="Freeform 12" id="12"/>
          <p:cNvSpPr/>
          <p:nvPr/>
        </p:nvSpPr>
        <p:spPr>
          <a:xfrm flipH="false" flipV="true" rot="-10800000">
            <a:off x="4682729" y="5151555"/>
            <a:ext cx="5725382" cy="1134667"/>
          </a:xfrm>
          <a:custGeom>
            <a:avLst/>
            <a:gdLst/>
            <a:ahLst/>
            <a:cxnLst/>
            <a:rect r="r" b="b" t="t" l="l"/>
            <a:pathLst>
              <a:path h="1134667" w="5725382">
                <a:moveTo>
                  <a:pt x="0" y="1134666"/>
                </a:moveTo>
                <a:lnTo>
                  <a:pt x="5725382" y="1134666"/>
                </a:lnTo>
                <a:lnTo>
                  <a:pt x="5725382" y="0"/>
                </a:lnTo>
                <a:lnTo>
                  <a:pt x="0" y="0"/>
                </a:lnTo>
                <a:lnTo>
                  <a:pt x="0" y="1134666"/>
                </a:lnTo>
                <a:close/>
              </a:path>
            </a:pathLst>
          </a:custGeom>
          <a:blipFill>
            <a:blip r:embed="rId4">
              <a:alphaModFix amt="56000"/>
            </a:blip>
            <a:stretch>
              <a:fillRect l="0" t="0" r="0" b="0"/>
            </a:stretch>
          </a:blipFill>
        </p:spPr>
      </p:sp>
      <p:sp>
        <p:nvSpPr>
          <p:cNvPr name="Freeform 13" id="13"/>
          <p:cNvSpPr/>
          <p:nvPr/>
        </p:nvSpPr>
        <p:spPr>
          <a:xfrm flipH="false" flipV="true" rot="-10800000">
            <a:off x="10674391" y="5134481"/>
            <a:ext cx="6776142" cy="1342908"/>
          </a:xfrm>
          <a:custGeom>
            <a:avLst/>
            <a:gdLst/>
            <a:ahLst/>
            <a:cxnLst/>
            <a:rect r="r" b="b" t="t" l="l"/>
            <a:pathLst>
              <a:path h="1342908" w="6776142">
                <a:moveTo>
                  <a:pt x="0" y="1342908"/>
                </a:moveTo>
                <a:lnTo>
                  <a:pt x="6776142" y="1342908"/>
                </a:lnTo>
                <a:lnTo>
                  <a:pt x="6776142" y="0"/>
                </a:lnTo>
                <a:lnTo>
                  <a:pt x="0" y="0"/>
                </a:lnTo>
                <a:lnTo>
                  <a:pt x="0" y="1342908"/>
                </a:lnTo>
                <a:close/>
              </a:path>
            </a:pathLst>
          </a:custGeom>
          <a:blipFill>
            <a:blip r:embed="rId4">
              <a:alphaModFix amt="56000"/>
            </a:blip>
            <a:stretch>
              <a:fillRect l="0" t="0" r="0" b="0"/>
            </a:stretch>
          </a:blipFill>
        </p:spPr>
      </p:sp>
      <p:grpSp>
        <p:nvGrpSpPr>
          <p:cNvPr name="Group 14" id="14"/>
          <p:cNvGrpSpPr/>
          <p:nvPr/>
        </p:nvGrpSpPr>
        <p:grpSpPr>
          <a:xfrm rot="0">
            <a:off x="4899303" y="5438720"/>
            <a:ext cx="5965666" cy="3819580"/>
            <a:chOff x="0" y="0"/>
            <a:chExt cx="2245493" cy="1437700"/>
          </a:xfrm>
        </p:grpSpPr>
        <p:sp>
          <p:nvSpPr>
            <p:cNvPr name="Freeform 15" id="15"/>
            <p:cNvSpPr/>
            <p:nvPr/>
          </p:nvSpPr>
          <p:spPr>
            <a:xfrm flipH="false" flipV="false" rot="0">
              <a:off x="0" y="0"/>
              <a:ext cx="2245493" cy="1437700"/>
            </a:xfrm>
            <a:custGeom>
              <a:avLst/>
              <a:gdLst/>
              <a:ahLst/>
              <a:cxnLst/>
              <a:rect r="r" b="b" t="t" l="l"/>
              <a:pathLst>
                <a:path h="1437700" w="2245493">
                  <a:moveTo>
                    <a:pt x="66185" y="0"/>
                  </a:moveTo>
                  <a:lnTo>
                    <a:pt x="2179307" y="0"/>
                  </a:lnTo>
                  <a:cubicBezTo>
                    <a:pt x="2196861" y="0"/>
                    <a:pt x="2213695" y="6973"/>
                    <a:pt x="2226108" y="19385"/>
                  </a:cubicBezTo>
                  <a:cubicBezTo>
                    <a:pt x="2238520" y="31797"/>
                    <a:pt x="2245493" y="48632"/>
                    <a:pt x="2245493" y="66185"/>
                  </a:cubicBezTo>
                  <a:lnTo>
                    <a:pt x="2245493" y="1371515"/>
                  </a:lnTo>
                  <a:cubicBezTo>
                    <a:pt x="2245493" y="1389068"/>
                    <a:pt x="2238520" y="1405903"/>
                    <a:pt x="2226108" y="1418315"/>
                  </a:cubicBezTo>
                  <a:cubicBezTo>
                    <a:pt x="2213695" y="1430727"/>
                    <a:pt x="2196861" y="1437700"/>
                    <a:pt x="2179307" y="1437700"/>
                  </a:cubicBezTo>
                  <a:lnTo>
                    <a:pt x="66185" y="1437700"/>
                  </a:lnTo>
                  <a:cubicBezTo>
                    <a:pt x="48632" y="1437700"/>
                    <a:pt x="31797" y="1430727"/>
                    <a:pt x="19385" y="1418315"/>
                  </a:cubicBezTo>
                  <a:cubicBezTo>
                    <a:pt x="6973" y="1405903"/>
                    <a:pt x="0" y="1389068"/>
                    <a:pt x="0" y="1371515"/>
                  </a:cubicBezTo>
                  <a:lnTo>
                    <a:pt x="0" y="66185"/>
                  </a:lnTo>
                  <a:cubicBezTo>
                    <a:pt x="0" y="48632"/>
                    <a:pt x="6973" y="31797"/>
                    <a:pt x="19385" y="19385"/>
                  </a:cubicBezTo>
                  <a:cubicBezTo>
                    <a:pt x="31797" y="6973"/>
                    <a:pt x="48632" y="0"/>
                    <a:pt x="66185" y="0"/>
                  </a:cubicBezTo>
                  <a:close/>
                </a:path>
              </a:pathLst>
            </a:custGeom>
            <a:gradFill rotWithShape="true">
              <a:gsLst>
                <a:gs pos="0">
                  <a:srgbClr val="FFFFFF">
                    <a:alpha val="100000"/>
                  </a:srgbClr>
                </a:gs>
                <a:gs pos="100000">
                  <a:srgbClr val="DBD8D8">
                    <a:alpha val="100000"/>
                  </a:srgbClr>
                </a:gs>
              </a:gsLst>
              <a:lin ang="5400000"/>
            </a:gradFill>
            <a:ln w="19050" cap="rnd">
              <a:gradFill>
                <a:gsLst>
                  <a:gs pos="0">
                    <a:srgbClr val="C55CD1">
                      <a:alpha val="100000"/>
                    </a:srgbClr>
                  </a:gs>
                  <a:gs pos="100000">
                    <a:srgbClr val="923ACD">
                      <a:alpha val="100000"/>
                    </a:srgbClr>
                  </a:gs>
                </a:gsLst>
                <a:lin ang="2700000"/>
              </a:gradFill>
              <a:prstDash val="solid"/>
              <a:round/>
            </a:ln>
          </p:spPr>
        </p:sp>
        <p:sp>
          <p:nvSpPr>
            <p:cNvPr name="TextBox 16" id="16"/>
            <p:cNvSpPr txBox="true"/>
            <p:nvPr/>
          </p:nvSpPr>
          <p:spPr>
            <a:xfrm>
              <a:off x="0" y="85725"/>
              <a:ext cx="2245493" cy="1351975"/>
            </a:xfrm>
            <a:prstGeom prst="rect">
              <a:avLst/>
            </a:prstGeom>
          </p:spPr>
          <p:txBody>
            <a:bodyPr anchor="ctr" rtlCol="false" tIns="50800" lIns="50800" bIns="50800" rIns="50800"/>
            <a:lstStyle/>
            <a:p>
              <a:pPr algn="ctr" marL="0" indent="0" lvl="0">
                <a:lnSpc>
                  <a:spcPts val="2218"/>
                </a:lnSpc>
                <a:spcBef>
                  <a:spcPct val="0"/>
                </a:spcBef>
              </a:pPr>
            </a:p>
          </p:txBody>
        </p:sp>
      </p:grpSp>
      <p:grpSp>
        <p:nvGrpSpPr>
          <p:cNvPr name="Group 17" id="17"/>
          <p:cNvGrpSpPr/>
          <p:nvPr/>
        </p:nvGrpSpPr>
        <p:grpSpPr>
          <a:xfrm rot="0">
            <a:off x="11249307" y="5438720"/>
            <a:ext cx="6105937" cy="3819580"/>
            <a:chOff x="0" y="0"/>
            <a:chExt cx="2298291" cy="1437700"/>
          </a:xfrm>
        </p:grpSpPr>
        <p:sp>
          <p:nvSpPr>
            <p:cNvPr name="Freeform 18" id="18"/>
            <p:cNvSpPr/>
            <p:nvPr/>
          </p:nvSpPr>
          <p:spPr>
            <a:xfrm flipH="false" flipV="false" rot="0">
              <a:off x="0" y="0"/>
              <a:ext cx="2298291" cy="1437700"/>
            </a:xfrm>
            <a:custGeom>
              <a:avLst/>
              <a:gdLst/>
              <a:ahLst/>
              <a:cxnLst/>
              <a:rect r="r" b="b" t="t" l="l"/>
              <a:pathLst>
                <a:path h="1437700" w="2298291">
                  <a:moveTo>
                    <a:pt x="64665" y="0"/>
                  </a:moveTo>
                  <a:lnTo>
                    <a:pt x="2233626" y="0"/>
                  </a:lnTo>
                  <a:cubicBezTo>
                    <a:pt x="2250776" y="0"/>
                    <a:pt x="2267224" y="6813"/>
                    <a:pt x="2279351" y="18940"/>
                  </a:cubicBezTo>
                  <a:cubicBezTo>
                    <a:pt x="2291478" y="31067"/>
                    <a:pt x="2298291" y="47514"/>
                    <a:pt x="2298291" y="64665"/>
                  </a:cubicBezTo>
                  <a:lnTo>
                    <a:pt x="2298291" y="1373035"/>
                  </a:lnTo>
                  <a:cubicBezTo>
                    <a:pt x="2298291" y="1390186"/>
                    <a:pt x="2291478" y="1406633"/>
                    <a:pt x="2279351" y="1418760"/>
                  </a:cubicBezTo>
                  <a:cubicBezTo>
                    <a:pt x="2267224" y="1430887"/>
                    <a:pt x="2250776" y="1437700"/>
                    <a:pt x="2233626" y="1437700"/>
                  </a:cubicBezTo>
                  <a:lnTo>
                    <a:pt x="64665" y="1437700"/>
                  </a:lnTo>
                  <a:cubicBezTo>
                    <a:pt x="47514" y="1437700"/>
                    <a:pt x="31067" y="1430887"/>
                    <a:pt x="18940" y="1418760"/>
                  </a:cubicBezTo>
                  <a:cubicBezTo>
                    <a:pt x="6813" y="1406633"/>
                    <a:pt x="0" y="1390186"/>
                    <a:pt x="0" y="1373035"/>
                  </a:cubicBezTo>
                  <a:lnTo>
                    <a:pt x="0" y="64665"/>
                  </a:lnTo>
                  <a:cubicBezTo>
                    <a:pt x="0" y="47514"/>
                    <a:pt x="6813" y="31067"/>
                    <a:pt x="18940" y="18940"/>
                  </a:cubicBezTo>
                  <a:cubicBezTo>
                    <a:pt x="31067" y="6813"/>
                    <a:pt x="47514" y="0"/>
                    <a:pt x="64665" y="0"/>
                  </a:cubicBezTo>
                  <a:close/>
                </a:path>
              </a:pathLst>
            </a:custGeom>
            <a:gradFill rotWithShape="true">
              <a:gsLst>
                <a:gs pos="0">
                  <a:srgbClr val="C55CD1">
                    <a:alpha val="100000"/>
                  </a:srgbClr>
                </a:gs>
                <a:gs pos="100000">
                  <a:srgbClr val="923ACD">
                    <a:alpha val="100000"/>
                  </a:srgbClr>
                </a:gs>
              </a:gsLst>
              <a:lin ang="2700000"/>
            </a:gradFill>
            <a:ln w="19050" cap="rnd">
              <a:solidFill>
                <a:srgbClr val="FFFFFF"/>
              </a:solidFill>
              <a:prstDash val="solid"/>
              <a:round/>
            </a:ln>
          </p:spPr>
        </p:sp>
        <p:sp>
          <p:nvSpPr>
            <p:cNvPr name="TextBox 19" id="19"/>
            <p:cNvSpPr txBox="true"/>
            <p:nvPr/>
          </p:nvSpPr>
          <p:spPr>
            <a:xfrm>
              <a:off x="0" y="85725"/>
              <a:ext cx="2298291" cy="1351975"/>
            </a:xfrm>
            <a:prstGeom prst="rect">
              <a:avLst/>
            </a:prstGeom>
          </p:spPr>
          <p:txBody>
            <a:bodyPr anchor="ctr" rtlCol="false" tIns="50800" lIns="50800" bIns="50800" rIns="50800"/>
            <a:lstStyle/>
            <a:p>
              <a:pPr algn="ctr" marL="0" indent="0" lvl="0">
                <a:lnSpc>
                  <a:spcPts val="2218"/>
                </a:lnSpc>
                <a:spcBef>
                  <a:spcPct val="0"/>
                </a:spcBef>
              </a:pPr>
            </a:p>
          </p:txBody>
        </p:sp>
      </p:grpSp>
      <p:sp>
        <p:nvSpPr>
          <p:cNvPr name="TextBox 20" id="20"/>
          <p:cNvSpPr txBox="true"/>
          <p:nvPr/>
        </p:nvSpPr>
        <p:spPr>
          <a:xfrm rot="0">
            <a:off x="7176256" y="2388587"/>
            <a:ext cx="10083044" cy="1329557"/>
          </a:xfrm>
          <a:prstGeom prst="rect">
            <a:avLst/>
          </a:prstGeom>
        </p:spPr>
        <p:txBody>
          <a:bodyPr anchor="t" rtlCol="false" tIns="0" lIns="0" bIns="0" rIns="0">
            <a:spAutoFit/>
          </a:bodyPr>
          <a:lstStyle/>
          <a:p>
            <a:pPr algn="l">
              <a:lnSpc>
                <a:spcPts val="10489"/>
              </a:lnSpc>
            </a:pPr>
            <a:r>
              <a:rPr lang="en-US" b="true" sz="8965" spc="-376">
                <a:solidFill>
                  <a:srgbClr val="FFFFFF"/>
                </a:solidFill>
                <a:latin typeface="Open Sauce Bold"/>
                <a:ea typeface="Open Sauce Bold"/>
                <a:cs typeface="Open Sauce Bold"/>
                <a:sym typeface="Open Sauce Bold"/>
              </a:rPr>
              <a:t>Value Proposition</a:t>
            </a:r>
          </a:p>
        </p:txBody>
      </p:sp>
      <p:sp>
        <p:nvSpPr>
          <p:cNvPr name="TextBox 21" id="21"/>
          <p:cNvSpPr txBox="true"/>
          <p:nvPr/>
        </p:nvSpPr>
        <p:spPr>
          <a:xfrm rot="0">
            <a:off x="5371100" y="5844416"/>
            <a:ext cx="4830334" cy="713994"/>
          </a:xfrm>
          <a:prstGeom prst="rect">
            <a:avLst/>
          </a:prstGeom>
        </p:spPr>
        <p:txBody>
          <a:bodyPr anchor="t" rtlCol="false" tIns="0" lIns="0" bIns="0" rIns="0">
            <a:spAutoFit/>
          </a:bodyPr>
          <a:lstStyle/>
          <a:p>
            <a:pPr algn="l">
              <a:lnSpc>
                <a:spcPts val="2808"/>
              </a:lnSpc>
            </a:pPr>
            <a:r>
              <a:rPr lang="en-US" b="true" sz="2400" spc="-100">
                <a:solidFill>
                  <a:srgbClr val="0E0637"/>
                </a:solidFill>
                <a:latin typeface="Open Sauce Bold"/>
                <a:ea typeface="Open Sauce Bold"/>
                <a:cs typeface="Open Sauce Bold"/>
                <a:sym typeface="Open Sauce Bold"/>
              </a:rPr>
              <a:t>Solusi POS dan Manajemen Inventori Terintegrasi dan Custom</a:t>
            </a:r>
          </a:p>
        </p:txBody>
      </p:sp>
      <p:sp>
        <p:nvSpPr>
          <p:cNvPr name="TextBox 22" id="22"/>
          <p:cNvSpPr txBox="true"/>
          <p:nvPr/>
        </p:nvSpPr>
        <p:spPr>
          <a:xfrm rot="0">
            <a:off x="11758616" y="5815460"/>
            <a:ext cx="5691917" cy="742950"/>
          </a:xfrm>
          <a:prstGeom prst="rect">
            <a:avLst/>
          </a:prstGeom>
        </p:spPr>
        <p:txBody>
          <a:bodyPr anchor="t" rtlCol="false" tIns="0" lIns="0" bIns="0" rIns="0">
            <a:spAutoFit/>
          </a:bodyPr>
          <a:lstStyle/>
          <a:p>
            <a:pPr algn="l">
              <a:lnSpc>
                <a:spcPts val="2925"/>
              </a:lnSpc>
            </a:pPr>
            <a:r>
              <a:rPr lang="en-US" b="true" sz="2500" spc="-105">
                <a:solidFill>
                  <a:srgbClr val="FFFFFF"/>
                </a:solidFill>
                <a:latin typeface="Open Sauce Bold"/>
                <a:ea typeface="Open Sauce Bold"/>
                <a:cs typeface="Open Sauce Bold"/>
                <a:sym typeface="Open Sauce Bold"/>
              </a:rPr>
              <a:t>Kemudahan Penggunaan dan Peningkatan Efisiensi Operasional</a:t>
            </a:r>
          </a:p>
        </p:txBody>
      </p:sp>
      <p:sp>
        <p:nvSpPr>
          <p:cNvPr name="TextBox 23" id="23"/>
          <p:cNvSpPr txBox="true"/>
          <p:nvPr/>
        </p:nvSpPr>
        <p:spPr>
          <a:xfrm rot="0">
            <a:off x="5371100" y="7138645"/>
            <a:ext cx="5037011" cy="1515999"/>
          </a:xfrm>
          <a:prstGeom prst="rect">
            <a:avLst/>
          </a:prstGeom>
        </p:spPr>
        <p:txBody>
          <a:bodyPr anchor="t" rtlCol="false" tIns="0" lIns="0" bIns="0" rIns="0">
            <a:spAutoFit/>
          </a:bodyPr>
          <a:lstStyle/>
          <a:p>
            <a:pPr algn="just">
              <a:lnSpc>
                <a:spcPts val="2447"/>
              </a:lnSpc>
            </a:pPr>
            <a:r>
              <a:rPr lang="en-US" sz="1799" spc="-41">
                <a:solidFill>
                  <a:srgbClr val="0E0637"/>
                </a:solidFill>
                <a:latin typeface="Open Sauce Light"/>
                <a:ea typeface="Open Sauce Light"/>
                <a:cs typeface="Open Sauce Light"/>
                <a:sym typeface="Open Sauce Light"/>
              </a:rPr>
              <a:t>menyediakan sistem POS dan manajemen inventori berbasis website yang terintegrasi dan dikembangkan sesuai kebutuhan setiap klien, sehingga mendukung proses bisnis yang lebih tertata dan akurat.</a:t>
            </a:r>
          </a:p>
        </p:txBody>
      </p:sp>
      <p:sp>
        <p:nvSpPr>
          <p:cNvPr name="TextBox 24" id="24"/>
          <p:cNvSpPr txBox="true"/>
          <p:nvPr/>
        </p:nvSpPr>
        <p:spPr>
          <a:xfrm rot="0">
            <a:off x="11758616" y="7138645"/>
            <a:ext cx="5037011" cy="1515999"/>
          </a:xfrm>
          <a:prstGeom prst="rect">
            <a:avLst/>
          </a:prstGeom>
        </p:spPr>
        <p:txBody>
          <a:bodyPr anchor="t" rtlCol="false" tIns="0" lIns="0" bIns="0" rIns="0">
            <a:spAutoFit/>
          </a:bodyPr>
          <a:lstStyle/>
          <a:p>
            <a:pPr algn="just">
              <a:lnSpc>
                <a:spcPts val="2447"/>
              </a:lnSpc>
            </a:pPr>
            <a:r>
              <a:rPr lang="en-US" sz="1799" spc="-41">
                <a:solidFill>
                  <a:srgbClr val="FFFFFF"/>
                </a:solidFill>
                <a:latin typeface="Open Sauce Light"/>
                <a:ea typeface="Open Sauce Light"/>
                <a:cs typeface="Open Sauce Light"/>
                <a:sym typeface="Open Sauce Light"/>
              </a:rPr>
              <a:t>Sistem dirancang </a:t>
            </a:r>
            <a:r>
              <a:rPr lang="en-US" sz="1799" i="true" spc="-41">
                <a:solidFill>
                  <a:srgbClr val="FFFFFF"/>
                </a:solidFill>
                <a:latin typeface="Open Sauce Light Italics"/>
                <a:ea typeface="Open Sauce Light Italics"/>
                <a:cs typeface="Open Sauce Light Italics"/>
                <a:sym typeface="Open Sauce Light Italics"/>
              </a:rPr>
              <a:t>user-friendly</a:t>
            </a:r>
            <a:r>
              <a:rPr lang="en-US" sz="1799" spc="-41">
                <a:solidFill>
                  <a:srgbClr val="FFFFFF"/>
                </a:solidFill>
                <a:latin typeface="Open Sauce Light"/>
                <a:ea typeface="Open Sauce Light"/>
                <a:cs typeface="Open Sauce Light"/>
                <a:sym typeface="Open Sauce Light"/>
              </a:rPr>
              <a:t> dan dapat diakses secara real-time untuk mempercepat transaksi, mengurangi kesalahan pencatatan, serta membantu pengambilan keputusan yang lebih tepat.</a:t>
            </a:r>
          </a:p>
        </p:txBody>
      </p:sp>
      <p:sp>
        <p:nvSpPr>
          <p:cNvPr name="AutoShape 25" id="25"/>
          <p:cNvSpPr/>
          <p:nvPr/>
        </p:nvSpPr>
        <p:spPr>
          <a:xfrm flipV="true">
            <a:off x="5343791" y="6767170"/>
            <a:ext cx="5064320" cy="0"/>
          </a:xfrm>
          <a:prstGeom prst="line">
            <a:avLst/>
          </a:prstGeom>
          <a:ln cap="flat" w="19050">
            <a:solidFill>
              <a:srgbClr val="0E0637"/>
            </a:solidFill>
            <a:prstDash val="solid"/>
            <a:headEnd type="none" len="sm" w="sm"/>
            <a:tailEnd type="none" len="sm" w="sm"/>
          </a:ln>
        </p:spPr>
      </p:sp>
      <p:sp>
        <p:nvSpPr>
          <p:cNvPr name="AutoShape 26" id="26"/>
          <p:cNvSpPr/>
          <p:nvPr/>
        </p:nvSpPr>
        <p:spPr>
          <a:xfrm flipV="true">
            <a:off x="11731308" y="6767170"/>
            <a:ext cx="5064320" cy="0"/>
          </a:xfrm>
          <a:prstGeom prst="line">
            <a:avLst/>
          </a:prstGeom>
          <a:ln cap="flat" w="19050">
            <a:gradFill>
              <a:gsLst>
                <a:gs pos="0">
                  <a:srgbClr val="FFFFFF">
                    <a:alpha val="100000"/>
                  </a:srgbClr>
                </a:gs>
                <a:gs pos="100000">
                  <a:srgbClr val="DBD8D8">
                    <a:alpha val="100000"/>
                  </a:srgbClr>
                </a:gs>
              </a:gsLst>
              <a:lin ang="5400000"/>
            </a:gradFill>
            <a:prstDash val="solid"/>
            <a:headEnd type="none" len="sm" w="sm"/>
            <a:tailEnd type="none" len="sm" w="sm"/>
          </a:ln>
        </p:spPr>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9278497">
            <a:off x="4240293" y="-3978498"/>
            <a:ext cx="17891941" cy="17891941"/>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lnTo>
                    <a:pt x="406400" y="0"/>
                  </a:lnTo>
                  <a:close/>
                </a:path>
              </a:pathLst>
            </a:custGeom>
            <a:gradFill rotWithShape="true">
              <a:gsLst>
                <a:gs pos="0">
                  <a:srgbClr val="FFFFFF">
                    <a:alpha val="735"/>
                  </a:srgbClr>
                </a:gs>
                <a:gs pos="25000">
                  <a:srgbClr val="FFFFFF">
                    <a:alpha val="1050"/>
                  </a:srgbClr>
                </a:gs>
                <a:gs pos="50000">
                  <a:srgbClr val="FFFFFF">
                    <a:alpha val="700"/>
                  </a:srgbClr>
                </a:gs>
                <a:gs pos="75000">
                  <a:srgbClr val="FFFFFF">
                    <a:alpha val="1050"/>
                  </a:srgbClr>
                </a:gs>
                <a:gs pos="100000">
                  <a:srgbClr val="FFFFFF">
                    <a:alpha val="700"/>
                  </a:srgbClr>
                </a:gs>
              </a:gsLst>
              <a:lin ang="2700000"/>
            </a:gradFill>
            <a:ln w="19050" cap="rnd">
              <a:solidFill>
                <a:srgbClr val="FFFFFF">
                  <a:alpha val="6667"/>
                </a:srgbClr>
              </a:solidFill>
              <a:prstDash val="solid"/>
              <a:round/>
            </a:ln>
          </p:spPr>
        </p:sp>
        <p:sp>
          <p:nvSpPr>
            <p:cNvPr name="TextBox 5" id="5"/>
            <p:cNvSpPr txBox="true"/>
            <p:nvPr/>
          </p:nvSpPr>
          <p:spPr>
            <a:xfrm>
              <a:off x="76200" y="819150"/>
              <a:ext cx="660400" cy="660400"/>
            </a:xfrm>
            <a:prstGeom prst="rect">
              <a:avLst/>
            </a:prstGeom>
          </p:spPr>
          <p:txBody>
            <a:bodyPr anchor="ctr" rtlCol="false" tIns="50800" lIns="50800" bIns="50800" rIns="50800"/>
            <a:lstStyle/>
            <a:p>
              <a:pPr algn="l" marL="0" indent="0" lvl="0">
                <a:lnSpc>
                  <a:spcPts val="19673"/>
                </a:lnSpc>
                <a:spcBef>
                  <a:spcPct val="0"/>
                </a:spcBef>
              </a:pPr>
            </a:p>
          </p:txBody>
        </p:sp>
      </p:grpSp>
      <p:grpSp>
        <p:nvGrpSpPr>
          <p:cNvPr name="Group 6" id="6"/>
          <p:cNvGrpSpPr/>
          <p:nvPr/>
        </p:nvGrpSpPr>
        <p:grpSpPr>
          <a:xfrm rot="-9278497">
            <a:off x="7150129" y="-1068662"/>
            <a:ext cx="12072268" cy="12072268"/>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lnTo>
                    <a:pt x="406400" y="0"/>
                  </a:lnTo>
                  <a:close/>
                </a:path>
              </a:pathLst>
            </a:custGeom>
            <a:gradFill rotWithShape="true">
              <a:gsLst>
                <a:gs pos="0">
                  <a:srgbClr val="FFFFFF">
                    <a:alpha val="735"/>
                  </a:srgbClr>
                </a:gs>
                <a:gs pos="25000">
                  <a:srgbClr val="FFFFFF">
                    <a:alpha val="1050"/>
                  </a:srgbClr>
                </a:gs>
                <a:gs pos="50000">
                  <a:srgbClr val="FFFFFF">
                    <a:alpha val="700"/>
                  </a:srgbClr>
                </a:gs>
                <a:gs pos="75000">
                  <a:srgbClr val="FFFFFF">
                    <a:alpha val="1050"/>
                  </a:srgbClr>
                </a:gs>
                <a:gs pos="100000">
                  <a:srgbClr val="FFFFFF">
                    <a:alpha val="700"/>
                  </a:srgbClr>
                </a:gs>
              </a:gsLst>
              <a:lin ang="2700000"/>
            </a:gradFill>
            <a:ln w="19050" cap="rnd">
              <a:solidFill>
                <a:srgbClr val="FFFFFF">
                  <a:alpha val="6667"/>
                </a:srgbClr>
              </a:solidFill>
              <a:prstDash val="solid"/>
              <a:round/>
            </a:ln>
          </p:spPr>
        </p:sp>
        <p:sp>
          <p:nvSpPr>
            <p:cNvPr name="TextBox 8" id="8"/>
            <p:cNvSpPr txBox="true"/>
            <p:nvPr/>
          </p:nvSpPr>
          <p:spPr>
            <a:xfrm>
              <a:off x="76200" y="161925"/>
              <a:ext cx="660400" cy="574675"/>
            </a:xfrm>
            <a:prstGeom prst="rect">
              <a:avLst/>
            </a:prstGeom>
          </p:spPr>
          <p:txBody>
            <a:bodyPr anchor="ctr" rtlCol="false" tIns="50800" lIns="50800" bIns="50800" rIns="50800"/>
            <a:lstStyle/>
            <a:p>
              <a:pPr algn="ctr" marL="0" indent="0" lvl="0">
                <a:lnSpc>
                  <a:spcPts val="2218"/>
                </a:lnSpc>
                <a:spcBef>
                  <a:spcPct val="0"/>
                </a:spcBef>
              </a:pPr>
            </a:p>
          </p:txBody>
        </p:sp>
      </p:grpSp>
      <p:grpSp>
        <p:nvGrpSpPr>
          <p:cNvPr name="Group 9" id="9"/>
          <p:cNvGrpSpPr/>
          <p:nvPr/>
        </p:nvGrpSpPr>
        <p:grpSpPr>
          <a:xfrm rot="0">
            <a:off x="1978913" y="688368"/>
            <a:ext cx="14330174" cy="8910265"/>
            <a:chOff x="0" y="0"/>
            <a:chExt cx="19106899" cy="11880353"/>
          </a:xfrm>
        </p:grpSpPr>
        <p:grpSp>
          <p:nvGrpSpPr>
            <p:cNvPr name="Group 10" id="10"/>
            <p:cNvGrpSpPr/>
            <p:nvPr/>
          </p:nvGrpSpPr>
          <p:grpSpPr>
            <a:xfrm rot="0">
              <a:off x="401629" y="2045661"/>
              <a:ext cx="3750663" cy="6324016"/>
              <a:chOff x="0" y="0"/>
              <a:chExt cx="1001397" cy="1688462"/>
            </a:xfrm>
          </p:grpSpPr>
          <p:sp>
            <p:nvSpPr>
              <p:cNvPr name="Freeform 11" id="11"/>
              <p:cNvSpPr/>
              <p:nvPr/>
            </p:nvSpPr>
            <p:spPr>
              <a:xfrm flipH="false" flipV="false" rot="0">
                <a:off x="0" y="0"/>
                <a:ext cx="1001397" cy="1688462"/>
              </a:xfrm>
              <a:custGeom>
                <a:avLst/>
                <a:gdLst/>
                <a:ahLst/>
                <a:cxnLst/>
                <a:rect r="r" b="b" t="t" l="l"/>
                <a:pathLst>
                  <a:path h="1688462" w="1001397">
                    <a:moveTo>
                      <a:pt x="35779" y="0"/>
                    </a:moveTo>
                    <a:lnTo>
                      <a:pt x="965619" y="0"/>
                    </a:lnTo>
                    <a:cubicBezTo>
                      <a:pt x="985379" y="0"/>
                      <a:pt x="1001397" y="16019"/>
                      <a:pt x="1001397" y="35779"/>
                    </a:cubicBezTo>
                    <a:lnTo>
                      <a:pt x="1001397" y="1652684"/>
                    </a:lnTo>
                    <a:cubicBezTo>
                      <a:pt x="1001397" y="1672444"/>
                      <a:pt x="985379" y="1688462"/>
                      <a:pt x="965619" y="1688462"/>
                    </a:cubicBezTo>
                    <a:lnTo>
                      <a:pt x="35779" y="1688462"/>
                    </a:lnTo>
                    <a:cubicBezTo>
                      <a:pt x="16019" y="1688462"/>
                      <a:pt x="0" y="1672444"/>
                      <a:pt x="0" y="1652684"/>
                    </a:cubicBezTo>
                    <a:lnTo>
                      <a:pt x="0" y="35779"/>
                    </a:lnTo>
                    <a:cubicBezTo>
                      <a:pt x="0" y="16019"/>
                      <a:pt x="16019" y="0"/>
                      <a:pt x="35779" y="0"/>
                    </a:cubicBezTo>
                    <a:close/>
                  </a:path>
                </a:pathLst>
              </a:custGeom>
              <a:solidFill>
                <a:srgbClr val="FFFFFF"/>
              </a:solidFill>
            </p:spPr>
          </p:sp>
          <p:sp>
            <p:nvSpPr>
              <p:cNvPr name="TextBox 12" id="12"/>
              <p:cNvSpPr txBox="true"/>
              <p:nvPr/>
            </p:nvSpPr>
            <p:spPr>
              <a:xfrm>
                <a:off x="0" y="-9525"/>
                <a:ext cx="1001397" cy="1697987"/>
              </a:xfrm>
              <a:prstGeom prst="rect">
                <a:avLst/>
              </a:prstGeom>
            </p:spPr>
            <p:txBody>
              <a:bodyPr anchor="ctr" rtlCol="false" tIns="32490" lIns="32490" bIns="32490" rIns="32490"/>
              <a:lstStyle/>
              <a:p>
                <a:pPr algn="l" marL="207123" indent="-103562" lvl="1">
                  <a:lnSpc>
                    <a:spcPts val="1343"/>
                  </a:lnSpc>
                  <a:buFont typeface="Arial"/>
                  <a:buChar char="•"/>
                </a:pPr>
                <a:r>
                  <a:rPr lang="en-US" sz="959" i="true" spc="24">
                    <a:solidFill>
                      <a:srgbClr val="000000"/>
                    </a:solidFill>
                    <a:latin typeface="Prompt Light Italics"/>
                    <a:ea typeface="Prompt Light Italics"/>
                    <a:cs typeface="Prompt Light Italics"/>
                    <a:sym typeface="Prompt Light Italics"/>
                  </a:rPr>
                  <a:t>Influencer</a:t>
                </a:r>
                <a:r>
                  <a:rPr lang="en-US" sz="959" spc="24">
                    <a:solidFill>
                      <a:srgbClr val="000000"/>
                    </a:solidFill>
                    <a:latin typeface="Prompt Light"/>
                    <a:ea typeface="Prompt Light"/>
                    <a:cs typeface="Prompt Light"/>
                    <a:sym typeface="Prompt Light"/>
                  </a:rPr>
                  <a:t> dan </a:t>
                </a:r>
                <a:r>
                  <a:rPr lang="en-US" sz="959" i="true" spc="24">
                    <a:solidFill>
                      <a:srgbClr val="000000"/>
                    </a:solidFill>
                    <a:latin typeface="Prompt Light Italics"/>
                    <a:ea typeface="Prompt Light Italics"/>
                    <a:cs typeface="Prompt Light Italics"/>
                    <a:sym typeface="Prompt Light Italics"/>
                  </a:rPr>
                  <a:t>content creator</a:t>
                </a:r>
              </a:p>
              <a:p>
                <a:pPr algn="l" marL="207123" indent="-103562" lvl="1">
                  <a:lnSpc>
                    <a:spcPts val="1343"/>
                  </a:lnSpc>
                  <a:buFont typeface="Arial"/>
                  <a:buChar char="•"/>
                </a:pPr>
                <a:r>
                  <a:rPr lang="en-US" sz="959" spc="24">
                    <a:solidFill>
                      <a:srgbClr val="000000"/>
                    </a:solidFill>
                    <a:latin typeface="Prompt Light"/>
                    <a:ea typeface="Prompt Light"/>
                    <a:cs typeface="Prompt Light"/>
                    <a:sym typeface="Prompt Light"/>
                  </a:rPr>
                  <a:t>Vendor teknologi</a:t>
                </a:r>
              </a:p>
              <a:p>
                <a:pPr algn="l" marL="207123" indent="-103562" lvl="1">
                  <a:lnSpc>
                    <a:spcPts val="1343"/>
                  </a:lnSpc>
                  <a:buFont typeface="Arial"/>
                  <a:buChar char="•"/>
                </a:pPr>
                <a:r>
                  <a:rPr lang="en-US" sz="959" spc="24">
                    <a:solidFill>
                      <a:srgbClr val="000000"/>
                    </a:solidFill>
                    <a:latin typeface="Prompt Light"/>
                    <a:ea typeface="Prompt Light"/>
                    <a:cs typeface="Prompt Light"/>
                    <a:sym typeface="Prompt Light"/>
                  </a:rPr>
                  <a:t>Institusi pendidikan atau komunitas</a:t>
                </a:r>
              </a:p>
              <a:p>
                <a:pPr algn="l">
                  <a:lnSpc>
                    <a:spcPts val="1343"/>
                  </a:lnSpc>
                </a:pPr>
              </a:p>
            </p:txBody>
          </p:sp>
        </p:grpSp>
        <p:grpSp>
          <p:nvGrpSpPr>
            <p:cNvPr name="Group 13" id="13"/>
            <p:cNvGrpSpPr/>
            <p:nvPr/>
          </p:nvGrpSpPr>
          <p:grpSpPr>
            <a:xfrm rot="0">
              <a:off x="14954607" y="2045661"/>
              <a:ext cx="3750663" cy="6324016"/>
              <a:chOff x="0" y="0"/>
              <a:chExt cx="1001397" cy="1688462"/>
            </a:xfrm>
          </p:grpSpPr>
          <p:sp>
            <p:nvSpPr>
              <p:cNvPr name="Freeform 14" id="14"/>
              <p:cNvSpPr/>
              <p:nvPr/>
            </p:nvSpPr>
            <p:spPr>
              <a:xfrm flipH="false" flipV="false" rot="0">
                <a:off x="0" y="0"/>
                <a:ext cx="1001397" cy="1688462"/>
              </a:xfrm>
              <a:custGeom>
                <a:avLst/>
                <a:gdLst/>
                <a:ahLst/>
                <a:cxnLst/>
                <a:rect r="r" b="b" t="t" l="l"/>
                <a:pathLst>
                  <a:path h="1688462" w="1001397">
                    <a:moveTo>
                      <a:pt x="35779" y="0"/>
                    </a:moveTo>
                    <a:lnTo>
                      <a:pt x="965619" y="0"/>
                    </a:lnTo>
                    <a:cubicBezTo>
                      <a:pt x="985379" y="0"/>
                      <a:pt x="1001397" y="16019"/>
                      <a:pt x="1001397" y="35779"/>
                    </a:cubicBezTo>
                    <a:lnTo>
                      <a:pt x="1001397" y="1652684"/>
                    </a:lnTo>
                    <a:cubicBezTo>
                      <a:pt x="1001397" y="1672444"/>
                      <a:pt x="985379" y="1688462"/>
                      <a:pt x="965619" y="1688462"/>
                    </a:cubicBezTo>
                    <a:lnTo>
                      <a:pt x="35779" y="1688462"/>
                    </a:lnTo>
                    <a:cubicBezTo>
                      <a:pt x="16019" y="1688462"/>
                      <a:pt x="0" y="1672444"/>
                      <a:pt x="0" y="1652684"/>
                    </a:cubicBezTo>
                    <a:lnTo>
                      <a:pt x="0" y="35779"/>
                    </a:lnTo>
                    <a:cubicBezTo>
                      <a:pt x="0" y="16019"/>
                      <a:pt x="16019" y="0"/>
                      <a:pt x="35779" y="0"/>
                    </a:cubicBezTo>
                    <a:close/>
                  </a:path>
                </a:pathLst>
              </a:custGeom>
              <a:solidFill>
                <a:srgbClr val="FFFFFF"/>
              </a:solidFill>
            </p:spPr>
          </p:sp>
          <p:sp>
            <p:nvSpPr>
              <p:cNvPr name="TextBox 15" id="15"/>
              <p:cNvSpPr txBox="true"/>
              <p:nvPr/>
            </p:nvSpPr>
            <p:spPr>
              <a:xfrm>
                <a:off x="0" y="-9525"/>
                <a:ext cx="1001397" cy="1697987"/>
              </a:xfrm>
              <a:prstGeom prst="rect">
                <a:avLst/>
              </a:prstGeom>
            </p:spPr>
            <p:txBody>
              <a:bodyPr anchor="ctr" rtlCol="false" tIns="32490" lIns="32490" bIns="32490" rIns="32490"/>
              <a:lstStyle/>
              <a:p>
                <a:pPr algn="l" marL="207123" indent="-103562" lvl="1">
                  <a:lnSpc>
                    <a:spcPts val="1343"/>
                  </a:lnSpc>
                  <a:buFont typeface="Arial"/>
                  <a:buChar char="•"/>
                </a:pPr>
                <a:r>
                  <a:rPr lang="en-US" sz="959" spc="24">
                    <a:solidFill>
                      <a:srgbClr val="000000"/>
                    </a:solidFill>
                    <a:latin typeface="Prompt Light"/>
                    <a:ea typeface="Prompt Light"/>
                    <a:cs typeface="Prompt Light"/>
                    <a:sym typeface="Prompt Light"/>
                  </a:rPr>
                  <a:t>Konsumen individu</a:t>
                </a:r>
              </a:p>
              <a:p>
                <a:pPr algn="l" marL="207123" indent="-103562" lvl="1">
                  <a:lnSpc>
                    <a:spcPts val="1343"/>
                  </a:lnSpc>
                  <a:buFont typeface="Arial"/>
                  <a:buChar char="•"/>
                </a:pPr>
                <a:r>
                  <a:rPr lang="en-US" sz="959" spc="24">
                    <a:solidFill>
                      <a:srgbClr val="000000"/>
                    </a:solidFill>
                    <a:latin typeface="Prompt Light"/>
                    <a:ea typeface="Prompt Light"/>
                    <a:cs typeface="Prompt Light"/>
                    <a:sym typeface="Prompt Light"/>
                  </a:rPr>
                  <a:t>UMKM dan Start up</a:t>
                </a:r>
              </a:p>
              <a:p>
                <a:pPr algn="l" marL="207123" indent="-103562" lvl="1">
                  <a:lnSpc>
                    <a:spcPts val="1343"/>
                  </a:lnSpc>
                  <a:buFont typeface="Arial"/>
                  <a:buChar char="•"/>
                </a:pPr>
                <a:r>
                  <a:rPr lang="en-US" sz="959" spc="24">
                    <a:solidFill>
                      <a:srgbClr val="000000"/>
                    </a:solidFill>
                    <a:latin typeface="Prompt Light"/>
                    <a:ea typeface="Prompt Light"/>
                    <a:cs typeface="Prompt Light"/>
                    <a:sym typeface="Prompt Light"/>
                  </a:rPr>
                  <a:t>Komunitas digital </a:t>
                </a:r>
              </a:p>
            </p:txBody>
          </p:sp>
        </p:grpSp>
        <p:grpSp>
          <p:nvGrpSpPr>
            <p:cNvPr name="Group 16" id="16"/>
            <p:cNvGrpSpPr/>
            <p:nvPr/>
          </p:nvGrpSpPr>
          <p:grpSpPr>
            <a:xfrm rot="0">
              <a:off x="7678118" y="2045661"/>
              <a:ext cx="3750663" cy="6324016"/>
              <a:chOff x="0" y="0"/>
              <a:chExt cx="1001397" cy="1688462"/>
            </a:xfrm>
          </p:grpSpPr>
          <p:sp>
            <p:nvSpPr>
              <p:cNvPr name="Freeform 17" id="17"/>
              <p:cNvSpPr/>
              <p:nvPr/>
            </p:nvSpPr>
            <p:spPr>
              <a:xfrm flipH="false" flipV="false" rot="0">
                <a:off x="0" y="0"/>
                <a:ext cx="1001397" cy="1688462"/>
              </a:xfrm>
              <a:custGeom>
                <a:avLst/>
                <a:gdLst/>
                <a:ahLst/>
                <a:cxnLst/>
                <a:rect r="r" b="b" t="t" l="l"/>
                <a:pathLst>
                  <a:path h="1688462" w="1001397">
                    <a:moveTo>
                      <a:pt x="35779" y="0"/>
                    </a:moveTo>
                    <a:lnTo>
                      <a:pt x="965619" y="0"/>
                    </a:lnTo>
                    <a:cubicBezTo>
                      <a:pt x="985379" y="0"/>
                      <a:pt x="1001397" y="16019"/>
                      <a:pt x="1001397" y="35779"/>
                    </a:cubicBezTo>
                    <a:lnTo>
                      <a:pt x="1001397" y="1652684"/>
                    </a:lnTo>
                    <a:cubicBezTo>
                      <a:pt x="1001397" y="1672444"/>
                      <a:pt x="985379" y="1688462"/>
                      <a:pt x="965619" y="1688462"/>
                    </a:cubicBezTo>
                    <a:lnTo>
                      <a:pt x="35779" y="1688462"/>
                    </a:lnTo>
                    <a:cubicBezTo>
                      <a:pt x="16019" y="1688462"/>
                      <a:pt x="0" y="1672444"/>
                      <a:pt x="0" y="1652684"/>
                    </a:cubicBezTo>
                    <a:lnTo>
                      <a:pt x="0" y="35779"/>
                    </a:lnTo>
                    <a:cubicBezTo>
                      <a:pt x="0" y="16019"/>
                      <a:pt x="16019" y="0"/>
                      <a:pt x="35779" y="0"/>
                    </a:cubicBezTo>
                    <a:close/>
                  </a:path>
                </a:pathLst>
              </a:custGeom>
              <a:solidFill>
                <a:srgbClr val="FFFFFF"/>
              </a:solidFill>
            </p:spPr>
          </p:sp>
          <p:sp>
            <p:nvSpPr>
              <p:cNvPr name="TextBox 18" id="18"/>
              <p:cNvSpPr txBox="true"/>
              <p:nvPr/>
            </p:nvSpPr>
            <p:spPr>
              <a:xfrm>
                <a:off x="0" y="-9525"/>
                <a:ext cx="1001397" cy="1697987"/>
              </a:xfrm>
              <a:prstGeom prst="rect">
                <a:avLst/>
              </a:prstGeom>
            </p:spPr>
            <p:txBody>
              <a:bodyPr anchor="ctr" rtlCol="false" tIns="32490" lIns="32490" bIns="32490" rIns="32490"/>
              <a:lstStyle/>
              <a:p>
                <a:pPr algn="l" marL="207123" indent="-103562" lvl="1">
                  <a:lnSpc>
                    <a:spcPts val="1343"/>
                  </a:lnSpc>
                  <a:buFont typeface="Arial"/>
                  <a:buChar char="•"/>
                </a:pPr>
                <a:r>
                  <a:rPr lang="en-US" sz="959" spc="24">
                    <a:solidFill>
                      <a:srgbClr val="000000"/>
                    </a:solidFill>
                    <a:latin typeface="Prompt Light"/>
                    <a:ea typeface="Prompt Light"/>
                    <a:cs typeface="Prompt Light"/>
                    <a:sym typeface="Prompt Light"/>
                  </a:rPr>
                  <a:t>Solusi praktis untuk masalah spesifik pelanggan</a:t>
                </a:r>
              </a:p>
              <a:p>
                <a:pPr algn="l" marL="207123" indent="-103562" lvl="1">
                  <a:lnSpc>
                    <a:spcPts val="1343"/>
                  </a:lnSpc>
                  <a:buFont typeface="Arial"/>
                  <a:buChar char="•"/>
                </a:pPr>
                <a:r>
                  <a:rPr lang="en-US" sz="959" spc="24">
                    <a:solidFill>
                      <a:srgbClr val="000000"/>
                    </a:solidFill>
                    <a:latin typeface="Prompt Light"/>
                    <a:ea typeface="Prompt Light"/>
                    <a:cs typeface="Prompt Light"/>
                    <a:sym typeface="Prompt Light"/>
                  </a:rPr>
                  <a:t>Hemat waktu dan biaya</a:t>
                </a:r>
              </a:p>
              <a:p>
                <a:pPr algn="l" marL="207123" indent="-103562" lvl="1">
                  <a:lnSpc>
                    <a:spcPts val="1343"/>
                  </a:lnSpc>
                  <a:buFont typeface="Arial"/>
                  <a:buChar char="•"/>
                </a:pPr>
                <a:r>
                  <a:rPr lang="en-US" sz="959" spc="24">
                    <a:solidFill>
                      <a:srgbClr val="000000"/>
                    </a:solidFill>
                    <a:latin typeface="Prompt Light"/>
                    <a:ea typeface="Prompt Light"/>
                    <a:cs typeface="Prompt Light"/>
                    <a:sym typeface="Prompt Light"/>
                  </a:rPr>
                  <a:t>Mudah digunakan, dan bisa diakses kapan saja</a:t>
                </a:r>
              </a:p>
              <a:p>
                <a:pPr algn="l" marL="207123" indent="-103562" lvl="1">
                  <a:lnSpc>
                    <a:spcPts val="1343"/>
                  </a:lnSpc>
                  <a:buFont typeface="Arial"/>
                  <a:buChar char="•"/>
                </a:pPr>
                <a:r>
                  <a:rPr lang="en-US" sz="959" spc="24">
                    <a:solidFill>
                      <a:srgbClr val="000000"/>
                    </a:solidFill>
                    <a:latin typeface="Prompt Light"/>
                    <a:ea typeface="Prompt Light"/>
                    <a:cs typeface="Prompt Light"/>
                    <a:sym typeface="Prompt Light"/>
                  </a:rPr>
                  <a:t>Fitur unggulan yang tidak ditawarkan kompetitor</a:t>
                </a:r>
              </a:p>
            </p:txBody>
          </p:sp>
        </p:grpSp>
        <p:grpSp>
          <p:nvGrpSpPr>
            <p:cNvPr name="Group 19" id="19"/>
            <p:cNvGrpSpPr/>
            <p:nvPr/>
          </p:nvGrpSpPr>
          <p:grpSpPr>
            <a:xfrm rot="0">
              <a:off x="401629" y="8508221"/>
              <a:ext cx="9084857" cy="3372133"/>
              <a:chOff x="0" y="0"/>
              <a:chExt cx="2198763" cy="816140"/>
            </a:xfrm>
          </p:grpSpPr>
          <p:sp>
            <p:nvSpPr>
              <p:cNvPr name="Freeform 20" id="20"/>
              <p:cNvSpPr/>
              <p:nvPr/>
            </p:nvSpPr>
            <p:spPr>
              <a:xfrm flipH="false" flipV="false" rot="0">
                <a:off x="0" y="0"/>
                <a:ext cx="2198762" cy="816140"/>
              </a:xfrm>
              <a:custGeom>
                <a:avLst/>
                <a:gdLst/>
                <a:ahLst/>
                <a:cxnLst/>
                <a:rect r="r" b="b" t="t" l="l"/>
                <a:pathLst>
                  <a:path h="816140" w="2198762">
                    <a:moveTo>
                      <a:pt x="14771" y="0"/>
                    </a:moveTo>
                    <a:lnTo>
                      <a:pt x="2183991" y="0"/>
                    </a:lnTo>
                    <a:cubicBezTo>
                      <a:pt x="2192149" y="0"/>
                      <a:pt x="2198762" y="6613"/>
                      <a:pt x="2198762" y="14771"/>
                    </a:cubicBezTo>
                    <a:lnTo>
                      <a:pt x="2198762" y="801369"/>
                    </a:lnTo>
                    <a:cubicBezTo>
                      <a:pt x="2198762" y="805287"/>
                      <a:pt x="2197206" y="809044"/>
                      <a:pt x="2194436" y="811814"/>
                    </a:cubicBezTo>
                    <a:cubicBezTo>
                      <a:pt x="2191666" y="814584"/>
                      <a:pt x="2187909" y="816140"/>
                      <a:pt x="2183991" y="816140"/>
                    </a:cubicBezTo>
                    <a:lnTo>
                      <a:pt x="14771" y="816140"/>
                    </a:lnTo>
                    <a:cubicBezTo>
                      <a:pt x="6613" y="816140"/>
                      <a:pt x="0" y="809527"/>
                      <a:pt x="0" y="801369"/>
                    </a:cubicBezTo>
                    <a:lnTo>
                      <a:pt x="0" y="14771"/>
                    </a:lnTo>
                    <a:cubicBezTo>
                      <a:pt x="0" y="10854"/>
                      <a:pt x="1556" y="7096"/>
                      <a:pt x="4326" y="4326"/>
                    </a:cubicBezTo>
                    <a:cubicBezTo>
                      <a:pt x="7096" y="1556"/>
                      <a:pt x="10854" y="0"/>
                      <a:pt x="14771" y="0"/>
                    </a:cubicBezTo>
                    <a:close/>
                  </a:path>
                </a:pathLst>
              </a:custGeom>
              <a:solidFill>
                <a:srgbClr val="FFFFFF"/>
              </a:solidFill>
            </p:spPr>
          </p:sp>
          <p:sp>
            <p:nvSpPr>
              <p:cNvPr name="TextBox 21" id="21"/>
              <p:cNvSpPr txBox="true"/>
              <p:nvPr/>
            </p:nvSpPr>
            <p:spPr>
              <a:xfrm>
                <a:off x="0" y="-9525"/>
                <a:ext cx="2198763" cy="825665"/>
              </a:xfrm>
              <a:prstGeom prst="rect">
                <a:avLst/>
              </a:prstGeom>
            </p:spPr>
            <p:txBody>
              <a:bodyPr anchor="ctr" rtlCol="false" tIns="32490" lIns="32490" bIns="32490" rIns="32490"/>
              <a:lstStyle/>
              <a:p>
                <a:pPr algn="l" marL="207123" indent="-103562" lvl="1">
                  <a:lnSpc>
                    <a:spcPts val="1343"/>
                  </a:lnSpc>
                  <a:buFont typeface="Arial"/>
                  <a:buChar char="•"/>
                </a:pPr>
                <a:r>
                  <a:rPr lang="en-US" sz="959" spc="24">
                    <a:solidFill>
                      <a:srgbClr val="000000"/>
                    </a:solidFill>
                    <a:latin typeface="Prompt Light"/>
                    <a:ea typeface="Prompt Light"/>
                    <a:cs typeface="Prompt Light"/>
                    <a:sym typeface="Prompt Light"/>
                  </a:rPr>
                  <a:t>Biaya pengembangan dan pemeliharaan platform</a:t>
                </a:r>
              </a:p>
              <a:p>
                <a:pPr algn="l" marL="207123" indent="-103562" lvl="1">
                  <a:lnSpc>
                    <a:spcPts val="1343"/>
                  </a:lnSpc>
                  <a:buFont typeface="Arial"/>
                  <a:buChar char="•"/>
                </a:pPr>
                <a:r>
                  <a:rPr lang="en-US" sz="959" spc="24">
                    <a:solidFill>
                      <a:srgbClr val="000000"/>
                    </a:solidFill>
                    <a:latin typeface="Prompt Light"/>
                    <a:ea typeface="Prompt Light"/>
                    <a:cs typeface="Prompt Light"/>
                    <a:sym typeface="Prompt Light"/>
                  </a:rPr>
                  <a:t>Gaji tim dan operasional</a:t>
                </a:r>
              </a:p>
              <a:p>
                <a:pPr algn="l" marL="207123" indent="-103562" lvl="1">
                  <a:lnSpc>
                    <a:spcPts val="1343"/>
                  </a:lnSpc>
                  <a:buFont typeface="Arial"/>
                  <a:buChar char="•"/>
                </a:pPr>
                <a:r>
                  <a:rPr lang="en-US" sz="959" spc="24">
                    <a:solidFill>
                      <a:srgbClr val="000000"/>
                    </a:solidFill>
                    <a:latin typeface="Prompt Light"/>
                    <a:ea typeface="Prompt Light"/>
                    <a:cs typeface="Prompt Light"/>
                    <a:sym typeface="Prompt Light"/>
                  </a:rPr>
                  <a:t>Biaya pemasaran dan iklan</a:t>
                </a:r>
              </a:p>
              <a:p>
                <a:pPr algn="l" marL="207123" indent="-103562" lvl="1">
                  <a:lnSpc>
                    <a:spcPts val="1343"/>
                  </a:lnSpc>
                  <a:buFont typeface="Arial"/>
                  <a:buChar char="•"/>
                </a:pPr>
                <a:r>
                  <a:rPr lang="en-US" sz="959" spc="24">
                    <a:solidFill>
                      <a:srgbClr val="000000"/>
                    </a:solidFill>
                    <a:latin typeface="Prompt Light"/>
                    <a:ea typeface="Prompt Light"/>
                    <a:cs typeface="Prompt Light"/>
                    <a:sym typeface="Prompt Light"/>
                  </a:rPr>
                  <a:t>Infrastruktur teknologi (server, tools)</a:t>
                </a:r>
              </a:p>
            </p:txBody>
          </p:sp>
        </p:grpSp>
        <p:grpSp>
          <p:nvGrpSpPr>
            <p:cNvPr name="Group 22" id="22"/>
            <p:cNvGrpSpPr/>
            <p:nvPr/>
          </p:nvGrpSpPr>
          <p:grpSpPr>
            <a:xfrm rot="0">
              <a:off x="9620412" y="8508221"/>
              <a:ext cx="9084857" cy="3372133"/>
              <a:chOff x="0" y="0"/>
              <a:chExt cx="2198763" cy="816140"/>
            </a:xfrm>
          </p:grpSpPr>
          <p:sp>
            <p:nvSpPr>
              <p:cNvPr name="Freeform 23" id="23"/>
              <p:cNvSpPr/>
              <p:nvPr/>
            </p:nvSpPr>
            <p:spPr>
              <a:xfrm flipH="false" flipV="false" rot="0">
                <a:off x="0" y="0"/>
                <a:ext cx="2198762" cy="816140"/>
              </a:xfrm>
              <a:custGeom>
                <a:avLst/>
                <a:gdLst/>
                <a:ahLst/>
                <a:cxnLst/>
                <a:rect r="r" b="b" t="t" l="l"/>
                <a:pathLst>
                  <a:path h="816140" w="2198762">
                    <a:moveTo>
                      <a:pt x="14771" y="0"/>
                    </a:moveTo>
                    <a:lnTo>
                      <a:pt x="2183991" y="0"/>
                    </a:lnTo>
                    <a:cubicBezTo>
                      <a:pt x="2192149" y="0"/>
                      <a:pt x="2198762" y="6613"/>
                      <a:pt x="2198762" y="14771"/>
                    </a:cubicBezTo>
                    <a:lnTo>
                      <a:pt x="2198762" y="801369"/>
                    </a:lnTo>
                    <a:cubicBezTo>
                      <a:pt x="2198762" y="805287"/>
                      <a:pt x="2197206" y="809044"/>
                      <a:pt x="2194436" y="811814"/>
                    </a:cubicBezTo>
                    <a:cubicBezTo>
                      <a:pt x="2191666" y="814584"/>
                      <a:pt x="2187909" y="816140"/>
                      <a:pt x="2183991" y="816140"/>
                    </a:cubicBezTo>
                    <a:lnTo>
                      <a:pt x="14771" y="816140"/>
                    </a:lnTo>
                    <a:cubicBezTo>
                      <a:pt x="6613" y="816140"/>
                      <a:pt x="0" y="809527"/>
                      <a:pt x="0" y="801369"/>
                    </a:cubicBezTo>
                    <a:lnTo>
                      <a:pt x="0" y="14771"/>
                    </a:lnTo>
                    <a:cubicBezTo>
                      <a:pt x="0" y="10854"/>
                      <a:pt x="1556" y="7096"/>
                      <a:pt x="4326" y="4326"/>
                    </a:cubicBezTo>
                    <a:cubicBezTo>
                      <a:pt x="7096" y="1556"/>
                      <a:pt x="10854" y="0"/>
                      <a:pt x="14771" y="0"/>
                    </a:cubicBezTo>
                    <a:close/>
                  </a:path>
                </a:pathLst>
              </a:custGeom>
              <a:solidFill>
                <a:srgbClr val="FFFFFF"/>
              </a:solidFill>
            </p:spPr>
          </p:sp>
          <p:sp>
            <p:nvSpPr>
              <p:cNvPr name="TextBox 24" id="24"/>
              <p:cNvSpPr txBox="true"/>
              <p:nvPr/>
            </p:nvSpPr>
            <p:spPr>
              <a:xfrm>
                <a:off x="0" y="-9525"/>
                <a:ext cx="2198763" cy="825665"/>
              </a:xfrm>
              <a:prstGeom prst="rect">
                <a:avLst/>
              </a:prstGeom>
            </p:spPr>
            <p:txBody>
              <a:bodyPr anchor="ctr" rtlCol="false" tIns="32490" lIns="32490" bIns="32490" rIns="32490"/>
              <a:lstStyle/>
              <a:p>
                <a:pPr algn="l" marL="207123" indent="-103562" lvl="1">
                  <a:lnSpc>
                    <a:spcPts val="1343"/>
                  </a:lnSpc>
                  <a:buFont typeface="Arial"/>
                  <a:buChar char="•"/>
                </a:pPr>
                <a:r>
                  <a:rPr lang="en-US" sz="959" spc="24">
                    <a:solidFill>
                      <a:srgbClr val="000000"/>
                    </a:solidFill>
                    <a:latin typeface="Prompt Light"/>
                    <a:ea typeface="Prompt Light"/>
                    <a:cs typeface="Prompt Light"/>
                    <a:sym typeface="Prompt Light"/>
                  </a:rPr>
                  <a:t>Subscription bulanan/tahunan</a:t>
                </a:r>
              </a:p>
              <a:p>
                <a:pPr algn="l" marL="207123" indent="-103562" lvl="1">
                  <a:lnSpc>
                    <a:spcPts val="1343"/>
                  </a:lnSpc>
                  <a:buFont typeface="Arial"/>
                  <a:buChar char="•"/>
                </a:pPr>
                <a:r>
                  <a:rPr lang="en-US" sz="959" spc="24">
                    <a:solidFill>
                      <a:srgbClr val="000000"/>
                    </a:solidFill>
                    <a:latin typeface="Prompt Light"/>
                    <a:ea typeface="Prompt Light"/>
                    <a:cs typeface="Prompt Light"/>
                    <a:sym typeface="Prompt Light"/>
                  </a:rPr>
                  <a:t>Komisi dari transaksi</a:t>
                </a:r>
              </a:p>
              <a:p>
                <a:pPr algn="l" marL="207123" indent="-103562" lvl="1">
                  <a:lnSpc>
                    <a:spcPts val="1343"/>
                  </a:lnSpc>
                  <a:buFont typeface="Arial"/>
                  <a:buChar char="•"/>
                </a:pPr>
                <a:r>
                  <a:rPr lang="en-US" sz="959" spc="24">
                    <a:solidFill>
                      <a:srgbClr val="000000"/>
                    </a:solidFill>
                    <a:latin typeface="Prompt Light"/>
                    <a:ea typeface="Prompt Light"/>
                    <a:cs typeface="Prompt Light"/>
                    <a:sym typeface="Prompt Light"/>
                  </a:rPr>
                  <a:t>Penjualan langsung produk/jasa</a:t>
                </a:r>
              </a:p>
              <a:p>
                <a:pPr algn="l" marL="207123" indent="-103562" lvl="1">
                  <a:lnSpc>
                    <a:spcPts val="1343"/>
                  </a:lnSpc>
                  <a:buFont typeface="Arial"/>
                  <a:buChar char="•"/>
                </a:pPr>
                <a:r>
                  <a:rPr lang="en-US" sz="959" spc="24">
                    <a:solidFill>
                      <a:srgbClr val="000000"/>
                    </a:solidFill>
                    <a:latin typeface="Prompt Light"/>
                    <a:ea typeface="Prompt Light"/>
                    <a:cs typeface="Prompt Light"/>
                    <a:sym typeface="Prompt Light"/>
                  </a:rPr>
                  <a:t>Iklan dari pihak ketiga</a:t>
                </a:r>
              </a:p>
              <a:p>
                <a:pPr algn="l" marL="207123" indent="-103562" lvl="1">
                  <a:lnSpc>
                    <a:spcPts val="1343"/>
                  </a:lnSpc>
                  <a:buFont typeface="Arial"/>
                  <a:buChar char="•"/>
                </a:pPr>
                <a:r>
                  <a:rPr lang="en-US" sz="959" spc="24">
                    <a:solidFill>
                      <a:srgbClr val="000000"/>
                    </a:solidFill>
                    <a:latin typeface="Prompt Light"/>
                    <a:ea typeface="Prompt Light"/>
                    <a:cs typeface="Prompt Light"/>
                    <a:sym typeface="Prompt Light"/>
                  </a:rPr>
                  <a:t>Paket kerjasama</a:t>
                </a:r>
              </a:p>
            </p:txBody>
          </p:sp>
        </p:grpSp>
        <p:grpSp>
          <p:nvGrpSpPr>
            <p:cNvPr name="Group 25" id="25"/>
            <p:cNvGrpSpPr/>
            <p:nvPr/>
          </p:nvGrpSpPr>
          <p:grpSpPr>
            <a:xfrm rot="0">
              <a:off x="4296054" y="2045661"/>
              <a:ext cx="3238301" cy="3101196"/>
              <a:chOff x="0" y="0"/>
              <a:chExt cx="870921" cy="834047"/>
            </a:xfrm>
          </p:grpSpPr>
          <p:sp>
            <p:nvSpPr>
              <p:cNvPr name="Freeform 26" id="26"/>
              <p:cNvSpPr/>
              <p:nvPr/>
            </p:nvSpPr>
            <p:spPr>
              <a:xfrm flipH="false" flipV="false" rot="0">
                <a:off x="0" y="0"/>
                <a:ext cx="870921" cy="834047"/>
              </a:xfrm>
              <a:custGeom>
                <a:avLst/>
                <a:gdLst/>
                <a:ahLst/>
                <a:cxnLst/>
                <a:rect r="r" b="b" t="t" l="l"/>
                <a:pathLst>
                  <a:path h="834047" w="870921">
                    <a:moveTo>
                      <a:pt x="41439" y="0"/>
                    </a:moveTo>
                    <a:lnTo>
                      <a:pt x="829482" y="0"/>
                    </a:lnTo>
                    <a:cubicBezTo>
                      <a:pt x="840472" y="0"/>
                      <a:pt x="851012" y="4366"/>
                      <a:pt x="858784" y="12137"/>
                    </a:cubicBezTo>
                    <a:cubicBezTo>
                      <a:pt x="866555" y="19909"/>
                      <a:pt x="870921" y="30449"/>
                      <a:pt x="870921" y="41439"/>
                    </a:cubicBezTo>
                    <a:lnTo>
                      <a:pt x="870921" y="792608"/>
                    </a:lnTo>
                    <a:cubicBezTo>
                      <a:pt x="870921" y="803598"/>
                      <a:pt x="866555" y="814139"/>
                      <a:pt x="858784" y="821910"/>
                    </a:cubicBezTo>
                    <a:cubicBezTo>
                      <a:pt x="851012" y="829681"/>
                      <a:pt x="840472" y="834047"/>
                      <a:pt x="829482" y="834047"/>
                    </a:cubicBezTo>
                    <a:lnTo>
                      <a:pt x="41439" y="834047"/>
                    </a:lnTo>
                    <a:cubicBezTo>
                      <a:pt x="30449" y="834047"/>
                      <a:pt x="19909" y="829681"/>
                      <a:pt x="12137" y="821910"/>
                    </a:cubicBezTo>
                    <a:cubicBezTo>
                      <a:pt x="4366" y="814139"/>
                      <a:pt x="0" y="803598"/>
                      <a:pt x="0" y="792608"/>
                    </a:cubicBezTo>
                    <a:lnTo>
                      <a:pt x="0" y="41439"/>
                    </a:lnTo>
                    <a:cubicBezTo>
                      <a:pt x="0" y="30449"/>
                      <a:pt x="4366" y="19909"/>
                      <a:pt x="12137" y="12137"/>
                    </a:cubicBezTo>
                    <a:cubicBezTo>
                      <a:pt x="19909" y="4366"/>
                      <a:pt x="30449" y="0"/>
                      <a:pt x="41439" y="0"/>
                    </a:cubicBezTo>
                    <a:close/>
                  </a:path>
                </a:pathLst>
              </a:custGeom>
              <a:solidFill>
                <a:srgbClr val="FFFFFF"/>
              </a:solidFill>
            </p:spPr>
          </p:sp>
          <p:sp>
            <p:nvSpPr>
              <p:cNvPr name="TextBox 27" id="27"/>
              <p:cNvSpPr txBox="true"/>
              <p:nvPr/>
            </p:nvSpPr>
            <p:spPr>
              <a:xfrm>
                <a:off x="0" y="-9525"/>
                <a:ext cx="870921" cy="843572"/>
              </a:xfrm>
              <a:prstGeom prst="rect">
                <a:avLst/>
              </a:prstGeom>
            </p:spPr>
            <p:txBody>
              <a:bodyPr anchor="ctr" rtlCol="false" tIns="32490" lIns="32490" bIns="32490" rIns="32490"/>
              <a:lstStyle/>
              <a:p>
                <a:pPr algn="l" marL="207123" indent="-103562" lvl="1">
                  <a:lnSpc>
                    <a:spcPts val="1343"/>
                  </a:lnSpc>
                  <a:buFont typeface="Arial"/>
                  <a:buChar char="•"/>
                </a:pPr>
                <a:r>
                  <a:rPr lang="en-US" sz="959" spc="24">
                    <a:solidFill>
                      <a:srgbClr val="000000"/>
                    </a:solidFill>
                    <a:latin typeface="Prompt Light"/>
                    <a:ea typeface="Prompt Light"/>
                    <a:cs typeface="Prompt Light"/>
                    <a:sym typeface="Prompt Light"/>
                  </a:rPr>
                  <a:t>Pengembangan produk</a:t>
                </a:r>
              </a:p>
              <a:p>
                <a:pPr algn="l" marL="207123" indent="-103562" lvl="1">
                  <a:lnSpc>
                    <a:spcPts val="1343"/>
                  </a:lnSpc>
                  <a:buFont typeface="Arial"/>
                  <a:buChar char="•"/>
                </a:pPr>
                <a:r>
                  <a:rPr lang="en-US" sz="959" spc="24">
                    <a:solidFill>
                      <a:srgbClr val="000000"/>
                    </a:solidFill>
                    <a:latin typeface="Prompt Light"/>
                    <a:ea typeface="Prompt Light"/>
                    <a:cs typeface="Prompt Light"/>
                    <a:sym typeface="Prompt Light"/>
                  </a:rPr>
                  <a:t>Pemasaran dan akuisisi pengguna</a:t>
                </a:r>
              </a:p>
              <a:p>
                <a:pPr algn="l" marL="207123" indent="-103562" lvl="1">
                  <a:lnSpc>
                    <a:spcPts val="1343"/>
                  </a:lnSpc>
                  <a:buFont typeface="Arial"/>
                  <a:buChar char="•"/>
                </a:pPr>
                <a:r>
                  <a:rPr lang="en-US" sz="959" spc="24">
                    <a:solidFill>
                      <a:srgbClr val="000000"/>
                    </a:solidFill>
                    <a:latin typeface="Prompt Light"/>
                    <a:ea typeface="Prompt Light"/>
                    <a:cs typeface="Prompt Light"/>
                    <a:sym typeface="Prompt Light"/>
                  </a:rPr>
                  <a:t>Manajemen komunitas</a:t>
                </a:r>
              </a:p>
              <a:p>
                <a:pPr algn="l" marL="207123" indent="-103562" lvl="1">
                  <a:lnSpc>
                    <a:spcPts val="1343"/>
                  </a:lnSpc>
                  <a:buFont typeface="Arial"/>
                  <a:buChar char="•"/>
                </a:pPr>
                <a:r>
                  <a:rPr lang="en-US" sz="959" spc="24">
                    <a:solidFill>
                      <a:srgbClr val="000000"/>
                    </a:solidFill>
                    <a:latin typeface="Prompt Light"/>
                    <a:ea typeface="Prompt Light"/>
                    <a:cs typeface="Prompt Light"/>
                    <a:sym typeface="Prompt Light"/>
                  </a:rPr>
                  <a:t>Analisis data dan peningkatan layanan‘</a:t>
                </a:r>
              </a:p>
            </p:txBody>
          </p:sp>
        </p:grpSp>
        <p:grpSp>
          <p:nvGrpSpPr>
            <p:cNvPr name="Group 28" id="28"/>
            <p:cNvGrpSpPr/>
            <p:nvPr/>
          </p:nvGrpSpPr>
          <p:grpSpPr>
            <a:xfrm rot="0">
              <a:off x="11572543" y="2045661"/>
              <a:ext cx="3238301" cy="3101196"/>
              <a:chOff x="0" y="0"/>
              <a:chExt cx="870921" cy="834047"/>
            </a:xfrm>
          </p:grpSpPr>
          <p:sp>
            <p:nvSpPr>
              <p:cNvPr name="Freeform 29" id="29"/>
              <p:cNvSpPr/>
              <p:nvPr/>
            </p:nvSpPr>
            <p:spPr>
              <a:xfrm flipH="false" flipV="false" rot="0">
                <a:off x="0" y="0"/>
                <a:ext cx="870921" cy="834047"/>
              </a:xfrm>
              <a:custGeom>
                <a:avLst/>
                <a:gdLst/>
                <a:ahLst/>
                <a:cxnLst/>
                <a:rect r="r" b="b" t="t" l="l"/>
                <a:pathLst>
                  <a:path h="834047" w="870921">
                    <a:moveTo>
                      <a:pt x="41439" y="0"/>
                    </a:moveTo>
                    <a:lnTo>
                      <a:pt x="829482" y="0"/>
                    </a:lnTo>
                    <a:cubicBezTo>
                      <a:pt x="840472" y="0"/>
                      <a:pt x="851012" y="4366"/>
                      <a:pt x="858784" y="12137"/>
                    </a:cubicBezTo>
                    <a:cubicBezTo>
                      <a:pt x="866555" y="19909"/>
                      <a:pt x="870921" y="30449"/>
                      <a:pt x="870921" y="41439"/>
                    </a:cubicBezTo>
                    <a:lnTo>
                      <a:pt x="870921" y="792608"/>
                    </a:lnTo>
                    <a:cubicBezTo>
                      <a:pt x="870921" y="803598"/>
                      <a:pt x="866555" y="814139"/>
                      <a:pt x="858784" y="821910"/>
                    </a:cubicBezTo>
                    <a:cubicBezTo>
                      <a:pt x="851012" y="829681"/>
                      <a:pt x="840472" y="834047"/>
                      <a:pt x="829482" y="834047"/>
                    </a:cubicBezTo>
                    <a:lnTo>
                      <a:pt x="41439" y="834047"/>
                    </a:lnTo>
                    <a:cubicBezTo>
                      <a:pt x="30449" y="834047"/>
                      <a:pt x="19909" y="829681"/>
                      <a:pt x="12137" y="821910"/>
                    </a:cubicBezTo>
                    <a:cubicBezTo>
                      <a:pt x="4366" y="814139"/>
                      <a:pt x="0" y="803598"/>
                      <a:pt x="0" y="792608"/>
                    </a:cubicBezTo>
                    <a:lnTo>
                      <a:pt x="0" y="41439"/>
                    </a:lnTo>
                    <a:cubicBezTo>
                      <a:pt x="0" y="30449"/>
                      <a:pt x="4366" y="19909"/>
                      <a:pt x="12137" y="12137"/>
                    </a:cubicBezTo>
                    <a:cubicBezTo>
                      <a:pt x="19909" y="4366"/>
                      <a:pt x="30449" y="0"/>
                      <a:pt x="41439" y="0"/>
                    </a:cubicBezTo>
                    <a:close/>
                  </a:path>
                </a:pathLst>
              </a:custGeom>
              <a:solidFill>
                <a:srgbClr val="FFFFFF"/>
              </a:solidFill>
            </p:spPr>
          </p:sp>
          <p:sp>
            <p:nvSpPr>
              <p:cNvPr name="TextBox 30" id="30"/>
              <p:cNvSpPr txBox="true"/>
              <p:nvPr/>
            </p:nvSpPr>
            <p:spPr>
              <a:xfrm>
                <a:off x="0" y="-9525"/>
                <a:ext cx="870921" cy="843572"/>
              </a:xfrm>
              <a:prstGeom prst="rect">
                <a:avLst/>
              </a:prstGeom>
            </p:spPr>
            <p:txBody>
              <a:bodyPr anchor="ctr" rtlCol="false" tIns="32490" lIns="32490" bIns="32490" rIns="32490"/>
              <a:lstStyle/>
              <a:p>
                <a:pPr algn="l">
                  <a:lnSpc>
                    <a:spcPts val="1343"/>
                  </a:lnSpc>
                </a:pPr>
              </a:p>
              <a:p>
                <a:pPr algn="l">
                  <a:lnSpc>
                    <a:spcPts val="1343"/>
                  </a:lnSpc>
                </a:pPr>
              </a:p>
              <a:p>
                <a:pPr algn="l" marL="207123" indent="-103562" lvl="1">
                  <a:lnSpc>
                    <a:spcPts val="1343"/>
                  </a:lnSpc>
                  <a:buFont typeface="Arial"/>
                  <a:buChar char="•"/>
                </a:pPr>
                <a:r>
                  <a:rPr lang="en-US" sz="959" spc="24">
                    <a:solidFill>
                      <a:srgbClr val="000000"/>
                    </a:solidFill>
                    <a:latin typeface="Prompt Light"/>
                    <a:ea typeface="Prompt Light"/>
                    <a:cs typeface="Prompt Light"/>
                    <a:sym typeface="Prompt Light"/>
                  </a:rPr>
                  <a:t>Layanan pelanggan responsif</a:t>
                </a:r>
              </a:p>
              <a:p>
                <a:pPr algn="l" marL="207123" indent="-103562" lvl="1">
                  <a:lnSpc>
                    <a:spcPts val="1343"/>
                  </a:lnSpc>
                  <a:buFont typeface="Arial"/>
                  <a:buChar char="•"/>
                </a:pPr>
                <a:r>
                  <a:rPr lang="en-US" sz="959" spc="24">
                    <a:solidFill>
                      <a:srgbClr val="000000"/>
                    </a:solidFill>
                    <a:latin typeface="Prompt Light"/>
                    <a:ea typeface="Prompt Light"/>
                    <a:cs typeface="Prompt Light"/>
                    <a:sym typeface="Prompt Light"/>
                  </a:rPr>
                  <a:t>Program loyalitas</a:t>
                </a:r>
              </a:p>
              <a:p>
                <a:pPr algn="l" marL="207123" indent="-103562" lvl="1">
                  <a:lnSpc>
                    <a:spcPts val="1343"/>
                  </a:lnSpc>
                  <a:buFont typeface="Arial"/>
                  <a:buChar char="•"/>
                </a:pPr>
                <a:r>
                  <a:rPr lang="en-US" sz="959" spc="24">
                    <a:solidFill>
                      <a:srgbClr val="000000"/>
                    </a:solidFill>
                    <a:latin typeface="Prompt Light"/>
                    <a:ea typeface="Prompt Light"/>
                    <a:cs typeface="Prompt Light"/>
                    <a:sym typeface="Prompt Light"/>
                  </a:rPr>
                  <a:t>Komunitas pengguna aktif</a:t>
                </a:r>
              </a:p>
              <a:p>
                <a:pPr algn="l" marL="207123" indent="-103562" lvl="1">
                  <a:lnSpc>
                    <a:spcPts val="1343"/>
                  </a:lnSpc>
                  <a:buFont typeface="Arial"/>
                  <a:buChar char="•"/>
                </a:pPr>
                <a:r>
                  <a:rPr lang="en-US" sz="959" spc="24">
                    <a:solidFill>
                      <a:srgbClr val="000000"/>
                    </a:solidFill>
                    <a:latin typeface="Prompt Light"/>
                    <a:ea typeface="Prompt Light"/>
                    <a:cs typeface="Prompt Light"/>
                    <a:sym typeface="Prompt Light"/>
                  </a:rPr>
                  <a:t>Edukasi memalui konten</a:t>
                </a:r>
              </a:p>
            </p:txBody>
          </p:sp>
        </p:grpSp>
        <p:grpSp>
          <p:nvGrpSpPr>
            <p:cNvPr name="Group 31" id="31"/>
            <p:cNvGrpSpPr/>
            <p:nvPr/>
          </p:nvGrpSpPr>
          <p:grpSpPr>
            <a:xfrm rot="0">
              <a:off x="4296054" y="5282431"/>
              <a:ext cx="3238301" cy="3087246"/>
              <a:chOff x="0" y="0"/>
              <a:chExt cx="864601" cy="824270"/>
            </a:xfrm>
          </p:grpSpPr>
          <p:sp>
            <p:nvSpPr>
              <p:cNvPr name="Freeform 32" id="32"/>
              <p:cNvSpPr/>
              <p:nvPr/>
            </p:nvSpPr>
            <p:spPr>
              <a:xfrm flipH="false" flipV="false" rot="0">
                <a:off x="0" y="0"/>
                <a:ext cx="864601" cy="824270"/>
              </a:xfrm>
              <a:custGeom>
                <a:avLst/>
                <a:gdLst/>
                <a:ahLst/>
                <a:cxnLst/>
                <a:rect r="r" b="b" t="t" l="l"/>
                <a:pathLst>
                  <a:path h="824270" w="864601">
                    <a:moveTo>
                      <a:pt x="41439" y="0"/>
                    </a:moveTo>
                    <a:lnTo>
                      <a:pt x="823161" y="0"/>
                    </a:lnTo>
                    <a:cubicBezTo>
                      <a:pt x="834152" y="0"/>
                      <a:pt x="844692" y="4366"/>
                      <a:pt x="852464" y="12137"/>
                    </a:cubicBezTo>
                    <a:cubicBezTo>
                      <a:pt x="860235" y="19909"/>
                      <a:pt x="864601" y="30449"/>
                      <a:pt x="864601" y="41439"/>
                    </a:cubicBezTo>
                    <a:lnTo>
                      <a:pt x="864601" y="782831"/>
                    </a:lnTo>
                    <a:cubicBezTo>
                      <a:pt x="864601" y="793821"/>
                      <a:pt x="860235" y="804362"/>
                      <a:pt x="852464" y="812133"/>
                    </a:cubicBezTo>
                    <a:cubicBezTo>
                      <a:pt x="844692" y="819905"/>
                      <a:pt x="834152" y="824270"/>
                      <a:pt x="823161" y="824270"/>
                    </a:cubicBezTo>
                    <a:lnTo>
                      <a:pt x="41439" y="824270"/>
                    </a:lnTo>
                    <a:cubicBezTo>
                      <a:pt x="30449" y="824270"/>
                      <a:pt x="19909" y="819905"/>
                      <a:pt x="12137" y="812133"/>
                    </a:cubicBezTo>
                    <a:cubicBezTo>
                      <a:pt x="4366" y="804362"/>
                      <a:pt x="0" y="793821"/>
                      <a:pt x="0" y="782831"/>
                    </a:cubicBezTo>
                    <a:lnTo>
                      <a:pt x="0" y="41439"/>
                    </a:lnTo>
                    <a:cubicBezTo>
                      <a:pt x="0" y="30449"/>
                      <a:pt x="4366" y="19909"/>
                      <a:pt x="12137" y="12137"/>
                    </a:cubicBezTo>
                    <a:cubicBezTo>
                      <a:pt x="19909" y="4366"/>
                      <a:pt x="30449" y="0"/>
                      <a:pt x="41439" y="0"/>
                    </a:cubicBezTo>
                    <a:close/>
                  </a:path>
                </a:pathLst>
              </a:custGeom>
              <a:solidFill>
                <a:srgbClr val="FFFFFF"/>
              </a:solidFill>
            </p:spPr>
          </p:sp>
          <p:sp>
            <p:nvSpPr>
              <p:cNvPr name="TextBox 33" id="33"/>
              <p:cNvSpPr txBox="true"/>
              <p:nvPr/>
            </p:nvSpPr>
            <p:spPr>
              <a:xfrm>
                <a:off x="0" y="-9525"/>
                <a:ext cx="864601" cy="833795"/>
              </a:xfrm>
              <a:prstGeom prst="rect">
                <a:avLst/>
              </a:prstGeom>
            </p:spPr>
            <p:txBody>
              <a:bodyPr anchor="ctr" rtlCol="false" tIns="32490" lIns="32490" bIns="32490" rIns="32490"/>
              <a:lstStyle/>
              <a:p>
                <a:pPr algn="l">
                  <a:lnSpc>
                    <a:spcPts val="1343"/>
                  </a:lnSpc>
                </a:pPr>
              </a:p>
              <a:p>
                <a:pPr algn="l" marL="207123" indent="-103562" lvl="1">
                  <a:lnSpc>
                    <a:spcPts val="1343"/>
                  </a:lnSpc>
                  <a:buFont typeface="Arial"/>
                  <a:buChar char="•"/>
                </a:pPr>
                <a:r>
                  <a:rPr lang="en-US" sz="959" spc="24">
                    <a:solidFill>
                      <a:srgbClr val="000000"/>
                    </a:solidFill>
                    <a:latin typeface="Prompt Light"/>
                    <a:ea typeface="Prompt Light"/>
                    <a:cs typeface="Prompt Light"/>
                    <a:sym typeface="Prompt Light"/>
                  </a:rPr>
                  <a:t>Tim pengembang dan desain</a:t>
                </a:r>
              </a:p>
              <a:p>
                <a:pPr algn="l" marL="207123" indent="-103562" lvl="1">
                  <a:lnSpc>
                    <a:spcPts val="1343"/>
                  </a:lnSpc>
                  <a:buFont typeface="Arial"/>
                  <a:buChar char="•"/>
                </a:pPr>
                <a:r>
                  <a:rPr lang="en-US" sz="959" spc="24">
                    <a:solidFill>
                      <a:srgbClr val="000000"/>
                    </a:solidFill>
                    <a:latin typeface="Prompt Light"/>
                    <a:ea typeface="Prompt Light"/>
                    <a:cs typeface="Prompt Light"/>
                    <a:sym typeface="Prompt Light"/>
                  </a:rPr>
                  <a:t>Platform digital</a:t>
                </a:r>
              </a:p>
              <a:p>
                <a:pPr algn="l" marL="207123" indent="-103562" lvl="1">
                  <a:lnSpc>
                    <a:spcPts val="1343"/>
                  </a:lnSpc>
                  <a:buFont typeface="Arial"/>
                  <a:buChar char="•"/>
                </a:pPr>
                <a:r>
                  <a:rPr lang="en-US" sz="959" spc="24">
                    <a:solidFill>
                      <a:srgbClr val="000000"/>
                    </a:solidFill>
                    <a:latin typeface="Prompt Light"/>
                    <a:ea typeface="Prompt Light"/>
                    <a:cs typeface="Prompt Light"/>
                    <a:sym typeface="Prompt Light"/>
                  </a:rPr>
                  <a:t>Database pelanggan</a:t>
                </a:r>
              </a:p>
              <a:p>
                <a:pPr algn="l" marL="207123" indent="-103562" lvl="1">
                  <a:lnSpc>
                    <a:spcPts val="1343"/>
                  </a:lnSpc>
                  <a:buFont typeface="Arial"/>
                  <a:buChar char="•"/>
                </a:pPr>
                <a:r>
                  <a:rPr lang="en-US" sz="959" spc="24">
                    <a:solidFill>
                      <a:srgbClr val="000000"/>
                    </a:solidFill>
                    <a:latin typeface="Prompt Light"/>
                    <a:ea typeface="Prompt Light"/>
                    <a:cs typeface="Prompt Light"/>
                    <a:sym typeface="Prompt Light"/>
                  </a:rPr>
                  <a:t>Brand dan reputasi</a:t>
                </a:r>
              </a:p>
            </p:txBody>
          </p:sp>
        </p:grpSp>
        <p:grpSp>
          <p:nvGrpSpPr>
            <p:cNvPr name="Group 34" id="34"/>
            <p:cNvGrpSpPr/>
            <p:nvPr/>
          </p:nvGrpSpPr>
          <p:grpSpPr>
            <a:xfrm rot="0">
              <a:off x="11560607" y="5282431"/>
              <a:ext cx="3261973" cy="3087246"/>
              <a:chOff x="0" y="0"/>
              <a:chExt cx="870921" cy="824270"/>
            </a:xfrm>
          </p:grpSpPr>
          <p:sp>
            <p:nvSpPr>
              <p:cNvPr name="Freeform 35" id="35"/>
              <p:cNvSpPr/>
              <p:nvPr/>
            </p:nvSpPr>
            <p:spPr>
              <a:xfrm flipH="false" flipV="false" rot="0">
                <a:off x="0" y="0"/>
                <a:ext cx="870921" cy="824270"/>
              </a:xfrm>
              <a:custGeom>
                <a:avLst/>
                <a:gdLst/>
                <a:ahLst/>
                <a:cxnLst/>
                <a:rect r="r" b="b" t="t" l="l"/>
                <a:pathLst>
                  <a:path h="824270" w="870921">
                    <a:moveTo>
                      <a:pt x="41139" y="0"/>
                    </a:moveTo>
                    <a:lnTo>
                      <a:pt x="829782" y="0"/>
                    </a:lnTo>
                    <a:cubicBezTo>
                      <a:pt x="852503" y="0"/>
                      <a:pt x="870921" y="18418"/>
                      <a:pt x="870921" y="41139"/>
                    </a:cubicBezTo>
                    <a:lnTo>
                      <a:pt x="870921" y="783132"/>
                    </a:lnTo>
                    <a:cubicBezTo>
                      <a:pt x="870921" y="794042"/>
                      <a:pt x="866587" y="804506"/>
                      <a:pt x="858872" y="812221"/>
                    </a:cubicBezTo>
                    <a:cubicBezTo>
                      <a:pt x="851157" y="819936"/>
                      <a:pt x="840693" y="824270"/>
                      <a:pt x="829782" y="824270"/>
                    </a:cubicBezTo>
                    <a:lnTo>
                      <a:pt x="41139" y="824270"/>
                    </a:lnTo>
                    <a:cubicBezTo>
                      <a:pt x="30228" y="824270"/>
                      <a:pt x="19764" y="819936"/>
                      <a:pt x="12049" y="812221"/>
                    </a:cubicBezTo>
                    <a:cubicBezTo>
                      <a:pt x="4334" y="804506"/>
                      <a:pt x="0" y="794042"/>
                      <a:pt x="0" y="783132"/>
                    </a:cubicBezTo>
                    <a:lnTo>
                      <a:pt x="0" y="41139"/>
                    </a:lnTo>
                    <a:cubicBezTo>
                      <a:pt x="0" y="30228"/>
                      <a:pt x="4334" y="19764"/>
                      <a:pt x="12049" y="12049"/>
                    </a:cubicBezTo>
                    <a:cubicBezTo>
                      <a:pt x="19764" y="4334"/>
                      <a:pt x="30228" y="0"/>
                      <a:pt x="41139" y="0"/>
                    </a:cubicBezTo>
                    <a:close/>
                  </a:path>
                </a:pathLst>
              </a:custGeom>
              <a:solidFill>
                <a:srgbClr val="FFFFFF"/>
              </a:solidFill>
            </p:spPr>
          </p:sp>
          <p:sp>
            <p:nvSpPr>
              <p:cNvPr name="TextBox 36" id="36"/>
              <p:cNvSpPr txBox="true"/>
              <p:nvPr/>
            </p:nvSpPr>
            <p:spPr>
              <a:xfrm>
                <a:off x="0" y="-9525"/>
                <a:ext cx="870921" cy="833795"/>
              </a:xfrm>
              <a:prstGeom prst="rect">
                <a:avLst/>
              </a:prstGeom>
            </p:spPr>
            <p:txBody>
              <a:bodyPr anchor="ctr" rtlCol="false" tIns="32490" lIns="32490" bIns="32490" rIns="32490"/>
              <a:lstStyle/>
              <a:p>
                <a:pPr algn="l" marL="207123" indent="-103562" lvl="1">
                  <a:lnSpc>
                    <a:spcPts val="1343"/>
                  </a:lnSpc>
                  <a:buFont typeface="Arial"/>
                  <a:buChar char="•"/>
                </a:pPr>
                <a:r>
                  <a:rPr lang="en-US" sz="959" spc="24">
                    <a:solidFill>
                      <a:srgbClr val="000000"/>
                    </a:solidFill>
                    <a:latin typeface="Prompt Light"/>
                    <a:ea typeface="Prompt Light"/>
                    <a:cs typeface="Prompt Light"/>
                    <a:sym typeface="Prompt Light"/>
                  </a:rPr>
                  <a:t>Website dan aplikasi mobile</a:t>
                </a:r>
              </a:p>
              <a:p>
                <a:pPr algn="l" marL="207123" indent="-103562" lvl="1">
                  <a:lnSpc>
                    <a:spcPts val="1343"/>
                  </a:lnSpc>
                  <a:buFont typeface="Arial"/>
                  <a:buChar char="•"/>
                </a:pPr>
                <a:r>
                  <a:rPr lang="en-US" sz="959" spc="24">
                    <a:solidFill>
                      <a:srgbClr val="000000"/>
                    </a:solidFill>
                    <a:latin typeface="Prompt Light"/>
                    <a:ea typeface="Prompt Light"/>
                    <a:cs typeface="Prompt Light"/>
                    <a:sym typeface="Prompt Light"/>
                  </a:rPr>
                  <a:t>Media sosial (Instagram, Tiktok, LinkedIn)</a:t>
                </a:r>
              </a:p>
              <a:p>
                <a:pPr algn="l" marL="207123" indent="-103562" lvl="1">
                  <a:lnSpc>
                    <a:spcPts val="1343"/>
                  </a:lnSpc>
                  <a:buFont typeface="Arial"/>
                  <a:buChar char="•"/>
                </a:pPr>
                <a:r>
                  <a:rPr lang="en-US" sz="959" spc="24">
                    <a:solidFill>
                      <a:srgbClr val="000000"/>
                    </a:solidFill>
                    <a:latin typeface="Prompt Light"/>
                    <a:ea typeface="Prompt Light"/>
                    <a:cs typeface="Prompt Light"/>
                    <a:sym typeface="Prompt Light"/>
                  </a:rPr>
                  <a:t>Email marketing</a:t>
                </a:r>
              </a:p>
            </p:txBody>
          </p:sp>
        </p:grpSp>
        <p:sp>
          <p:nvSpPr>
            <p:cNvPr name="TextBox 37" id="37"/>
            <p:cNvSpPr txBox="true"/>
            <p:nvPr/>
          </p:nvSpPr>
          <p:spPr>
            <a:xfrm rot="0">
              <a:off x="4503727" y="2240524"/>
              <a:ext cx="2412174" cy="301530"/>
            </a:xfrm>
            <a:prstGeom prst="rect">
              <a:avLst/>
            </a:prstGeom>
          </p:spPr>
          <p:txBody>
            <a:bodyPr anchor="t" rtlCol="false" tIns="0" lIns="0" bIns="0" rIns="0">
              <a:spAutoFit/>
            </a:bodyPr>
            <a:lstStyle/>
            <a:p>
              <a:pPr algn="l" marL="0" indent="0" lvl="0">
                <a:lnSpc>
                  <a:spcPts val="1775"/>
                </a:lnSpc>
                <a:spcBef>
                  <a:spcPct val="0"/>
                </a:spcBef>
              </a:pPr>
              <a:r>
                <a:rPr lang="en-US" b="true" sz="1479" strike="noStrike" u="none">
                  <a:solidFill>
                    <a:srgbClr val="2F3B69"/>
                  </a:solidFill>
                  <a:latin typeface="Josefin Sans Bold"/>
                  <a:ea typeface="Josefin Sans Bold"/>
                  <a:cs typeface="Josefin Sans Bold"/>
                  <a:sym typeface="Josefin Sans Bold"/>
                </a:rPr>
                <a:t>KEY ACTIVITIES</a:t>
              </a:r>
            </a:p>
          </p:txBody>
        </p:sp>
        <p:grpSp>
          <p:nvGrpSpPr>
            <p:cNvPr name="Group 38" id="38"/>
            <p:cNvGrpSpPr/>
            <p:nvPr/>
          </p:nvGrpSpPr>
          <p:grpSpPr>
            <a:xfrm rot="0">
              <a:off x="3357556" y="2045661"/>
              <a:ext cx="794736" cy="745039"/>
              <a:chOff x="0" y="0"/>
              <a:chExt cx="191174" cy="179219"/>
            </a:xfrm>
          </p:grpSpPr>
          <p:sp>
            <p:nvSpPr>
              <p:cNvPr name="Freeform 39" id="39"/>
              <p:cNvSpPr/>
              <p:nvPr/>
            </p:nvSpPr>
            <p:spPr>
              <a:xfrm flipH="false" flipV="false" rot="0">
                <a:off x="0" y="0"/>
                <a:ext cx="191174" cy="179219"/>
              </a:xfrm>
              <a:custGeom>
                <a:avLst/>
                <a:gdLst/>
                <a:ahLst/>
                <a:cxnLst/>
                <a:rect r="r" b="b" t="t" l="l"/>
                <a:pathLst>
                  <a:path h="179219" w="191174">
                    <a:moveTo>
                      <a:pt x="77932" y="0"/>
                    </a:moveTo>
                    <a:lnTo>
                      <a:pt x="113242" y="0"/>
                    </a:lnTo>
                    <a:cubicBezTo>
                      <a:pt x="133911" y="0"/>
                      <a:pt x="153733" y="8211"/>
                      <a:pt x="168348" y="22826"/>
                    </a:cubicBezTo>
                    <a:cubicBezTo>
                      <a:pt x="182963" y="37441"/>
                      <a:pt x="191174" y="57263"/>
                      <a:pt x="191174" y="77932"/>
                    </a:cubicBezTo>
                    <a:lnTo>
                      <a:pt x="191174" y="101287"/>
                    </a:lnTo>
                    <a:cubicBezTo>
                      <a:pt x="191174" y="121956"/>
                      <a:pt x="182963" y="141779"/>
                      <a:pt x="168348" y="156394"/>
                    </a:cubicBezTo>
                    <a:cubicBezTo>
                      <a:pt x="153733" y="171009"/>
                      <a:pt x="133911" y="179219"/>
                      <a:pt x="113242" y="179219"/>
                    </a:cubicBezTo>
                    <a:lnTo>
                      <a:pt x="77932" y="179219"/>
                    </a:lnTo>
                    <a:cubicBezTo>
                      <a:pt x="57263" y="179219"/>
                      <a:pt x="37441" y="171009"/>
                      <a:pt x="22826" y="156394"/>
                    </a:cubicBezTo>
                    <a:cubicBezTo>
                      <a:pt x="8211" y="141779"/>
                      <a:pt x="0" y="121956"/>
                      <a:pt x="0" y="101287"/>
                    </a:cubicBezTo>
                    <a:lnTo>
                      <a:pt x="0" y="77932"/>
                    </a:lnTo>
                    <a:cubicBezTo>
                      <a:pt x="0" y="57263"/>
                      <a:pt x="8211" y="37441"/>
                      <a:pt x="22826" y="22826"/>
                    </a:cubicBezTo>
                    <a:cubicBezTo>
                      <a:pt x="37441" y="8211"/>
                      <a:pt x="57263" y="0"/>
                      <a:pt x="77932" y="0"/>
                    </a:cubicBezTo>
                    <a:close/>
                  </a:path>
                </a:pathLst>
              </a:custGeom>
              <a:solidFill>
                <a:srgbClr val="4E62AF"/>
              </a:solidFill>
            </p:spPr>
          </p:sp>
          <p:sp>
            <p:nvSpPr>
              <p:cNvPr name="TextBox 40" id="40"/>
              <p:cNvSpPr txBox="true"/>
              <p:nvPr/>
            </p:nvSpPr>
            <p:spPr>
              <a:xfrm>
                <a:off x="0" y="-9525"/>
                <a:ext cx="191174" cy="188744"/>
              </a:xfrm>
              <a:prstGeom prst="rect">
                <a:avLst/>
              </a:prstGeom>
            </p:spPr>
            <p:txBody>
              <a:bodyPr anchor="ctr" rtlCol="false" tIns="32490" lIns="32490" bIns="32490" rIns="32490"/>
              <a:lstStyle/>
              <a:p>
                <a:pPr algn="ctr">
                  <a:lnSpc>
                    <a:spcPts val="1343"/>
                  </a:lnSpc>
                </a:pPr>
              </a:p>
            </p:txBody>
          </p:sp>
        </p:grpSp>
        <p:grpSp>
          <p:nvGrpSpPr>
            <p:cNvPr name="Group 41" id="41"/>
            <p:cNvGrpSpPr/>
            <p:nvPr/>
          </p:nvGrpSpPr>
          <p:grpSpPr>
            <a:xfrm rot="0">
              <a:off x="6744093" y="2045661"/>
              <a:ext cx="794736" cy="745039"/>
              <a:chOff x="0" y="0"/>
              <a:chExt cx="191174" cy="179219"/>
            </a:xfrm>
          </p:grpSpPr>
          <p:sp>
            <p:nvSpPr>
              <p:cNvPr name="Freeform 42" id="42"/>
              <p:cNvSpPr/>
              <p:nvPr/>
            </p:nvSpPr>
            <p:spPr>
              <a:xfrm flipH="false" flipV="false" rot="0">
                <a:off x="0" y="0"/>
                <a:ext cx="191174" cy="179219"/>
              </a:xfrm>
              <a:custGeom>
                <a:avLst/>
                <a:gdLst/>
                <a:ahLst/>
                <a:cxnLst/>
                <a:rect r="r" b="b" t="t" l="l"/>
                <a:pathLst>
                  <a:path h="179219" w="191174">
                    <a:moveTo>
                      <a:pt x="77932" y="0"/>
                    </a:moveTo>
                    <a:lnTo>
                      <a:pt x="113242" y="0"/>
                    </a:lnTo>
                    <a:cubicBezTo>
                      <a:pt x="133911" y="0"/>
                      <a:pt x="153733" y="8211"/>
                      <a:pt x="168348" y="22826"/>
                    </a:cubicBezTo>
                    <a:cubicBezTo>
                      <a:pt x="182963" y="37441"/>
                      <a:pt x="191174" y="57263"/>
                      <a:pt x="191174" y="77932"/>
                    </a:cubicBezTo>
                    <a:lnTo>
                      <a:pt x="191174" y="101287"/>
                    </a:lnTo>
                    <a:cubicBezTo>
                      <a:pt x="191174" y="121956"/>
                      <a:pt x="182963" y="141779"/>
                      <a:pt x="168348" y="156394"/>
                    </a:cubicBezTo>
                    <a:cubicBezTo>
                      <a:pt x="153733" y="171009"/>
                      <a:pt x="133911" y="179219"/>
                      <a:pt x="113242" y="179219"/>
                    </a:cubicBezTo>
                    <a:lnTo>
                      <a:pt x="77932" y="179219"/>
                    </a:lnTo>
                    <a:cubicBezTo>
                      <a:pt x="57263" y="179219"/>
                      <a:pt x="37441" y="171009"/>
                      <a:pt x="22826" y="156394"/>
                    </a:cubicBezTo>
                    <a:cubicBezTo>
                      <a:pt x="8211" y="141779"/>
                      <a:pt x="0" y="121956"/>
                      <a:pt x="0" y="101287"/>
                    </a:cubicBezTo>
                    <a:lnTo>
                      <a:pt x="0" y="77932"/>
                    </a:lnTo>
                    <a:cubicBezTo>
                      <a:pt x="0" y="57263"/>
                      <a:pt x="8211" y="37441"/>
                      <a:pt x="22826" y="22826"/>
                    </a:cubicBezTo>
                    <a:cubicBezTo>
                      <a:pt x="37441" y="8211"/>
                      <a:pt x="57263" y="0"/>
                      <a:pt x="77932" y="0"/>
                    </a:cubicBezTo>
                    <a:close/>
                  </a:path>
                </a:pathLst>
              </a:custGeom>
              <a:solidFill>
                <a:srgbClr val="4E62AF"/>
              </a:solidFill>
            </p:spPr>
          </p:sp>
          <p:sp>
            <p:nvSpPr>
              <p:cNvPr name="TextBox 43" id="43"/>
              <p:cNvSpPr txBox="true"/>
              <p:nvPr/>
            </p:nvSpPr>
            <p:spPr>
              <a:xfrm>
                <a:off x="0" y="-9525"/>
                <a:ext cx="191174" cy="188744"/>
              </a:xfrm>
              <a:prstGeom prst="rect">
                <a:avLst/>
              </a:prstGeom>
            </p:spPr>
            <p:txBody>
              <a:bodyPr anchor="ctr" rtlCol="false" tIns="32490" lIns="32490" bIns="32490" rIns="32490"/>
              <a:lstStyle/>
              <a:p>
                <a:pPr algn="ctr">
                  <a:lnSpc>
                    <a:spcPts val="1343"/>
                  </a:lnSpc>
                </a:pPr>
              </a:p>
            </p:txBody>
          </p:sp>
        </p:grpSp>
        <p:grpSp>
          <p:nvGrpSpPr>
            <p:cNvPr name="Group 44" id="44"/>
            <p:cNvGrpSpPr/>
            <p:nvPr/>
          </p:nvGrpSpPr>
          <p:grpSpPr>
            <a:xfrm rot="0">
              <a:off x="6739619" y="5282431"/>
              <a:ext cx="794736" cy="745039"/>
              <a:chOff x="0" y="0"/>
              <a:chExt cx="191174" cy="179219"/>
            </a:xfrm>
          </p:grpSpPr>
          <p:sp>
            <p:nvSpPr>
              <p:cNvPr name="Freeform 45" id="45"/>
              <p:cNvSpPr/>
              <p:nvPr/>
            </p:nvSpPr>
            <p:spPr>
              <a:xfrm flipH="false" flipV="false" rot="0">
                <a:off x="0" y="0"/>
                <a:ext cx="191174" cy="179219"/>
              </a:xfrm>
              <a:custGeom>
                <a:avLst/>
                <a:gdLst/>
                <a:ahLst/>
                <a:cxnLst/>
                <a:rect r="r" b="b" t="t" l="l"/>
                <a:pathLst>
                  <a:path h="179219" w="191174">
                    <a:moveTo>
                      <a:pt x="77932" y="0"/>
                    </a:moveTo>
                    <a:lnTo>
                      <a:pt x="113242" y="0"/>
                    </a:lnTo>
                    <a:cubicBezTo>
                      <a:pt x="133911" y="0"/>
                      <a:pt x="153733" y="8211"/>
                      <a:pt x="168348" y="22826"/>
                    </a:cubicBezTo>
                    <a:cubicBezTo>
                      <a:pt x="182963" y="37441"/>
                      <a:pt x="191174" y="57263"/>
                      <a:pt x="191174" y="77932"/>
                    </a:cubicBezTo>
                    <a:lnTo>
                      <a:pt x="191174" y="101287"/>
                    </a:lnTo>
                    <a:cubicBezTo>
                      <a:pt x="191174" y="121956"/>
                      <a:pt x="182963" y="141779"/>
                      <a:pt x="168348" y="156394"/>
                    </a:cubicBezTo>
                    <a:cubicBezTo>
                      <a:pt x="153733" y="171009"/>
                      <a:pt x="133911" y="179219"/>
                      <a:pt x="113242" y="179219"/>
                    </a:cubicBezTo>
                    <a:lnTo>
                      <a:pt x="77932" y="179219"/>
                    </a:lnTo>
                    <a:cubicBezTo>
                      <a:pt x="57263" y="179219"/>
                      <a:pt x="37441" y="171009"/>
                      <a:pt x="22826" y="156394"/>
                    </a:cubicBezTo>
                    <a:cubicBezTo>
                      <a:pt x="8211" y="141779"/>
                      <a:pt x="0" y="121956"/>
                      <a:pt x="0" y="101287"/>
                    </a:cubicBezTo>
                    <a:lnTo>
                      <a:pt x="0" y="77932"/>
                    </a:lnTo>
                    <a:cubicBezTo>
                      <a:pt x="0" y="57263"/>
                      <a:pt x="8211" y="37441"/>
                      <a:pt x="22826" y="22826"/>
                    </a:cubicBezTo>
                    <a:cubicBezTo>
                      <a:pt x="37441" y="8211"/>
                      <a:pt x="57263" y="0"/>
                      <a:pt x="77932" y="0"/>
                    </a:cubicBezTo>
                    <a:close/>
                  </a:path>
                </a:pathLst>
              </a:custGeom>
              <a:solidFill>
                <a:srgbClr val="4E62AF"/>
              </a:solidFill>
            </p:spPr>
          </p:sp>
          <p:sp>
            <p:nvSpPr>
              <p:cNvPr name="TextBox 46" id="46"/>
              <p:cNvSpPr txBox="true"/>
              <p:nvPr/>
            </p:nvSpPr>
            <p:spPr>
              <a:xfrm>
                <a:off x="0" y="-9525"/>
                <a:ext cx="191174" cy="188744"/>
              </a:xfrm>
              <a:prstGeom prst="rect">
                <a:avLst/>
              </a:prstGeom>
            </p:spPr>
            <p:txBody>
              <a:bodyPr anchor="ctr" rtlCol="false" tIns="32490" lIns="32490" bIns="32490" rIns="32490"/>
              <a:lstStyle/>
              <a:p>
                <a:pPr algn="ctr">
                  <a:lnSpc>
                    <a:spcPts val="1343"/>
                  </a:lnSpc>
                </a:pPr>
              </a:p>
            </p:txBody>
          </p:sp>
        </p:grpSp>
        <p:grpSp>
          <p:nvGrpSpPr>
            <p:cNvPr name="Group 47" id="47"/>
            <p:cNvGrpSpPr/>
            <p:nvPr/>
          </p:nvGrpSpPr>
          <p:grpSpPr>
            <a:xfrm rot="0">
              <a:off x="8691750" y="8508221"/>
              <a:ext cx="794736" cy="745039"/>
              <a:chOff x="0" y="0"/>
              <a:chExt cx="191174" cy="179219"/>
            </a:xfrm>
          </p:grpSpPr>
          <p:sp>
            <p:nvSpPr>
              <p:cNvPr name="Freeform 48" id="48"/>
              <p:cNvSpPr/>
              <p:nvPr/>
            </p:nvSpPr>
            <p:spPr>
              <a:xfrm flipH="false" flipV="false" rot="0">
                <a:off x="0" y="0"/>
                <a:ext cx="191174" cy="179219"/>
              </a:xfrm>
              <a:custGeom>
                <a:avLst/>
                <a:gdLst/>
                <a:ahLst/>
                <a:cxnLst/>
                <a:rect r="r" b="b" t="t" l="l"/>
                <a:pathLst>
                  <a:path h="179219" w="191174">
                    <a:moveTo>
                      <a:pt x="77932" y="0"/>
                    </a:moveTo>
                    <a:lnTo>
                      <a:pt x="113242" y="0"/>
                    </a:lnTo>
                    <a:cubicBezTo>
                      <a:pt x="133911" y="0"/>
                      <a:pt x="153733" y="8211"/>
                      <a:pt x="168348" y="22826"/>
                    </a:cubicBezTo>
                    <a:cubicBezTo>
                      <a:pt x="182963" y="37441"/>
                      <a:pt x="191174" y="57263"/>
                      <a:pt x="191174" y="77932"/>
                    </a:cubicBezTo>
                    <a:lnTo>
                      <a:pt x="191174" y="101287"/>
                    </a:lnTo>
                    <a:cubicBezTo>
                      <a:pt x="191174" y="121956"/>
                      <a:pt x="182963" y="141779"/>
                      <a:pt x="168348" y="156394"/>
                    </a:cubicBezTo>
                    <a:cubicBezTo>
                      <a:pt x="153733" y="171009"/>
                      <a:pt x="133911" y="179219"/>
                      <a:pt x="113242" y="179219"/>
                    </a:cubicBezTo>
                    <a:lnTo>
                      <a:pt x="77932" y="179219"/>
                    </a:lnTo>
                    <a:cubicBezTo>
                      <a:pt x="57263" y="179219"/>
                      <a:pt x="37441" y="171009"/>
                      <a:pt x="22826" y="156394"/>
                    </a:cubicBezTo>
                    <a:cubicBezTo>
                      <a:pt x="8211" y="141779"/>
                      <a:pt x="0" y="121956"/>
                      <a:pt x="0" y="101287"/>
                    </a:cubicBezTo>
                    <a:lnTo>
                      <a:pt x="0" y="77932"/>
                    </a:lnTo>
                    <a:cubicBezTo>
                      <a:pt x="0" y="57263"/>
                      <a:pt x="8211" y="37441"/>
                      <a:pt x="22826" y="22826"/>
                    </a:cubicBezTo>
                    <a:cubicBezTo>
                      <a:pt x="37441" y="8211"/>
                      <a:pt x="57263" y="0"/>
                      <a:pt x="77932" y="0"/>
                    </a:cubicBezTo>
                    <a:close/>
                  </a:path>
                </a:pathLst>
              </a:custGeom>
              <a:solidFill>
                <a:srgbClr val="4E62AF"/>
              </a:solidFill>
            </p:spPr>
          </p:sp>
          <p:sp>
            <p:nvSpPr>
              <p:cNvPr name="TextBox 49" id="49"/>
              <p:cNvSpPr txBox="true"/>
              <p:nvPr/>
            </p:nvSpPr>
            <p:spPr>
              <a:xfrm>
                <a:off x="0" y="-9525"/>
                <a:ext cx="191174" cy="188744"/>
              </a:xfrm>
              <a:prstGeom prst="rect">
                <a:avLst/>
              </a:prstGeom>
            </p:spPr>
            <p:txBody>
              <a:bodyPr anchor="ctr" rtlCol="false" tIns="32490" lIns="32490" bIns="32490" rIns="32490"/>
              <a:lstStyle/>
              <a:p>
                <a:pPr algn="ctr">
                  <a:lnSpc>
                    <a:spcPts val="1343"/>
                  </a:lnSpc>
                </a:pPr>
              </a:p>
            </p:txBody>
          </p:sp>
        </p:grpSp>
        <p:grpSp>
          <p:nvGrpSpPr>
            <p:cNvPr name="Group 50" id="50"/>
            <p:cNvGrpSpPr/>
            <p:nvPr/>
          </p:nvGrpSpPr>
          <p:grpSpPr>
            <a:xfrm rot="0">
              <a:off x="17910533" y="8508221"/>
              <a:ext cx="794736" cy="745039"/>
              <a:chOff x="0" y="0"/>
              <a:chExt cx="191174" cy="179219"/>
            </a:xfrm>
          </p:grpSpPr>
          <p:sp>
            <p:nvSpPr>
              <p:cNvPr name="Freeform 51" id="51"/>
              <p:cNvSpPr/>
              <p:nvPr/>
            </p:nvSpPr>
            <p:spPr>
              <a:xfrm flipH="false" flipV="false" rot="0">
                <a:off x="0" y="0"/>
                <a:ext cx="191174" cy="179219"/>
              </a:xfrm>
              <a:custGeom>
                <a:avLst/>
                <a:gdLst/>
                <a:ahLst/>
                <a:cxnLst/>
                <a:rect r="r" b="b" t="t" l="l"/>
                <a:pathLst>
                  <a:path h="179219" w="191174">
                    <a:moveTo>
                      <a:pt x="77932" y="0"/>
                    </a:moveTo>
                    <a:lnTo>
                      <a:pt x="113242" y="0"/>
                    </a:lnTo>
                    <a:cubicBezTo>
                      <a:pt x="133911" y="0"/>
                      <a:pt x="153733" y="8211"/>
                      <a:pt x="168348" y="22826"/>
                    </a:cubicBezTo>
                    <a:cubicBezTo>
                      <a:pt x="182963" y="37441"/>
                      <a:pt x="191174" y="57263"/>
                      <a:pt x="191174" y="77932"/>
                    </a:cubicBezTo>
                    <a:lnTo>
                      <a:pt x="191174" y="101287"/>
                    </a:lnTo>
                    <a:cubicBezTo>
                      <a:pt x="191174" y="121956"/>
                      <a:pt x="182963" y="141779"/>
                      <a:pt x="168348" y="156394"/>
                    </a:cubicBezTo>
                    <a:cubicBezTo>
                      <a:pt x="153733" y="171009"/>
                      <a:pt x="133911" y="179219"/>
                      <a:pt x="113242" y="179219"/>
                    </a:cubicBezTo>
                    <a:lnTo>
                      <a:pt x="77932" y="179219"/>
                    </a:lnTo>
                    <a:cubicBezTo>
                      <a:pt x="57263" y="179219"/>
                      <a:pt x="37441" y="171009"/>
                      <a:pt x="22826" y="156394"/>
                    </a:cubicBezTo>
                    <a:cubicBezTo>
                      <a:pt x="8211" y="141779"/>
                      <a:pt x="0" y="121956"/>
                      <a:pt x="0" y="101287"/>
                    </a:cubicBezTo>
                    <a:lnTo>
                      <a:pt x="0" y="77932"/>
                    </a:lnTo>
                    <a:cubicBezTo>
                      <a:pt x="0" y="57263"/>
                      <a:pt x="8211" y="37441"/>
                      <a:pt x="22826" y="22826"/>
                    </a:cubicBezTo>
                    <a:cubicBezTo>
                      <a:pt x="37441" y="8211"/>
                      <a:pt x="57263" y="0"/>
                      <a:pt x="77932" y="0"/>
                    </a:cubicBezTo>
                    <a:close/>
                  </a:path>
                </a:pathLst>
              </a:custGeom>
              <a:solidFill>
                <a:srgbClr val="4E62AF"/>
              </a:solidFill>
            </p:spPr>
          </p:sp>
          <p:sp>
            <p:nvSpPr>
              <p:cNvPr name="TextBox 52" id="52"/>
              <p:cNvSpPr txBox="true"/>
              <p:nvPr/>
            </p:nvSpPr>
            <p:spPr>
              <a:xfrm>
                <a:off x="0" y="-9525"/>
                <a:ext cx="191174" cy="188744"/>
              </a:xfrm>
              <a:prstGeom prst="rect">
                <a:avLst/>
              </a:prstGeom>
            </p:spPr>
            <p:txBody>
              <a:bodyPr anchor="ctr" rtlCol="false" tIns="32490" lIns="32490" bIns="32490" rIns="32490"/>
              <a:lstStyle/>
              <a:p>
                <a:pPr algn="ctr">
                  <a:lnSpc>
                    <a:spcPts val="1343"/>
                  </a:lnSpc>
                </a:pPr>
              </a:p>
            </p:txBody>
          </p:sp>
        </p:grpSp>
        <p:grpSp>
          <p:nvGrpSpPr>
            <p:cNvPr name="Group 53" id="53"/>
            <p:cNvGrpSpPr/>
            <p:nvPr/>
          </p:nvGrpSpPr>
          <p:grpSpPr>
            <a:xfrm rot="0">
              <a:off x="14027844" y="5282431"/>
              <a:ext cx="794736" cy="745039"/>
              <a:chOff x="0" y="0"/>
              <a:chExt cx="191174" cy="179219"/>
            </a:xfrm>
          </p:grpSpPr>
          <p:sp>
            <p:nvSpPr>
              <p:cNvPr name="Freeform 54" id="54"/>
              <p:cNvSpPr/>
              <p:nvPr/>
            </p:nvSpPr>
            <p:spPr>
              <a:xfrm flipH="false" flipV="false" rot="0">
                <a:off x="0" y="0"/>
                <a:ext cx="191174" cy="179219"/>
              </a:xfrm>
              <a:custGeom>
                <a:avLst/>
                <a:gdLst/>
                <a:ahLst/>
                <a:cxnLst/>
                <a:rect r="r" b="b" t="t" l="l"/>
                <a:pathLst>
                  <a:path h="179219" w="191174">
                    <a:moveTo>
                      <a:pt x="77932" y="0"/>
                    </a:moveTo>
                    <a:lnTo>
                      <a:pt x="113242" y="0"/>
                    </a:lnTo>
                    <a:cubicBezTo>
                      <a:pt x="133911" y="0"/>
                      <a:pt x="153733" y="8211"/>
                      <a:pt x="168348" y="22826"/>
                    </a:cubicBezTo>
                    <a:cubicBezTo>
                      <a:pt x="182963" y="37441"/>
                      <a:pt x="191174" y="57263"/>
                      <a:pt x="191174" y="77932"/>
                    </a:cubicBezTo>
                    <a:lnTo>
                      <a:pt x="191174" y="101287"/>
                    </a:lnTo>
                    <a:cubicBezTo>
                      <a:pt x="191174" y="121956"/>
                      <a:pt x="182963" y="141779"/>
                      <a:pt x="168348" y="156394"/>
                    </a:cubicBezTo>
                    <a:cubicBezTo>
                      <a:pt x="153733" y="171009"/>
                      <a:pt x="133911" y="179219"/>
                      <a:pt x="113242" y="179219"/>
                    </a:cubicBezTo>
                    <a:lnTo>
                      <a:pt x="77932" y="179219"/>
                    </a:lnTo>
                    <a:cubicBezTo>
                      <a:pt x="57263" y="179219"/>
                      <a:pt x="37441" y="171009"/>
                      <a:pt x="22826" y="156394"/>
                    </a:cubicBezTo>
                    <a:cubicBezTo>
                      <a:pt x="8211" y="141779"/>
                      <a:pt x="0" y="121956"/>
                      <a:pt x="0" y="101287"/>
                    </a:cubicBezTo>
                    <a:lnTo>
                      <a:pt x="0" y="77932"/>
                    </a:lnTo>
                    <a:cubicBezTo>
                      <a:pt x="0" y="57263"/>
                      <a:pt x="8211" y="37441"/>
                      <a:pt x="22826" y="22826"/>
                    </a:cubicBezTo>
                    <a:cubicBezTo>
                      <a:pt x="37441" y="8211"/>
                      <a:pt x="57263" y="0"/>
                      <a:pt x="77932" y="0"/>
                    </a:cubicBezTo>
                    <a:close/>
                  </a:path>
                </a:pathLst>
              </a:custGeom>
              <a:solidFill>
                <a:srgbClr val="4E62AF"/>
              </a:solidFill>
            </p:spPr>
          </p:sp>
          <p:sp>
            <p:nvSpPr>
              <p:cNvPr name="TextBox 55" id="55"/>
              <p:cNvSpPr txBox="true"/>
              <p:nvPr/>
            </p:nvSpPr>
            <p:spPr>
              <a:xfrm>
                <a:off x="0" y="-9525"/>
                <a:ext cx="191174" cy="188744"/>
              </a:xfrm>
              <a:prstGeom prst="rect">
                <a:avLst/>
              </a:prstGeom>
            </p:spPr>
            <p:txBody>
              <a:bodyPr anchor="ctr" rtlCol="false" tIns="32490" lIns="32490" bIns="32490" rIns="32490"/>
              <a:lstStyle/>
              <a:p>
                <a:pPr algn="ctr">
                  <a:lnSpc>
                    <a:spcPts val="1343"/>
                  </a:lnSpc>
                </a:pPr>
              </a:p>
            </p:txBody>
          </p:sp>
        </p:grpSp>
        <p:grpSp>
          <p:nvGrpSpPr>
            <p:cNvPr name="Group 56" id="56"/>
            <p:cNvGrpSpPr/>
            <p:nvPr/>
          </p:nvGrpSpPr>
          <p:grpSpPr>
            <a:xfrm rot="0">
              <a:off x="10631804" y="2045661"/>
              <a:ext cx="794736" cy="745039"/>
              <a:chOff x="0" y="0"/>
              <a:chExt cx="191174" cy="179219"/>
            </a:xfrm>
          </p:grpSpPr>
          <p:sp>
            <p:nvSpPr>
              <p:cNvPr name="Freeform 57" id="57"/>
              <p:cNvSpPr/>
              <p:nvPr/>
            </p:nvSpPr>
            <p:spPr>
              <a:xfrm flipH="false" flipV="false" rot="0">
                <a:off x="0" y="0"/>
                <a:ext cx="191174" cy="179219"/>
              </a:xfrm>
              <a:custGeom>
                <a:avLst/>
                <a:gdLst/>
                <a:ahLst/>
                <a:cxnLst/>
                <a:rect r="r" b="b" t="t" l="l"/>
                <a:pathLst>
                  <a:path h="179219" w="191174">
                    <a:moveTo>
                      <a:pt x="77932" y="0"/>
                    </a:moveTo>
                    <a:lnTo>
                      <a:pt x="113242" y="0"/>
                    </a:lnTo>
                    <a:cubicBezTo>
                      <a:pt x="133911" y="0"/>
                      <a:pt x="153733" y="8211"/>
                      <a:pt x="168348" y="22826"/>
                    </a:cubicBezTo>
                    <a:cubicBezTo>
                      <a:pt x="182963" y="37441"/>
                      <a:pt x="191174" y="57263"/>
                      <a:pt x="191174" y="77932"/>
                    </a:cubicBezTo>
                    <a:lnTo>
                      <a:pt x="191174" y="101287"/>
                    </a:lnTo>
                    <a:cubicBezTo>
                      <a:pt x="191174" y="121956"/>
                      <a:pt x="182963" y="141779"/>
                      <a:pt x="168348" y="156394"/>
                    </a:cubicBezTo>
                    <a:cubicBezTo>
                      <a:pt x="153733" y="171009"/>
                      <a:pt x="133911" y="179219"/>
                      <a:pt x="113242" y="179219"/>
                    </a:cubicBezTo>
                    <a:lnTo>
                      <a:pt x="77932" y="179219"/>
                    </a:lnTo>
                    <a:cubicBezTo>
                      <a:pt x="57263" y="179219"/>
                      <a:pt x="37441" y="171009"/>
                      <a:pt x="22826" y="156394"/>
                    </a:cubicBezTo>
                    <a:cubicBezTo>
                      <a:pt x="8211" y="141779"/>
                      <a:pt x="0" y="121956"/>
                      <a:pt x="0" y="101287"/>
                    </a:cubicBezTo>
                    <a:lnTo>
                      <a:pt x="0" y="77932"/>
                    </a:lnTo>
                    <a:cubicBezTo>
                      <a:pt x="0" y="57263"/>
                      <a:pt x="8211" y="37441"/>
                      <a:pt x="22826" y="22826"/>
                    </a:cubicBezTo>
                    <a:cubicBezTo>
                      <a:pt x="37441" y="8211"/>
                      <a:pt x="57263" y="0"/>
                      <a:pt x="77932" y="0"/>
                    </a:cubicBezTo>
                    <a:close/>
                  </a:path>
                </a:pathLst>
              </a:custGeom>
              <a:solidFill>
                <a:srgbClr val="4E62AF"/>
              </a:solidFill>
            </p:spPr>
          </p:sp>
          <p:sp>
            <p:nvSpPr>
              <p:cNvPr name="TextBox 58" id="58"/>
              <p:cNvSpPr txBox="true"/>
              <p:nvPr/>
            </p:nvSpPr>
            <p:spPr>
              <a:xfrm>
                <a:off x="0" y="-9525"/>
                <a:ext cx="191174" cy="188744"/>
              </a:xfrm>
              <a:prstGeom prst="rect">
                <a:avLst/>
              </a:prstGeom>
            </p:spPr>
            <p:txBody>
              <a:bodyPr anchor="ctr" rtlCol="false" tIns="32490" lIns="32490" bIns="32490" rIns="32490"/>
              <a:lstStyle/>
              <a:p>
                <a:pPr algn="ctr">
                  <a:lnSpc>
                    <a:spcPts val="1343"/>
                  </a:lnSpc>
                </a:pPr>
              </a:p>
            </p:txBody>
          </p:sp>
        </p:grpSp>
        <p:grpSp>
          <p:nvGrpSpPr>
            <p:cNvPr name="Group 59" id="59"/>
            <p:cNvGrpSpPr/>
            <p:nvPr/>
          </p:nvGrpSpPr>
          <p:grpSpPr>
            <a:xfrm rot="0">
              <a:off x="14016108" y="2045661"/>
              <a:ext cx="794736" cy="745039"/>
              <a:chOff x="0" y="0"/>
              <a:chExt cx="191174" cy="179219"/>
            </a:xfrm>
          </p:grpSpPr>
          <p:sp>
            <p:nvSpPr>
              <p:cNvPr name="Freeform 60" id="60"/>
              <p:cNvSpPr/>
              <p:nvPr/>
            </p:nvSpPr>
            <p:spPr>
              <a:xfrm flipH="false" flipV="false" rot="0">
                <a:off x="0" y="0"/>
                <a:ext cx="191174" cy="179219"/>
              </a:xfrm>
              <a:custGeom>
                <a:avLst/>
                <a:gdLst/>
                <a:ahLst/>
                <a:cxnLst/>
                <a:rect r="r" b="b" t="t" l="l"/>
                <a:pathLst>
                  <a:path h="179219" w="191174">
                    <a:moveTo>
                      <a:pt x="77932" y="0"/>
                    </a:moveTo>
                    <a:lnTo>
                      <a:pt x="113242" y="0"/>
                    </a:lnTo>
                    <a:cubicBezTo>
                      <a:pt x="133911" y="0"/>
                      <a:pt x="153733" y="8211"/>
                      <a:pt x="168348" y="22826"/>
                    </a:cubicBezTo>
                    <a:cubicBezTo>
                      <a:pt x="182963" y="37441"/>
                      <a:pt x="191174" y="57263"/>
                      <a:pt x="191174" y="77932"/>
                    </a:cubicBezTo>
                    <a:lnTo>
                      <a:pt x="191174" y="101287"/>
                    </a:lnTo>
                    <a:cubicBezTo>
                      <a:pt x="191174" y="121956"/>
                      <a:pt x="182963" y="141779"/>
                      <a:pt x="168348" y="156394"/>
                    </a:cubicBezTo>
                    <a:cubicBezTo>
                      <a:pt x="153733" y="171009"/>
                      <a:pt x="133911" y="179219"/>
                      <a:pt x="113242" y="179219"/>
                    </a:cubicBezTo>
                    <a:lnTo>
                      <a:pt x="77932" y="179219"/>
                    </a:lnTo>
                    <a:cubicBezTo>
                      <a:pt x="57263" y="179219"/>
                      <a:pt x="37441" y="171009"/>
                      <a:pt x="22826" y="156394"/>
                    </a:cubicBezTo>
                    <a:cubicBezTo>
                      <a:pt x="8211" y="141779"/>
                      <a:pt x="0" y="121956"/>
                      <a:pt x="0" y="101287"/>
                    </a:cubicBezTo>
                    <a:lnTo>
                      <a:pt x="0" y="77932"/>
                    </a:lnTo>
                    <a:cubicBezTo>
                      <a:pt x="0" y="57263"/>
                      <a:pt x="8211" y="37441"/>
                      <a:pt x="22826" y="22826"/>
                    </a:cubicBezTo>
                    <a:cubicBezTo>
                      <a:pt x="37441" y="8211"/>
                      <a:pt x="57263" y="0"/>
                      <a:pt x="77932" y="0"/>
                    </a:cubicBezTo>
                    <a:close/>
                  </a:path>
                </a:pathLst>
              </a:custGeom>
              <a:solidFill>
                <a:srgbClr val="4E62AF"/>
              </a:solidFill>
            </p:spPr>
          </p:sp>
          <p:sp>
            <p:nvSpPr>
              <p:cNvPr name="TextBox 61" id="61"/>
              <p:cNvSpPr txBox="true"/>
              <p:nvPr/>
            </p:nvSpPr>
            <p:spPr>
              <a:xfrm>
                <a:off x="0" y="-9525"/>
                <a:ext cx="191174" cy="188744"/>
              </a:xfrm>
              <a:prstGeom prst="rect">
                <a:avLst/>
              </a:prstGeom>
            </p:spPr>
            <p:txBody>
              <a:bodyPr anchor="ctr" rtlCol="false" tIns="32490" lIns="32490" bIns="32490" rIns="32490"/>
              <a:lstStyle/>
              <a:p>
                <a:pPr algn="ctr">
                  <a:lnSpc>
                    <a:spcPts val="1343"/>
                  </a:lnSpc>
                </a:pPr>
              </a:p>
            </p:txBody>
          </p:sp>
        </p:grpSp>
        <p:grpSp>
          <p:nvGrpSpPr>
            <p:cNvPr name="Group 62" id="62"/>
            <p:cNvGrpSpPr/>
            <p:nvPr/>
          </p:nvGrpSpPr>
          <p:grpSpPr>
            <a:xfrm rot="0">
              <a:off x="17910533" y="2045661"/>
              <a:ext cx="794736" cy="745039"/>
              <a:chOff x="0" y="0"/>
              <a:chExt cx="191174" cy="179219"/>
            </a:xfrm>
          </p:grpSpPr>
          <p:sp>
            <p:nvSpPr>
              <p:cNvPr name="Freeform 63" id="63"/>
              <p:cNvSpPr/>
              <p:nvPr/>
            </p:nvSpPr>
            <p:spPr>
              <a:xfrm flipH="false" flipV="false" rot="0">
                <a:off x="0" y="0"/>
                <a:ext cx="191174" cy="179219"/>
              </a:xfrm>
              <a:custGeom>
                <a:avLst/>
                <a:gdLst/>
                <a:ahLst/>
                <a:cxnLst/>
                <a:rect r="r" b="b" t="t" l="l"/>
                <a:pathLst>
                  <a:path h="179219" w="191174">
                    <a:moveTo>
                      <a:pt x="77932" y="0"/>
                    </a:moveTo>
                    <a:lnTo>
                      <a:pt x="113242" y="0"/>
                    </a:lnTo>
                    <a:cubicBezTo>
                      <a:pt x="133911" y="0"/>
                      <a:pt x="153733" y="8211"/>
                      <a:pt x="168348" y="22826"/>
                    </a:cubicBezTo>
                    <a:cubicBezTo>
                      <a:pt x="182963" y="37441"/>
                      <a:pt x="191174" y="57263"/>
                      <a:pt x="191174" y="77932"/>
                    </a:cubicBezTo>
                    <a:lnTo>
                      <a:pt x="191174" y="101287"/>
                    </a:lnTo>
                    <a:cubicBezTo>
                      <a:pt x="191174" y="121956"/>
                      <a:pt x="182963" y="141779"/>
                      <a:pt x="168348" y="156394"/>
                    </a:cubicBezTo>
                    <a:cubicBezTo>
                      <a:pt x="153733" y="171009"/>
                      <a:pt x="133911" y="179219"/>
                      <a:pt x="113242" y="179219"/>
                    </a:cubicBezTo>
                    <a:lnTo>
                      <a:pt x="77932" y="179219"/>
                    </a:lnTo>
                    <a:cubicBezTo>
                      <a:pt x="57263" y="179219"/>
                      <a:pt x="37441" y="171009"/>
                      <a:pt x="22826" y="156394"/>
                    </a:cubicBezTo>
                    <a:cubicBezTo>
                      <a:pt x="8211" y="141779"/>
                      <a:pt x="0" y="121956"/>
                      <a:pt x="0" y="101287"/>
                    </a:cubicBezTo>
                    <a:lnTo>
                      <a:pt x="0" y="77932"/>
                    </a:lnTo>
                    <a:cubicBezTo>
                      <a:pt x="0" y="57263"/>
                      <a:pt x="8211" y="37441"/>
                      <a:pt x="22826" y="22826"/>
                    </a:cubicBezTo>
                    <a:cubicBezTo>
                      <a:pt x="37441" y="8211"/>
                      <a:pt x="57263" y="0"/>
                      <a:pt x="77932" y="0"/>
                    </a:cubicBezTo>
                    <a:close/>
                  </a:path>
                </a:pathLst>
              </a:custGeom>
              <a:solidFill>
                <a:srgbClr val="4E62AF"/>
              </a:solidFill>
            </p:spPr>
          </p:sp>
          <p:sp>
            <p:nvSpPr>
              <p:cNvPr name="TextBox 64" id="64"/>
              <p:cNvSpPr txBox="true"/>
              <p:nvPr/>
            </p:nvSpPr>
            <p:spPr>
              <a:xfrm>
                <a:off x="0" y="-9525"/>
                <a:ext cx="191174" cy="188744"/>
              </a:xfrm>
              <a:prstGeom prst="rect">
                <a:avLst/>
              </a:prstGeom>
            </p:spPr>
            <p:txBody>
              <a:bodyPr anchor="ctr" rtlCol="false" tIns="32490" lIns="32490" bIns="32490" rIns="32490"/>
              <a:lstStyle/>
              <a:p>
                <a:pPr algn="ctr">
                  <a:lnSpc>
                    <a:spcPts val="1343"/>
                  </a:lnSpc>
                </a:pPr>
              </a:p>
            </p:txBody>
          </p:sp>
        </p:grpSp>
        <p:sp>
          <p:nvSpPr>
            <p:cNvPr name="Freeform 65" id="65"/>
            <p:cNvSpPr/>
            <p:nvPr/>
          </p:nvSpPr>
          <p:spPr>
            <a:xfrm flipH="false" flipV="false" rot="0">
              <a:off x="6917288" y="2194007"/>
              <a:ext cx="448347" cy="448347"/>
            </a:xfrm>
            <a:custGeom>
              <a:avLst/>
              <a:gdLst/>
              <a:ahLst/>
              <a:cxnLst/>
              <a:rect r="r" b="b" t="t" l="l"/>
              <a:pathLst>
                <a:path h="448347" w="448347">
                  <a:moveTo>
                    <a:pt x="0" y="0"/>
                  </a:moveTo>
                  <a:lnTo>
                    <a:pt x="448346" y="0"/>
                  </a:lnTo>
                  <a:lnTo>
                    <a:pt x="448346" y="448347"/>
                  </a:lnTo>
                  <a:lnTo>
                    <a:pt x="0" y="44834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66" id="66"/>
            <p:cNvSpPr/>
            <p:nvPr/>
          </p:nvSpPr>
          <p:spPr>
            <a:xfrm flipH="false" flipV="false" rot="0">
              <a:off x="3507424" y="2198581"/>
              <a:ext cx="495000" cy="439200"/>
            </a:xfrm>
            <a:custGeom>
              <a:avLst/>
              <a:gdLst/>
              <a:ahLst/>
              <a:cxnLst/>
              <a:rect r="r" b="b" t="t" l="l"/>
              <a:pathLst>
                <a:path h="439200" w="495000">
                  <a:moveTo>
                    <a:pt x="0" y="0"/>
                  </a:moveTo>
                  <a:lnTo>
                    <a:pt x="495000" y="0"/>
                  </a:lnTo>
                  <a:lnTo>
                    <a:pt x="495000" y="439199"/>
                  </a:lnTo>
                  <a:lnTo>
                    <a:pt x="0" y="439199"/>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7" id="67"/>
            <p:cNvSpPr/>
            <p:nvPr/>
          </p:nvSpPr>
          <p:spPr>
            <a:xfrm flipH="false" flipV="false" rot="0">
              <a:off x="8873019" y="8658996"/>
              <a:ext cx="432199" cy="443488"/>
            </a:xfrm>
            <a:custGeom>
              <a:avLst/>
              <a:gdLst/>
              <a:ahLst/>
              <a:cxnLst/>
              <a:rect r="r" b="b" t="t" l="l"/>
              <a:pathLst>
                <a:path h="443488" w="432199">
                  <a:moveTo>
                    <a:pt x="0" y="0"/>
                  </a:moveTo>
                  <a:lnTo>
                    <a:pt x="432199" y="0"/>
                  </a:lnTo>
                  <a:lnTo>
                    <a:pt x="432199" y="443488"/>
                  </a:lnTo>
                  <a:lnTo>
                    <a:pt x="0" y="443488"/>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68" id="68"/>
            <p:cNvSpPr/>
            <p:nvPr/>
          </p:nvSpPr>
          <p:spPr>
            <a:xfrm flipH="false" flipV="false" rot="0">
              <a:off x="14279465" y="5436528"/>
              <a:ext cx="291495" cy="436845"/>
            </a:xfrm>
            <a:custGeom>
              <a:avLst/>
              <a:gdLst/>
              <a:ahLst/>
              <a:cxnLst/>
              <a:rect r="r" b="b" t="t" l="l"/>
              <a:pathLst>
                <a:path h="436845" w="291495">
                  <a:moveTo>
                    <a:pt x="0" y="0"/>
                  </a:moveTo>
                  <a:lnTo>
                    <a:pt x="291494" y="0"/>
                  </a:lnTo>
                  <a:lnTo>
                    <a:pt x="291494" y="436844"/>
                  </a:lnTo>
                  <a:lnTo>
                    <a:pt x="0" y="436844"/>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69" id="69"/>
            <p:cNvSpPr/>
            <p:nvPr/>
          </p:nvSpPr>
          <p:spPr>
            <a:xfrm flipH="false" flipV="false" rot="0">
              <a:off x="18070660" y="2183959"/>
              <a:ext cx="474482" cy="468443"/>
            </a:xfrm>
            <a:custGeom>
              <a:avLst/>
              <a:gdLst/>
              <a:ahLst/>
              <a:cxnLst/>
              <a:rect r="r" b="b" t="t" l="l"/>
              <a:pathLst>
                <a:path h="468443" w="474482">
                  <a:moveTo>
                    <a:pt x="0" y="0"/>
                  </a:moveTo>
                  <a:lnTo>
                    <a:pt x="474483" y="0"/>
                  </a:lnTo>
                  <a:lnTo>
                    <a:pt x="474483" y="468443"/>
                  </a:lnTo>
                  <a:lnTo>
                    <a:pt x="0" y="468443"/>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70" id="70"/>
            <p:cNvSpPr/>
            <p:nvPr/>
          </p:nvSpPr>
          <p:spPr>
            <a:xfrm flipH="false" flipV="false" rot="0">
              <a:off x="14199728" y="2231248"/>
              <a:ext cx="427496" cy="373864"/>
            </a:xfrm>
            <a:custGeom>
              <a:avLst/>
              <a:gdLst/>
              <a:ahLst/>
              <a:cxnLst/>
              <a:rect r="r" b="b" t="t" l="l"/>
              <a:pathLst>
                <a:path h="373864" w="427496">
                  <a:moveTo>
                    <a:pt x="0" y="0"/>
                  </a:moveTo>
                  <a:lnTo>
                    <a:pt x="427496" y="0"/>
                  </a:lnTo>
                  <a:lnTo>
                    <a:pt x="427496" y="373865"/>
                  </a:lnTo>
                  <a:lnTo>
                    <a:pt x="0" y="373865"/>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Freeform 71" id="71"/>
            <p:cNvSpPr/>
            <p:nvPr/>
          </p:nvSpPr>
          <p:spPr>
            <a:xfrm flipH="false" flipV="false" rot="0">
              <a:off x="6892886" y="5466382"/>
              <a:ext cx="488203" cy="377137"/>
            </a:xfrm>
            <a:custGeom>
              <a:avLst/>
              <a:gdLst/>
              <a:ahLst/>
              <a:cxnLst/>
              <a:rect r="r" b="b" t="t" l="l"/>
              <a:pathLst>
                <a:path h="377137" w="488203">
                  <a:moveTo>
                    <a:pt x="0" y="0"/>
                  </a:moveTo>
                  <a:lnTo>
                    <a:pt x="488203" y="0"/>
                  </a:lnTo>
                  <a:lnTo>
                    <a:pt x="488203" y="377136"/>
                  </a:lnTo>
                  <a:lnTo>
                    <a:pt x="0" y="377136"/>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sp>
          <p:nvSpPr>
            <p:cNvPr name="Freeform 72" id="72"/>
            <p:cNvSpPr/>
            <p:nvPr/>
          </p:nvSpPr>
          <p:spPr>
            <a:xfrm flipH="false" flipV="false" rot="0">
              <a:off x="18080365" y="8658996"/>
              <a:ext cx="455072" cy="443488"/>
            </a:xfrm>
            <a:custGeom>
              <a:avLst/>
              <a:gdLst/>
              <a:ahLst/>
              <a:cxnLst/>
              <a:rect r="r" b="b" t="t" l="l"/>
              <a:pathLst>
                <a:path h="443488" w="455072">
                  <a:moveTo>
                    <a:pt x="0" y="0"/>
                  </a:moveTo>
                  <a:lnTo>
                    <a:pt x="455072" y="0"/>
                  </a:lnTo>
                  <a:lnTo>
                    <a:pt x="455072" y="443488"/>
                  </a:lnTo>
                  <a:lnTo>
                    <a:pt x="0" y="443488"/>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p:spPr>
        </p:sp>
        <p:sp>
          <p:nvSpPr>
            <p:cNvPr name="Freeform 73" id="73"/>
            <p:cNvSpPr/>
            <p:nvPr/>
          </p:nvSpPr>
          <p:spPr>
            <a:xfrm flipH="false" flipV="false" rot="0">
              <a:off x="10797095" y="2186103"/>
              <a:ext cx="464155" cy="464155"/>
            </a:xfrm>
            <a:custGeom>
              <a:avLst/>
              <a:gdLst/>
              <a:ahLst/>
              <a:cxnLst/>
              <a:rect r="r" b="b" t="t" l="l"/>
              <a:pathLst>
                <a:path h="464155" w="464155">
                  <a:moveTo>
                    <a:pt x="0" y="0"/>
                  </a:moveTo>
                  <a:lnTo>
                    <a:pt x="464155" y="0"/>
                  </a:lnTo>
                  <a:lnTo>
                    <a:pt x="464155" y="464155"/>
                  </a:lnTo>
                  <a:lnTo>
                    <a:pt x="0" y="464155"/>
                  </a:lnTo>
                  <a:lnTo>
                    <a:pt x="0" y="0"/>
                  </a:lnTo>
                  <a:close/>
                </a:path>
              </a:pathLst>
            </a:custGeom>
            <a:blipFill>
              <a:blip r:embed="rId19">
                <a:extLst>
                  <a:ext uri="{96DAC541-7B7A-43D3-8B79-37D633B846F1}">
                    <asvg:svgBlip xmlns:asvg="http://schemas.microsoft.com/office/drawing/2016/SVG/main" r:embed="rId20"/>
                  </a:ext>
                </a:extLst>
              </a:blip>
              <a:stretch>
                <a:fillRect l="0" t="0" r="0" b="0"/>
              </a:stretch>
            </a:blipFill>
          </p:spPr>
        </p:sp>
        <p:sp>
          <p:nvSpPr>
            <p:cNvPr name="TextBox 74" id="74"/>
            <p:cNvSpPr txBox="true"/>
            <p:nvPr/>
          </p:nvSpPr>
          <p:spPr>
            <a:xfrm rot="0">
              <a:off x="7888933" y="2240524"/>
              <a:ext cx="2394385" cy="593536"/>
            </a:xfrm>
            <a:prstGeom prst="rect">
              <a:avLst/>
            </a:prstGeom>
          </p:spPr>
          <p:txBody>
            <a:bodyPr anchor="t" rtlCol="false" tIns="0" lIns="0" bIns="0" rIns="0">
              <a:spAutoFit/>
            </a:bodyPr>
            <a:lstStyle/>
            <a:p>
              <a:pPr algn="l" marL="0" indent="0" lvl="0">
                <a:lnSpc>
                  <a:spcPts val="1775"/>
                </a:lnSpc>
                <a:spcBef>
                  <a:spcPct val="0"/>
                </a:spcBef>
              </a:pPr>
              <a:r>
                <a:rPr lang="en-US" b="true" sz="1479" strike="noStrike" u="none">
                  <a:solidFill>
                    <a:srgbClr val="2F3B69"/>
                  </a:solidFill>
                  <a:latin typeface="Josefin Sans Bold"/>
                  <a:ea typeface="Josefin Sans Bold"/>
                  <a:cs typeface="Josefin Sans Bold"/>
                  <a:sym typeface="Josefin Sans Bold"/>
                </a:rPr>
                <a:t>VALUE PROPOSITIONS</a:t>
              </a:r>
            </a:p>
          </p:txBody>
        </p:sp>
        <p:sp>
          <p:nvSpPr>
            <p:cNvPr name="TextBox 75" id="75"/>
            <p:cNvSpPr txBox="true"/>
            <p:nvPr/>
          </p:nvSpPr>
          <p:spPr>
            <a:xfrm rot="0">
              <a:off x="11783359" y="2240524"/>
              <a:ext cx="2394385" cy="593536"/>
            </a:xfrm>
            <a:prstGeom prst="rect">
              <a:avLst/>
            </a:prstGeom>
          </p:spPr>
          <p:txBody>
            <a:bodyPr anchor="t" rtlCol="false" tIns="0" lIns="0" bIns="0" rIns="0">
              <a:spAutoFit/>
            </a:bodyPr>
            <a:lstStyle/>
            <a:p>
              <a:pPr algn="l" marL="0" indent="0" lvl="0">
                <a:lnSpc>
                  <a:spcPts val="1775"/>
                </a:lnSpc>
                <a:spcBef>
                  <a:spcPct val="0"/>
                </a:spcBef>
              </a:pPr>
              <a:r>
                <a:rPr lang="en-US" b="true" sz="1479">
                  <a:solidFill>
                    <a:srgbClr val="2F3B69"/>
                  </a:solidFill>
                  <a:latin typeface="Josefin Sans Bold"/>
                  <a:ea typeface="Josefin Sans Bold"/>
                  <a:cs typeface="Josefin Sans Bold"/>
                  <a:sym typeface="Josefin Sans Bold"/>
                </a:rPr>
                <a:t>CUSTOMER RELATIONSHIP</a:t>
              </a:r>
            </a:p>
          </p:txBody>
        </p:sp>
        <p:sp>
          <p:nvSpPr>
            <p:cNvPr name="TextBox 76" id="76"/>
            <p:cNvSpPr txBox="true"/>
            <p:nvPr/>
          </p:nvSpPr>
          <p:spPr>
            <a:xfrm rot="0">
              <a:off x="15165422" y="2240524"/>
              <a:ext cx="2394385" cy="593536"/>
            </a:xfrm>
            <a:prstGeom prst="rect">
              <a:avLst/>
            </a:prstGeom>
          </p:spPr>
          <p:txBody>
            <a:bodyPr anchor="t" rtlCol="false" tIns="0" lIns="0" bIns="0" rIns="0">
              <a:spAutoFit/>
            </a:bodyPr>
            <a:lstStyle/>
            <a:p>
              <a:pPr algn="l">
                <a:lnSpc>
                  <a:spcPts val="1775"/>
                </a:lnSpc>
              </a:pPr>
              <a:r>
                <a:rPr lang="en-US" sz="1479" b="true">
                  <a:solidFill>
                    <a:srgbClr val="2F3B69"/>
                  </a:solidFill>
                  <a:latin typeface="Josefin Sans Bold"/>
                  <a:ea typeface="Josefin Sans Bold"/>
                  <a:cs typeface="Josefin Sans Bold"/>
                  <a:sym typeface="Josefin Sans Bold"/>
                </a:rPr>
                <a:t>CUSTOMER</a:t>
              </a:r>
            </a:p>
            <a:p>
              <a:pPr algn="l" marL="0" indent="0" lvl="0">
                <a:lnSpc>
                  <a:spcPts val="1775"/>
                </a:lnSpc>
                <a:spcBef>
                  <a:spcPct val="0"/>
                </a:spcBef>
              </a:pPr>
              <a:r>
                <a:rPr lang="en-US" b="true" sz="1479">
                  <a:solidFill>
                    <a:srgbClr val="2F3B69"/>
                  </a:solidFill>
                  <a:latin typeface="Josefin Sans Bold"/>
                  <a:ea typeface="Josefin Sans Bold"/>
                  <a:cs typeface="Josefin Sans Bold"/>
                  <a:sym typeface="Josefin Sans Bold"/>
                </a:rPr>
                <a:t>SEGMENTS</a:t>
              </a:r>
            </a:p>
          </p:txBody>
        </p:sp>
        <p:sp>
          <p:nvSpPr>
            <p:cNvPr name="TextBox 77" id="77"/>
            <p:cNvSpPr txBox="true"/>
            <p:nvPr/>
          </p:nvSpPr>
          <p:spPr>
            <a:xfrm rot="0">
              <a:off x="610204" y="2240524"/>
              <a:ext cx="2444798" cy="301530"/>
            </a:xfrm>
            <a:prstGeom prst="rect">
              <a:avLst/>
            </a:prstGeom>
          </p:spPr>
          <p:txBody>
            <a:bodyPr anchor="t" rtlCol="false" tIns="0" lIns="0" bIns="0" rIns="0">
              <a:spAutoFit/>
            </a:bodyPr>
            <a:lstStyle/>
            <a:p>
              <a:pPr algn="l" marL="0" indent="0" lvl="0">
                <a:lnSpc>
                  <a:spcPts val="1775"/>
                </a:lnSpc>
              </a:pPr>
              <a:r>
                <a:rPr lang="en-US" b="true" sz="1479" strike="noStrike" u="none">
                  <a:solidFill>
                    <a:srgbClr val="2F3B69"/>
                  </a:solidFill>
                  <a:latin typeface="Josefin Sans Bold"/>
                  <a:ea typeface="Josefin Sans Bold"/>
                  <a:cs typeface="Josefin Sans Bold"/>
                  <a:sym typeface="Josefin Sans Bold"/>
                </a:rPr>
                <a:t>KEY PARTNERS</a:t>
              </a:r>
            </a:p>
          </p:txBody>
        </p:sp>
        <p:sp>
          <p:nvSpPr>
            <p:cNvPr name="TextBox 78" id="78"/>
            <p:cNvSpPr txBox="true"/>
            <p:nvPr/>
          </p:nvSpPr>
          <p:spPr>
            <a:xfrm rot="0">
              <a:off x="610204" y="8787003"/>
              <a:ext cx="3003291" cy="301530"/>
            </a:xfrm>
            <a:prstGeom prst="rect">
              <a:avLst/>
            </a:prstGeom>
          </p:spPr>
          <p:txBody>
            <a:bodyPr anchor="t" rtlCol="false" tIns="0" lIns="0" bIns="0" rIns="0">
              <a:spAutoFit/>
            </a:bodyPr>
            <a:lstStyle/>
            <a:p>
              <a:pPr algn="l" marL="0" indent="0" lvl="0">
                <a:lnSpc>
                  <a:spcPts val="1775"/>
                </a:lnSpc>
              </a:pPr>
              <a:r>
                <a:rPr lang="en-US" b="true" sz="1479">
                  <a:solidFill>
                    <a:srgbClr val="2F3B69"/>
                  </a:solidFill>
                  <a:latin typeface="Josefin Sans Bold"/>
                  <a:ea typeface="Josefin Sans Bold"/>
                  <a:cs typeface="Josefin Sans Bold"/>
                  <a:sym typeface="Josefin Sans Bold"/>
                </a:rPr>
                <a:t>COST STRUCTURE</a:t>
              </a:r>
            </a:p>
          </p:txBody>
        </p:sp>
        <p:sp>
          <p:nvSpPr>
            <p:cNvPr name="TextBox 79" id="79"/>
            <p:cNvSpPr txBox="true"/>
            <p:nvPr/>
          </p:nvSpPr>
          <p:spPr>
            <a:xfrm rot="0">
              <a:off x="9828987" y="8787003"/>
              <a:ext cx="3362606" cy="301530"/>
            </a:xfrm>
            <a:prstGeom prst="rect">
              <a:avLst/>
            </a:prstGeom>
          </p:spPr>
          <p:txBody>
            <a:bodyPr anchor="t" rtlCol="false" tIns="0" lIns="0" bIns="0" rIns="0">
              <a:spAutoFit/>
            </a:bodyPr>
            <a:lstStyle/>
            <a:p>
              <a:pPr algn="l" marL="0" indent="0" lvl="0">
                <a:lnSpc>
                  <a:spcPts val="1775"/>
                </a:lnSpc>
              </a:pPr>
              <a:r>
                <a:rPr lang="en-US" b="true" sz="1479">
                  <a:solidFill>
                    <a:srgbClr val="2F3B69"/>
                  </a:solidFill>
                  <a:latin typeface="Josefin Sans Bold"/>
                  <a:ea typeface="Josefin Sans Bold"/>
                  <a:cs typeface="Josefin Sans Bold"/>
                  <a:sym typeface="Josefin Sans Bold"/>
                </a:rPr>
                <a:t>REVENUE STREAM</a:t>
              </a:r>
            </a:p>
          </p:txBody>
        </p:sp>
        <p:sp>
          <p:nvSpPr>
            <p:cNvPr name="TextBox 80" id="80"/>
            <p:cNvSpPr txBox="true"/>
            <p:nvPr/>
          </p:nvSpPr>
          <p:spPr>
            <a:xfrm rot="0">
              <a:off x="4503727" y="5539087"/>
              <a:ext cx="2412174" cy="593536"/>
            </a:xfrm>
            <a:prstGeom prst="rect">
              <a:avLst/>
            </a:prstGeom>
          </p:spPr>
          <p:txBody>
            <a:bodyPr anchor="t" rtlCol="false" tIns="0" lIns="0" bIns="0" rIns="0">
              <a:spAutoFit/>
            </a:bodyPr>
            <a:lstStyle/>
            <a:p>
              <a:pPr algn="l">
                <a:lnSpc>
                  <a:spcPts val="1775"/>
                </a:lnSpc>
              </a:pPr>
              <a:r>
                <a:rPr lang="en-US" sz="1479" b="true">
                  <a:solidFill>
                    <a:srgbClr val="2F3B69"/>
                  </a:solidFill>
                  <a:latin typeface="Josefin Sans Bold"/>
                  <a:ea typeface="Josefin Sans Bold"/>
                  <a:cs typeface="Josefin Sans Bold"/>
                  <a:sym typeface="Josefin Sans Bold"/>
                </a:rPr>
                <a:t>KEY</a:t>
              </a:r>
            </a:p>
            <a:p>
              <a:pPr algn="l" marL="0" indent="0" lvl="0">
                <a:lnSpc>
                  <a:spcPts val="1775"/>
                </a:lnSpc>
                <a:spcBef>
                  <a:spcPct val="0"/>
                </a:spcBef>
              </a:pPr>
              <a:r>
                <a:rPr lang="en-US" b="true" sz="1479">
                  <a:solidFill>
                    <a:srgbClr val="2F3B69"/>
                  </a:solidFill>
                  <a:latin typeface="Josefin Sans Bold"/>
                  <a:ea typeface="Josefin Sans Bold"/>
                  <a:cs typeface="Josefin Sans Bold"/>
                  <a:sym typeface="Josefin Sans Bold"/>
                </a:rPr>
                <a:t>RESOURCES</a:t>
              </a:r>
            </a:p>
          </p:txBody>
        </p:sp>
        <p:sp>
          <p:nvSpPr>
            <p:cNvPr name="TextBox 81" id="81"/>
            <p:cNvSpPr txBox="true"/>
            <p:nvPr/>
          </p:nvSpPr>
          <p:spPr>
            <a:xfrm rot="0">
              <a:off x="11783359" y="5539087"/>
              <a:ext cx="2412174" cy="301530"/>
            </a:xfrm>
            <a:prstGeom prst="rect">
              <a:avLst/>
            </a:prstGeom>
          </p:spPr>
          <p:txBody>
            <a:bodyPr anchor="t" rtlCol="false" tIns="0" lIns="0" bIns="0" rIns="0">
              <a:spAutoFit/>
            </a:bodyPr>
            <a:lstStyle/>
            <a:p>
              <a:pPr algn="l" marL="0" indent="0" lvl="0">
                <a:lnSpc>
                  <a:spcPts val="1775"/>
                </a:lnSpc>
                <a:spcBef>
                  <a:spcPct val="0"/>
                </a:spcBef>
              </a:pPr>
              <a:r>
                <a:rPr lang="en-US" b="true" sz="1479">
                  <a:solidFill>
                    <a:srgbClr val="2F3B69"/>
                  </a:solidFill>
                  <a:latin typeface="Josefin Sans Bold"/>
                  <a:ea typeface="Josefin Sans Bold"/>
                  <a:cs typeface="Josefin Sans Bold"/>
                  <a:sym typeface="Josefin Sans Bold"/>
                </a:rPr>
                <a:t>CHANNELS</a:t>
              </a:r>
            </a:p>
          </p:txBody>
        </p:sp>
        <p:sp>
          <p:nvSpPr>
            <p:cNvPr name="TextBox 82" id="82"/>
            <p:cNvSpPr txBox="true"/>
            <p:nvPr/>
          </p:nvSpPr>
          <p:spPr>
            <a:xfrm rot="0">
              <a:off x="0" y="28575"/>
              <a:ext cx="19106899" cy="1542711"/>
            </a:xfrm>
            <a:prstGeom prst="rect">
              <a:avLst/>
            </a:prstGeom>
          </p:spPr>
          <p:txBody>
            <a:bodyPr anchor="t" rtlCol="false" tIns="0" lIns="0" bIns="0" rIns="0">
              <a:spAutoFit/>
            </a:bodyPr>
            <a:lstStyle/>
            <a:p>
              <a:pPr algn="ctr">
                <a:lnSpc>
                  <a:spcPts val="9064"/>
                </a:lnSpc>
              </a:pPr>
              <a:r>
                <a:rPr lang="en-US" b="true" sz="7747" spc="-325">
                  <a:solidFill>
                    <a:srgbClr val="FFFFFF"/>
                  </a:solidFill>
                  <a:latin typeface="Open Sauce Bold"/>
                  <a:ea typeface="Open Sauce Bold"/>
                  <a:cs typeface="Open Sauce Bold"/>
                  <a:sym typeface="Open Sauce Bold"/>
                </a:rPr>
                <a:t>Business Model Canvas</a:t>
              </a:r>
            </a:p>
          </p:txBody>
        </p:sp>
      </p:gr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true" rot="0">
            <a:off x="0" y="0"/>
            <a:ext cx="18288000" cy="10287000"/>
          </a:xfrm>
          <a:custGeom>
            <a:avLst/>
            <a:gdLst/>
            <a:ahLst/>
            <a:cxnLst/>
            <a:rect r="r" b="b" t="t" l="l"/>
            <a:pathLst>
              <a:path h="10287000" w="18288000">
                <a:moveTo>
                  <a:pt x="18288000" y="10287000"/>
                </a:moveTo>
                <a:lnTo>
                  <a:pt x="0" y="10287000"/>
                </a:lnTo>
                <a:lnTo>
                  <a:pt x="0" y="0"/>
                </a:lnTo>
                <a:lnTo>
                  <a:pt x="18288000" y="0"/>
                </a:lnTo>
                <a:lnTo>
                  <a:pt x="18288000" y="10287000"/>
                </a:lnTo>
                <a:close/>
              </a:path>
            </a:pathLst>
          </a:custGeom>
          <a:blipFill>
            <a:blip r:embed="rId2"/>
            <a:stretch>
              <a:fillRect l="0" t="-9222" r="0" b="-9222"/>
            </a:stretch>
          </a:blipFill>
        </p:spPr>
      </p:sp>
      <p:grpSp>
        <p:nvGrpSpPr>
          <p:cNvPr name="Group 3" id="3"/>
          <p:cNvGrpSpPr/>
          <p:nvPr/>
        </p:nvGrpSpPr>
        <p:grpSpPr>
          <a:xfrm rot="-9278497">
            <a:off x="-5455214" y="259623"/>
            <a:ext cx="17891941" cy="17891941"/>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lnTo>
                    <a:pt x="406400" y="0"/>
                  </a:lnTo>
                  <a:close/>
                </a:path>
              </a:pathLst>
            </a:custGeom>
            <a:gradFill rotWithShape="true">
              <a:gsLst>
                <a:gs pos="0">
                  <a:srgbClr val="FFFFFF">
                    <a:alpha val="735"/>
                  </a:srgbClr>
                </a:gs>
                <a:gs pos="25000">
                  <a:srgbClr val="FFFFFF">
                    <a:alpha val="1050"/>
                  </a:srgbClr>
                </a:gs>
                <a:gs pos="50000">
                  <a:srgbClr val="FFFFFF">
                    <a:alpha val="700"/>
                  </a:srgbClr>
                </a:gs>
                <a:gs pos="75000">
                  <a:srgbClr val="FFFFFF">
                    <a:alpha val="1050"/>
                  </a:srgbClr>
                </a:gs>
                <a:gs pos="100000">
                  <a:srgbClr val="FFFFFF">
                    <a:alpha val="700"/>
                  </a:srgbClr>
                </a:gs>
              </a:gsLst>
              <a:lin ang="2700000"/>
            </a:gradFill>
            <a:ln w="19050" cap="rnd">
              <a:solidFill>
                <a:srgbClr val="FFFFFF">
                  <a:alpha val="6667"/>
                </a:srgbClr>
              </a:solidFill>
              <a:prstDash val="solid"/>
              <a:round/>
            </a:ln>
          </p:spPr>
        </p:sp>
        <p:sp>
          <p:nvSpPr>
            <p:cNvPr name="TextBox 5" id="5"/>
            <p:cNvSpPr txBox="true"/>
            <p:nvPr/>
          </p:nvSpPr>
          <p:spPr>
            <a:xfrm>
              <a:off x="76200" y="819150"/>
              <a:ext cx="660400" cy="660400"/>
            </a:xfrm>
            <a:prstGeom prst="rect">
              <a:avLst/>
            </a:prstGeom>
          </p:spPr>
          <p:txBody>
            <a:bodyPr anchor="ctr" rtlCol="false" tIns="50800" lIns="50800" bIns="50800" rIns="50800"/>
            <a:lstStyle/>
            <a:p>
              <a:pPr algn="l" marL="0" indent="0" lvl="0">
                <a:lnSpc>
                  <a:spcPts val="19673"/>
                </a:lnSpc>
                <a:spcBef>
                  <a:spcPct val="0"/>
                </a:spcBef>
              </a:pPr>
            </a:p>
          </p:txBody>
        </p:sp>
      </p:grpSp>
      <p:grpSp>
        <p:nvGrpSpPr>
          <p:cNvPr name="Group 6" id="6"/>
          <p:cNvGrpSpPr/>
          <p:nvPr/>
        </p:nvGrpSpPr>
        <p:grpSpPr>
          <a:xfrm rot="-9278497">
            <a:off x="-2545378" y="2475015"/>
            <a:ext cx="12072268" cy="12072268"/>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lnTo>
                    <a:pt x="406400" y="0"/>
                  </a:lnTo>
                  <a:close/>
                </a:path>
              </a:pathLst>
            </a:custGeom>
            <a:gradFill rotWithShape="true">
              <a:gsLst>
                <a:gs pos="0">
                  <a:srgbClr val="FFFFFF">
                    <a:alpha val="735"/>
                  </a:srgbClr>
                </a:gs>
                <a:gs pos="25000">
                  <a:srgbClr val="FFFFFF">
                    <a:alpha val="1050"/>
                  </a:srgbClr>
                </a:gs>
                <a:gs pos="50000">
                  <a:srgbClr val="FFFFFF">
                    <a:alpha val="700"/>
                  </a:srgbClr>
                </a:gs>
                <a:gs pos="75000">
                  <a:srgbClr val="FFFFFF">
                    <a:alpha val="1050"/>
                  </a:srgbClr>
                </a:gs>
                <a:gs pos="100000">
                  <a:srgbClr val="FFFFFF">
                    <a:alpha val="700"/>
                  </a:srgbClr>
                </a:gs>
              </a:gsLst>
              <a:lin ang="2700000"/>
            </a:gradFill>
            <a:ln w="19050" cap="rnd">
              <a:solidFill>
                <a:srgbClr val="FFFFFF">
                  <a:alpha val="6667"/>
                </a:srgbClr>
              </a:solidFill>
              <a:prstDash val="solid"/>
              <a:round/>
            </a:ln>
          </p:spPr>
        </p:sp>
        <p:sp>
          <p:nvSpPr>
            <p:cNvPr name="TextBox 8" id="8"/>
            <p:cNvSpPr txBox="true"/>
            <p:nvPr/>
          </p:nvSpPr>
          <p:spPr>
            <a:xfrm>
              <a:off x="76200" y="161925"/>
              <a:ext cx="660400" cy="574675"/>
            </a:xfrm>
            <a:prstGeom prst="rect">
              <a:avLst/>
            </a:prstGeom>
          </p:spPr>
          <p:txBody>
            <a:bodyPr anchor="ctr" rtlCol="false" tIns="50800" lIns="50800" bIns="50800" rIns="50800"/>
            <a:lstStyle/>
            <a:p>
              <a:pPr algn="ctr" marL="0" indent="0" lvl="0">
                <a:lnSpc>
                  <a:spcPts val="2218"/>
                </a:lnSpc>
                <a:spcBef>
                  <a:spcPct val="0"/>
                </a:spcBef>
              </a:pPr>
            </a:p>
          </p:txBody>
        </p:sp>
      </p:grpSp>
      <p:graphicFrame>
        <p:nvGraphicFramePr>
          <p:cNvPr name="Table 9" id="9"/>
          <p:cNvGraphicFramePr>
            <a:graphicFrameLocks noGrp="true"/>
          </p:cNvGraphicFramePr>
          <p:nvPr/>
        </p:nvGraphicFramePr>
        <p:xfrm>
          <a:off x="1028700" y="2007616"/>
          <a:ext cx="16230600" cy="7511080"/>
        </p:xfrm>
        <a:graphic>
          <a:graphicData uri="http://schemas.openxmlformats.org/drawingml/2006/table">
            <a:tbl>
              <a:tblPr/>
              <a:tblGrid>
                <a:gridCol w="3243881"/>
                <a:gridCol w="3266091"/>
                <a:gridCol w="3016625"/>
                <a:gridCol w="3044343"/>
                <a:gridCol w="3659659"/>
              </a:tblGrid>
              <a:tr h="1073011">
                <a:tc>
                  <a:txBody>
                    <a:bodyPr anchor="t" rtlCol="false"/>
                    <a:lstStyle/>
                    <a:p>
                      <a:pPr algn="ctr">
                        <a:lnSpc>
                          <a:spcPts val="3079"/>
                        </a:lnSpc>
                        <a:defRPr/>
                      </a:pPr>
                      <a:r>
                        <a:rPr lang="en-US" b="true" sz="2199">
                          <a:solidFill>
                            <a:srgbClr val="FFFFFF"/>
                          </a:solidFill>
                          <a:latin typeface="Open Sauce Bold"/>
                          <a:ea typeface="Open Sauce Bold"/>
                          <a:cs typeface="Open Sauce Bold"/>
                          <a:sym typeface="Open Sauce Bold"/>
                        </a:rPr>
                        <a:t>Aspek</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gradFill rotWithShape="true">
                      <a:gsLst>
                        <a:gs pos="0">
                          <a:srgbClr val="9245C4">
                            <a:alpha val="100000"/>
                          </a:srgbClr>
                        </a:gs>
                        <a:gs pos="100000">
                          <a:srgbClr val="AD64DD">
                            <a:alpha val="100000"/>
                          </a:srgbClr>
                        </a:gs>
                      </a:gsLst>
                      <a:lin ang="0"/>
                    </a:gradFill>
                  </a:tcPr>
                </a:tc>
                <a:tc>
                  <a:txBody>
                    <a:bodyPr anchor="t" rtlCol="false"/>
                    <a:lstStyle/>
                    <a:p>
                      <a:pPr algn="ctr">
                        <a:lnSpc>
                          <a:spcPts val="3079"/>
                        </a:lnSpc>
                        <a:defRPr/>
                      </a:pPr>
                      <a:r>
                        <a:rPr lang="en-US" b="true" sz="2199">
                          <a:solidFill>
                            <a:srgbClr val="FFFFFF"/>
                          </a:solidFill>
                          <a:latin typeface="Open Sauce Bold"/>
                          <a:ea typeface="Open Sauce Bold"/>
                          <a:cs typeface="Open Sauce Bold"/>
                          <a:sym typeface="Open Sauce Bold"/>
                        </a:rPr>
                        <a:t>POS SaaS Lokal</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gradFill rotWithShape="true">
                      <a:gsLst>
                        <a:gs pos="0">
                          <a:srgbClr val="9245C4">
                            <a:alpha val="100000"/>
                          </a:srgbClr>
                        </a:gs>
                        <a:gs pos="100000">
                          <a:srgbClr val="AD64DD">
                            <a:alpha val="100000"/>
                          </a:srgbClr>
                        </a:gs>
                      </a:gsLst>
                      <a:lin ang="0"/>
                    </a:gradFill>
                  </a:tcPr>
                </a:tc>
                <a:tc>
                  <a:txBody>
                    <a:bodyPr anchor="t" rtlCol="false"/>
                    <a:lstStyle/>
                    <a:p>
                      <a:pPr algn="ctr">
                        <a:lnSpc>
                          <a:spcPts val="3079"/>
                        </a:lnSpc>
                        <a:defRPr/>
                      </a:pPr>
                      <a:r>
                        <a:rPr lang="en-US" b="true" sz="2199">
                          <a:solidFill>
                            <a:srgbClr val="FFFFFF"/>
                          </a:solidFill>
                          <a:latin typeface="Open Sauce Bold"/>
                          <a:ea typeface="Open Sauce Bold"/>
                          <a:cs typeface="Open Sauce Bold"/>
                          <a:sym typeface="Open Sauce Bold"/>
                        </a:rPr>
                        <a:t>POS Entry-Level</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gradFill rotWithShape="true">
                      <a:gsLst>
                        <a:gs pos="0">
                          <a:srgbClr val="9245C4">
                            <a:alpha val="100000"/>
                          </a:srgbClr>
                        </a:gs>
                        <a:gs pos="100000">
                          <a:srgbClr val="AD64DD">
                            <a:alpha val="100000"/>
                          </a:srgbClr>
                        </a:gs>
                      </a:gsLst>
                      <a:lin ang="0"/>
                    </a:gradFill>
                  </a:tcPr>
                </a:tc>
                <a:tc>
                  <a:txBody>
                    <a:bodyPr anchor="t" rtlCol="false"/>
                    <a:lstStyle/>
                    <a:p>
                      <a:pPr algn="ctr">
                        <a:lnSpc>
                          <a:spcPts val="3079"/>
                        </a:lnSpc>
                        <a:defRPr/>
                      </a:pPr>
                      <a:r>
                        <a:rPr lang="en-US" b="true" sz="2199">
                          <a:solidFill>
                            <a:srgbClr val="FFFFFF"/>
                          </a:solidFill>
                          <a:latin typeface="Open Sauce Bold"/>
                          <a:ea typeface="Open Sauce Bold"/>
                          <a:cs typeface="Open Sauce Bold"/>
                          <a:sym typeface="Open Sauce Bold"/>
                        </a:rPr>
                        <a:t>ERP Bisnis</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gradFill rotWithShape="true">
                      <a:gsLst>
                        <a:gs pos="0">
                          <a:srgbClr val="9245C4">
                            <a:alpha val="100000"/>
                          </a:srgbClr>
                        </a:gs>
                        <a:gs pos="100000">
                          <a:srgbClr val="AD64DD">
                            <a:alpha val="100000"/>
                          </a:srgbClr>
                        </a:gs>
                      </a:gsLst>
                      <a:lin ang="0"/>
                    </a:gradFill>
                  </a:tcPr>
                </a:tc>
                <a:tc>
                  <a:txBody>
                    <a:bodyPr anchor="t" rtlCol="false"/>
                    <a:lstStyle/>
                    <a:p>
                      <a:pPr algn="ctr">
                        <a:lnSpc>
                          <a:spcPts val="3079"/>
                        </a:lnSpc>
                        <a:defRPr/>
                      </a:pPr>
                      <a:r>
                        <a:rPr lang="en-US" b="true" sz="2199">
                          <a:solidFill>
                            <a:srgbClr val="FFFFFF"/>
                          </a:solidFill>
                          <a:latin typeface="Open Sauce Bold"/>
                          <a:ea typeface="Open Sauce Bold"/>
                          <a:cs typeface="Open Sauce Bold"/>
                          <a:sym typeface="Open Sauce Bold"/>
                        </a:rPr>
                        <a:t>CV.Sukses Jaya</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gradFill rotWithShape="true">
                      <a:gsLst>
                        <a:gs pos="0">
                          <a:srgbClr val="9245C4">
                            <a:alpha val="100000"/>
                          </a:srgbClr>
                        </a:gs>
                        <a:gs pos="100000">
                          <a:srgbClr val="AD64DD">
                            <a:alpha val="100000"/>
                          </a:srgbClr>
                        </a:gs>
                      </a:gsLst>
                      <a:lin ang="0"/>
                    </a:gradFill>
                  </a:tcPr>
                </a:tc>
              </a:tr>
              <a:tr h="1073011">
                <a:tc>
                  <a:txBody>
                    <a:bodyPr anchor="t" rtlCol="false"/>
                    <a:lstStyle/>
                    <a:p>
                      <a:pPr algn="ctr">
                        <a:lnSpc>
                          <a:spcPts val="2519"/>
                        </a:lnSpc>
                        <a:defRPr/>
                      </a:pPr>
                      <a:r>
                        <a:rPr lang="en-US" sz="1799" b="true">
                          <a:solidFill>
                            <a:srgbClr val="F8F6F7"/>
                          </a:solidFill>
                          <a:latin typeface="Canva Sans Bold"/>
                          <a:ea typeface="Canva Sans Bold"/>
                          <a:cs typeface="Canva Sans Bold"/>
                          <a:sym typeface="Canva Sans Bold"/>
                        </a:rPr>
                        <a:t>Model Sistem</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520"/>
                        </a:lnSpc>
                        <a:defRPr/>
                      </a:pPr>
                      <a:r>
                        <a:rPr lang="en-US" sz="1800">
                          <a:solidFill>
                            <a:srgbClr val="FFFFFF"/>
                          </a:solidFill>
                          <a:latin typeface="Open Sauce"/>
                          <a:ea typeface="Open Sauce"/>
                          <a:cs typeface="Open Sauce"/>
                          <a:sym typeface="Open Sauce"/>
                        </a:rPr>
                        <a:t>Siap pakai</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520"/>
                        </a:lnSpc>
                        <a:defRPr/>
                      </a:pPr>
                      <a:r>
                        <a:rPr lang="en-US" sz="1800">
                          <a:solidFill>
                            <a:srgbClr val="FFFFFF"/>
                          </a:solidFill>
                          <a:latin typeface="Open Sauce"/>
                          <a:ea typeface="Open Sauce"/>
                          <a:cs typeface="Open Sauce"/>
                          <a:sym typeface="Open Sauce"/>
                        </a:rPr>
                        <a:t>Siap pakai</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520"/>
                        </a:lnSpc>
                        <a:defRPr/>
                      </a:pPr>
                      <a:r>
                        <a:rPr lang="en-US" sz="1800">
                          <a:solidFill>
                            <a:srgbClr val="FFFFFF"/>
                          </a:solidFill>
                          <a:latin typeface="Open Sauce"/>
                          <a:ea typeface="Open Sauce"/>
                          <a:cs typeface="Open Sauce"/>
                          <a:sym typeface="Open Sauce"/>
                        </a:rPr>
                        <a:t>Modular</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520"/>
                        </a:lnSpc>
                        <a:defRPr/>
                      </a:pPr>
                      <a:r>
                        <a:rPr lang="en-US" sz="1800">
                          <a:solidFill>
                            <a:srgbClr val="FFFFFF"/>
                          </a:solidFill>
                          <a:latin typeface="Open Sauce"/>
                          <a:ea typeface="Open Sauce"/>
                          <a:cs typeface="Open Sauce"/>
                          <a:sym typeface="Open Sauce"/>
                        </a:rPr>
                        <a:t>Custom Website</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r>
              <a:tr h="1073011">
                <a:tc>
                  <a:txBody>
                    <a:bodyPr anchor="t" rtlCol="false"/>
                    <a:lstStyle/>
                    <a:p>
                      <a:pPr algn="ctr">
                        <a:lnSpc>
                          <a:spcPts val="2519"/>
                        </a:lnSpc>
                        <a:defRPr/>
                      </a:pPr>
                      <a:r>
                        <a:rPr lang="en-US" sz="1799" b="true">
                          <a:solidFill>
                            <a:srgbClr val="F8F6F7"/>
                          </a:solidFill>
                          <a:latin typeface="Canva Sans Bold"/>
                          <a:ea typeface="Canva Sans Bold"/>
                          <a:cs typeface="Canva Sans Bold"/>
                          <a:sym typeface="Canva Sans Bold"/>
                        </a:rPr>
                        <a:t>Tingkat Kustomisasi</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520"/>
                        </a:lnSpc>
                        <a:defRPr/>
                      </a:pPr>
                      <a:r>
                        <a:rPr lang="en-US" sz="1800">
                          <a:solidFill>
                            <a:srgbClr val="FFFFFF"/>
                          </a:solidFill>
                          <a:latin typeface="Open Sauce"/>
                          <a:ea typeface="Open Sauce"/>
                          <a:cs typeface="Open Sauce"/>
                          <a:sym typeface="Open Sauce"/>
                        </a:rPr>
                        <a:t>Rendah</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520"/>
                        </a:lnSpc>
                        <a:defRPr/>
                      </a:pPr>
                      <a:r>
                        <a:rPr lang="en-US" sz="1800">
                          <a:solidFill>
                            <a:srgbClr val="FFFFFF"/>
                          </a:solidFill>
                          <a:latin typeface="Open Sauce"/>
                          <a:ea typeface="Open Sauce"/>
                          <a:cs typeface="Open Sauce"/>
                          <a:sym typeface="Open Sauce"/>
                        </a:rPr>
                        <a:t>Sangat rendah</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520"/>
                        </a:lnSpc>
                        <a:defRPr/>
                      </a:pPr>
                      <a:r>
                        <a:rPr lang="en-US" sz="1800">
                          <a:solidFill>
                            <a:srgbClr val="FFFFFF"/>
                          </a:solidFill>
                          <a:latin typeface="Open Sauce"/>
                          <a:ea typeface="Open Sauce"/>
                          <a:cs typeface="Open Sauce"/>
                          <a:sym typeface="Open Sauce"/>
                        </a:rPr>
                        <a:t>Sedang</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520"/>
                        </a:lnSpc>
                        <a:defRPr/>
                      </a:pPr>
                      <a:r>
                        <a:rPr lang="en-US" sz="1800">
                          <a:solidFill>
                            <a:srgbClr val="FFFFFF"/>
                          </a:solidFill>
                          <a:latin typeface="Open Sauce"/>
                          <a:ea typeface="Open Sauce"/>
                          <a:cs typeface="Open Sauce"/>
                          <a:sym typeface="Open Sauce"/>
                        </a:rPr>
                        <a:t>Tinggi</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r>
              <a:tr h="1073011">
                <a:tc>
                  <a:txBody>
                    <a:bodyPr anchor="t" rtlCol="false"/>
                    <a:lstStyle/>
                    <a:p>
                      <a:pPr algn="ctr">
                        <a:lnSpc>
                          <a:spcPts val="2519"/>
                        </a:lnSpc>
                        <a:defRPr/>
                      </a:pPr>
                      <a:r>
                        <a:rPr lang="en-US" sz="1799" b="true">
                          <a:solidFill>
                            <a:srgbClr val="F8F6F7"/>
                          </a:solidFill>
                          <a:latin typeface="Canva Sans Bold"/>
                          <a:ea typeface="Canva Sans Bold"/>
                          <a:cs typeface="Canva Sans Bold"/>
                          <a:sym typeface="Canva Sans Bold"/>
                        </a:rPr>
                        <a:t>Kemudahan Penggunaan</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520"/>
                        </a:lnSpc>
                        <a:defRPr/>
                      </a:pPr>
                      <a:r>
                        <a:rPr lang="en-US" sz="1800">
                          <a:solidFill>
                            <a:srgbClr val="FFFFFF"/>
                          </a:solidFill>
                          <a:latin typeface="Open Sauce"/>
                          <a:ea typeface="Open Sauce"/>
                          <a:cs typeface="Open Sauce"/>
                          <a:sym typeface="Open Sauce"/>
                        </a:rPr>
                        <a:t>Tinggi</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520"/>
                        </a:lnSpc>
                        <a:defRPr/>
                      </a:pPr>
                      <a:r>
                        <a:rPr lang="en-US" sz="1800">
                          <a:solidFill>
                            <a:srgbClr val="FFFFFF"/>
                          </a:solidFill>
                          <a:latin typeface="Open Sauce"/>
                          <a:ea typeface="Open Sauce"/>
                          <a:cs typeface="Open Sauce"/>
                          <a:sym typeface="Open Sauce"/>
                        </a:rPr>
                        <a:t>Tinggi</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520"/>
                        </a:lnSpc>
                        <a:defRPr/>
                      </a:pPr>
                      <a:r>
                        <a:rPr lang="en-US" sz="1800">
                          <a:solidFill>
                            <a:srgbClr val="FFFFFF"/>
                          </a:solidFill>
                          <a:latin typeface="Open Sauce"/>
                          <a:ea typeface="Open Sauce"/>
                          <a:cs typeface="Open Sauce"/>
                          <a:sym typeface="Open Sauce"/>
                        </a:rPr>
                        <a:t>Rendah</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520"/>
                        </a:lnSpc>
                        <a:defRPr/>
                      </a:pPr>
                      <a:r>
                        <a:rPr lang="en-US" sz="1800">
                          <a:solidFill>
                            <a:srgbClr val="FFFFFF"/>
                          </a:solidFill>
                          <a:latin typeface="Open Sauce"/>
                          <a:ea typeface="Open Sauce"/>
                          <a:cs typeface="Open Sauce"/>
                          <a:sym typeface="Open Sauce"/>
                        </a:rPr>
                        <a:t>Tinggi</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r>
              <a:tr h="1073011">
                <a:tc>
                  <a:txBody>
                    <a:bodyPr anchor="t" rtlCol="false"/>
                    <a:lstStyle/>
                    <a:p>
                      <a:pPr algn="ctr">
                        <a:lnSpc>
                          <a:spcPts val="2519"/>
                        </a:lnSpc>
                        <a:defRPr/>
                      </a:pPr>
                      <a:r>
                        <a:rPr lang="en-US" sz="1799" b="true">
                          <a:solidFill>
                            <a:srgbClr val="F8F6F7"/>
                          </a:solidFill>
                          <a:latin typeface="Canva Sans Bold"/>
                          <a:ea typeface="Canva Sans Bold"/>
                          <a:cs typeface="Canva Sans Bold"/>
                          <a:sym typeface="Canva Sans Bold"/>
                        </a:rPr>
                        <a:t>Integrasi Sistem</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520"/>
                        </a:lnSpc>
                        <a:defRPr/>
                      </a:pPr>
                      <a:r>
                        <a:rPr lang="en-US" sz="1800">
                          <a:solidFill>
                            <a:srgbClr val="FFFFFF"/>
                          </a:solidFill>
                          <a:latin typeface="Open Sauce"/>
                          <a:ea typeface="Open Sauce"/>
                          <a:cs typeface="Open Sauce"/>
                          <a:sym typeface="Open Sauce"/>
                        </a:rPr>
                        <a:t>Terbatas</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520"/>
                        </a:lnSpc>
                        <a:defRPr/>
                      </a:pPr>
                      <a:r>
                        <a:rPr lang="en-US" sz="1800">
                          <a:solidFill>
                            <a:srgbClr val="FFFFFF"/>
                          </a:solidFill>
                          <a:latin typeface="Open Sauce"/>
                          <a:ea typeface="Open Sauce"/>
                          <a:cs typeface="Open Sauce"/>
                          <a:sym typeface="Open Sauce"/>
                        </a:rPr>
                        <a:t>Minim</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520"/>
                        </a:lnSpc>
                        <a:defRPr/>
                      </a:pPr>
                      <a:r>
                        <a:rPr lang="en-US" sz="1800">
                          <a:solidFill>
                            <a:srgbClr val="FFFFFF"/>
                          </a:solidFill>
                          <a:latin typeface="Open Sauce"/>
                          <a:ea typeface="Open Sauce"/>
                          <a:cs typeface="Open Sauce"/>
                          <a:sym typeface="Open Sauce"/>
                        </a:rPr>
                        <a:t>Lengkap</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520"/>
                        </a:lnSpc>
                        <a:defRPr/>
                      </a:pPr>
                      <a:r>
                        <a:rPr lang="en-US" sz="1800">
                          <a:solidFill>
                            <a:srgbClr val="FFFFFF"/>
                          </a:solidFill>
                          <a:latin typeface="Open Sauce"/>
                          <a:ea typeface="Open Sauce"/>
                          <a:cs typeface="Open Sauce"/>
                          <a:sym typeface="Open Sauce"/>
                        </a:rPr>
                        <a:t>Disesuaikan</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r>
              <a:tr h="1073011">
                <a:tc>
                  <a:txBody>
                    <a:bodyPr anchor="t" rtlCol="false"/>
                    <a:lstStyle/>
                    <a:p>
                      <a:pPr algn="ctr">
                        <a:lnSpc>
                          <a:spcPts val="2520"/>
                        </a:lnSpc>
                        <a:defRPr/>
                      </a:pPr>
                      <a:r>
                        <a:rPr lang="en-US" sz="1800">
                          <a:solidFill>
                            <a:srgbClr val="FFFFFF"/>
                          </a:solidFill>
                          <a:latin typeface="Open Sauce"/>
                          <a:ea typeface="Open Sauce"/>
                          <a:cs typeface="Open Sauce"/>
                          <a:sym typeface="Open Sauce"/>
                        </a:rPr>
                        <a:t>Biaya Implementasi</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520"/>
                        </a:lnSpc>
                        <a:defRPr/>
                      </a:pPr>
                      <a:r>
                        <a:rPr lang="en-US" sz="1800">
                          <a:solidFill>
                            <a:srgbClr val="FFFFFF"/>
                          </a:solidFill>
                          <a:latin typeface="Open Sauce"/>
                          <a:ea typeface="Open Sauce"/>
                          <a:cs typeface="Open Sauce"/>
                          <a:sym typeface="Open Sauce"/>
                        </a:rPr>
                        <a:t>Menengah</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520"/>
                        </a:lnSpc>
                        <a:defRPr/>
                      </a:pPr>
                      <a:r>
                        <a:rPr lang="en-US" sz="1800">
                          <a:solidFill>
                            <a:srgbClr val="FFFFFF"/>
                          </a:solidFill>
                          <a:latin typeface="Open Sauce"/>
                          <a:ea typeface="Open Sauce"/>
                          <a:cs typeface="Open Sauce"/>
                          <a:sym typeface="Open Sauce"/>
                        </a:rPr>
                        <a:t>Rendah</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520"/>
                        </a:lnSpc>
                        <a:defRPr/>
                      </a:pPr>
                      <a:r>
                        <a:rPr lang="en-US" sz="1800">
                          <a:solidFill>
                            <a:srgbClr val="FFFFFF"/>
                          </a:solidFill>
                          <a:latin typeface="Open Sauce"/>
                          <a:ea typeface="Open Sauce"/>
                          <a:cs typeface="Open Sauce"/>
                          <a:sym typeface="Open Sauce"/>
                        </a:rPr>
                        <a:t>Tinggi</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520"/>
                        </a:lnSpc>
                        <a:defRPr/>
                      </a:pPr>
                      <a:r>
                        <a:rPr lang="en-US" sz="1800">
                          <a:solidFill>
                            <a:srgbClr val="FFFFFF"/>
                          </a:solidFill>
                          <a:latin typeface="Open Sauce"/>
                          <a:ea typeface="Open Sauce"/>
                          <a:cs typeface="Open Sauce"/>
                          <a:sym typeface="Open Sauce"/>
                        </a:rPr>
                        <a:t>Fleksibel</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r>
              <a:tr h="1073011">
                <a:tc>
                  <a:txBody>
                    <a:bodyPr anchor="t" rtlCol="false"/>
                    <a:lstStyle/>
                    <a:p>
                      <a:pPr algn="ctr">
                        <a:lnSpc>
                          <a:spcPts val="2520"/>
                        </a:lnSpc>
                        <a:defRPr/>
                      </a:pPr>
                      <a:r>
                        <a:rPr lang="en-US" sz="1800">
                          <a:solidFill>
                            <a:srgbClr val="FFFFFF"/>
                          </a:solidFill>
                          <a:latin typeface="Open Sauce"/>
                          <a:ea typeface="Open Sauce"/>
                          <a:cs typeface="Open Sauce"/>
                          <a:sym typeface="Open Sauce"/>
                        </a:rPr>
                        <a:t>Target Pengguna</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520"/>
                        </a:lnSpc>
                        <a:defRPr/>
                      </a:pPr>
                      <a:r>
                        <a:rPr lang="en-US" sz="1800">
                          <a:solidFill>
                            <a:srgbClr val="FFFFFF"/>
                          </a:solidFill>
                          <a:latin typeface="Open Sauce"/>
                          <a:ea typeface="Open Sauce"/>
                          <a:cs typeface="Open Sauce"/>
                          <a:sym typeface="Open Sauce"/>
                        </a:rPr>
                        <a:t>UMKM–Menengah</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520"/>
                        </a:lnSpc>
                        <a:defRPr/>
                      </a:pPr>
                      <a:r>
                        <a:rPr lang="en-US" sz="1800">
                          <a:solidFill>
                            <a:srgbClr val="FFFFFF"/>
                          </a:solidFill>
                          <a:latin typeface="Open Sauce"/>
                          <a:ea typeface="Open Sauce"/>
                          <a:cs typeface="Open Sauce"/>
                          <a:sym typeface="Open Sauce"/>
                        </a:rPr>
                        <a:t>Usaha kecil</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520"/>
                        </a:lnSpc>
                        <a:defRPr/>
                      </a:pPr>
                      <a:r>
                        <a:rPr lang="en-US" sz="1800">
                          <a:solidFill>
                            <a:srgbClr val="FFFFFF"/>
                          </a:solidFill>
                          <a:latin typeface="Open Sauce"/>
                          <a:ea typeface="Open Sauce"/>
                          <a:cs typeface="Open Sauce"/>
                          <a:sym typeface="Open Sauce"/>
                        </a:rPr>
                        <a:t>Menengah–Besar</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520"/>
                        </a:lnSpc>
                        <a:defRPr/>
                      </a:pPr>
                      <a:r>
                        <a:rPr lang="en-US" sz="1800">
                          <a:solidFill>
                            <a:srgbClr val="FFFFFF"/>
                          </a:solidFill>
                          <a:latin typeface="Open Sauce"/>
                          <a:ea typeface="Open Sauce"/>
                          <a:cs typeface="Open Sauce"/>
                          <a:sym typeface="Open Sauce"/>
                        </a:rPr>
                        <a:t>UMKM–Menengah</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r>
            </a:tbl>
          </a:graphicData>
        </a:graphic>
      </p:graphicFrame>
      <p:sp>
        <p:nvSpPr>
          <p:cNvPr name="TextBox 10" id="10"/>
          <p:cNvSpPr txBox="true"/>
          <p:nvPr/>
        </p:nvSpPr>
        <p:spPr>
          <a:xfrm rot="0">
            <a:off x="4102478" y="378209"/>
            <a:ext cx="10083044" cy="1329557"/>
          </a:xfrm>
          <a:prstGeom prst="rect">
            <a:avLst/>
          </a:prstGeom>
        </p:spPr>
        <p:txBody>
          <a:bodyPr anchor="t" rtlCol="false" tIns="0" lIns="0" bIns="0" rIns="0">
            <a:spAutoFit/>
          </a:bodyPr>
          <a:lstStyle/>
          <a:p>
            <a:pPr algn="ctr">
              <a:lnSpc>
                <a:spcPts val="10489"/>
              </a:lnSpc>
            </a:pPr>
            <a:r>
              <a:rPr lang="en-US" b="true" sz="8965" spc="-376">
                <a:solidFill>
                  <a:srgbClr val="FFFFFF"/>
                </a:solidFill>
                <a:latin typeface="Open Sauce Bold"/>
                <a:ea typeface="Open Sauce Bold"/>
                <a:cs typeface="Open Sauce Bold"/>
                <a:sym typeface="Open Sauce Bold"/>
              </a:rPr>
              <a:t>Competitor</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true" rot="8768940">
            <a:off x="-1315101" y="-4221648"/>
            <a:ext cx="20918202" cy="18730295"/>
          </a:xfrm>
          <a:custGeom>
            <a:avLst/>
            <a:gdLst/>
            <a:ahLst/>
            <a:cxnLst/>
            <a:rect r="r" b="b" t="t" l="l"/>
            <a:pathLst>
              <a:path h="18730295" w="20918202">
                <a:moveTo>
                  <a:pt x="15187984" y="0"/>
                </a:moveTo>
                <a:lnTo>
                  <a:pt x="0" y="10187054"/>
                </a:lnTo>
                <a:lnTo>
                  <a:pt x="5730218" y="18730296"/>
                </a:lnTo>
                <a:lnTo>
                  <a:pt x="20918202" y="8543242"/>
                </a:lnTo>
                <a:lnTo>
                  <a:pt x="15187984" y="0"/>
                </a:lnTo>
                <a:close/>
              </a:path>
            </a:pathLst>
          </a:custGeom>
          <a:blipFill>
            <a:blip r:embed="rId2"/>
            <a:stretch>
              <a:fillRect l="-2753" t="0" r="-31641" b="0"/>
            </a:stretch>
          </a:blipFill>
        </p:spPr>
      </p:sp>
      <p:grpSp>
        <p:nvGrpSpPr>
          <p:cNvPr name="Group 3" id="3"/>
          <p:cNvGrpSpPr/>
          <p:nvPr/>
        </p:nvGrpSpPr>
        <p:grpSpPr>
          <a:xfrm rot="-8073719">
            <a:off x="-570592" y="-4539507"/>
            <a:ext cx="19366015" cy="19366015"/>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lnTo>
                    <a:pt x="406400" y="0"/>
                  </a:lnTo>
                  <a:close/>
                </a:path>
              </a:pathLst>
            </a:custGeom>
            <a:gradFill rotWithShape="true">
              <a:gsLst>
                <a:gs pos="0">
                  <a:srgbClr val="FFFFFF">
                    <a:alpha val="945"/>
                  </a:srgbClr>
                </a:gs>
                <a:gs pos="25000">
                  <a:srgbClr val="FFFFFF">
                    <a:alpha val="1350"/>
                  </a:srgbClr>
                </a:gs>
                <a:gs pos="50000">
                  <a:srgbClr val="FFFFFF">
                    <a:alpha val="900"/>
                  </a:srgbClr>
                </a:gs>
                <a:gs pos="75000">
                  <a:srgbClr val="FFFFFF">
                    <a:alpha val="1350"/>
                  </a:srgbClr>
                </a:gs>
                <a:gs pos="100000">
                  <a:srgbClr val="FFFFFF">
                    <a:alpha val="900"/>
                  </a:srgbClr>
                </a:gs>
              </a:gsLst>
              <a:lin ang="2700000"/>
            </a:gradFill>
            <a:ln w="19050" cap="rnd">
              <a:solidFill>
                <a:srgbClr val="FFFFFF">
                  <a:alpha val="8627"/>
                </a:srgbClr>
              </a:solidFill>
              <a:prstDash val="solid"/>
              <a:round/>
            </a:ln>
          </p:spPr>
        </p:sp>
        <p:sp>
          <p:nvSpPr>
            <p:cNvPr name="TextBox 5" id="5"/>
            <p:cNvSpPr txBox="true"/>
            <p:nvPr/>
          </p:nvSpPr>
          <p:spPr>
            <a:xfrm>
              <a:off x="76200" y="819150"/>
              <a:ext cx="660400" cy="660400"/>
            </a:xfrm>
            <a:prstGeom prst="rect">
              <a:avLst/>
            </a:prstGeom>
          </p:spPr>
          <p:txBody>
            <a:bodyPr anchor="ctr" rtlCol="false" tIns="50800" lIns="50800" bIns="50800" rIns="50800"/>
            <a:lstStyle/>
            <a:p>
              <a:pPr algn="l" marL="0" indent="0" lvl="0">
                <a:lnSpc>
                  <a:spcPts val="19673"/>
                </a:lnSpc>
                <a:spcBef>
                  <a:spcPct val="0"/>
                </a:spcBef>
              </a:pPr>
            </a:p>
          </p:txBody>
        </p:sp>
      </p:grpSp>
      <p:grpSp>
        <p:nvGrpSpPr>
          <p:cNvPr name="Group 6" id="6"/>
          <p:cNvGrpSpPr/>
          <p:nvPr/>
        </p:nvGrpSpPr>
        <p:grpSpPr>
          <a:xfrm rot="-8073719">
            <a:off x="2774663" y="-1149785"/>
            <a:ext cx="12586569" cy="12586569"/>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lnTo>
                    <a:pt x="406400" y="0"/>
                  </a:lnTo>
                  <a:close/>
                </a:path>
              </a:pathLst>
            </a:custGeom>
            <a:gradFill rotWithShape="true">
              <a:gsLst>
                <a:gs pos="0">
                  <a:srgbClr val="FFFFFF">
                    <a:alpha val="945"/>
                  </a:srgbClr>
                </a:gs>
                <a:gs pos="25000">
                  <a:srgbClr val="FFFFFF">
                    <a:alpha val="1350"/>
                  </a:srgbClr>
                </a:gs>
                <a:gs pos="50000">
                  <a:srgbClr val="FFFFFF">
                    <a:alpha val="900"/>
                  </a:srgbClr>
                </a:gs>
                <a:gs pos="75000">
                  <a:srgbClr val="FFFFFF">
                    <a:alpha val="1350"/>
                  </a:srgbClr>
                </a:gs>
                <a:gs pos="100000">
                  <a:srgbClr val="FFFFFF">
                    <a:alpha val="900"/>
                  </a:srgbClr>
                </a:gs>
              </a:gsLst>
              <a:lin ang="2700000"/>
            </a:gradFill>
            <a:ln w="19050" cap="rnd">
              <a:solidFill>
                <a:srgbClr val="FFFFFF">
                  <a:alpha val="8627"/>
                </a:srgbClr>
              </a:solidFill>
              <a:prstDash val="solid"/>
              <a:round/>
            </a:ln>
          </p:spPr>
        </p:sp>
        <p:sp>
          <p:nvSpPr>
            <p:cNvPr name="TextBox 8" id="8"/>
            <p:cNvSpPr txBox="true"/>
            <p:nvPr/>
          </p:nvSpPr>
          <p:spPr>
            <a:xfrm>
              <a:off x="76200" y="161925"/>
              <a:ext cx="660400" cy="574675"/>
            </a:xfrm>
            <a:prstGeom prst="rect">
              <a:avLst/>
            </a:prstGeom>
          </p:spPr>
          <p:txBody>
            <a:bodyPr anchor="ctr" rtlCol="false" tIns="50800" lIns="50800" bIns="50800" rIns="50800"/>
            <a:lstStyle/>
            <a:p>
              <a:pPr algn="ctr" marL="0" indent="0" lvl="0">
                <a:lnSpc>
                  <a:spcPts val="2218"/>
                </a:lnSpc>
                <a:spcBef>
                  <a:spcPct val="0"/>
                </a:spcBef>
              </a:pPr>
            </a:p>
          </p:txBody>
        </p:sp>
      </p:grpSp>
      <p:grpSp>
        <p:nvGrpSpPr>
          <p:cNvPr name="Group 9" id="9"/>
          <p:cNvGrpSpPr/>
          <p:nvPr/>
        </p:nvGrpSpPr>
        <p:grpSpPr>
          <a:xfrm rot="0">
            <a:off x="1181202" y="3996045"/>
            <a:ext cx="4871842" cy="2528429"/>
            <a:chOff x="0" y="0"/>
            <a:chExt cx="1833774" cy="951707"/>
          </a:xfrm>
        </p:grpSpPr>
        <p:sp>
          <p:nvSpPr>
            <p:cNvPr name="Freeform 10" id="10"/>
            <p:cNvSpPr/>
            <p:nvPr/>
          </p:nvSpPr>
          <p:spPr>
            <a:xfrm flipH="false" flipV="false" rot="0">
              <a:off x="0" y="0"/>
              <a:ext cx="1833774" cy="951707"/>
            </a:xfrm>
            <a:custGeom>
              <a:avLst/>
              <a:gdLst/>
              <a:ahLst/>
              <a:cxnLst/>
              <a:rect r="r" b="b" t="t" l="l"/>
              <a:pathLst>
                <a:path h="951707" w="1833774">
                  <a:moveTo>
                    <a:pt x="81045" y="0"/>
                  </a:moveTo>
                  <a:lnTo>
                    <a:pt x="1752729" y="0"/>
                  </a:lnTo>
                  <a:cubicBezTo>
                    <a:pt x="1797489" y="0"/>
                    <a:pt x="1833774" y="36285"/>
                    <a:pt x="1833774" y="81045"/>
                  </a:cubicBezTo>
                  <a:lnTo>
                    <a:pt x="1833774" y="870662"/>
                  </a:lnTo>
                  <a:cubicBezTo>
                    <a:pt x="1833774" y="915422"/>
                    <a:pt x="1797489" y="951707"/>
                    <a:pt x="1752729" y="951707"/>
                  </a:cubicBezTo>
                  <a:lnTo>
                    <a:pt x="81045" y="951707"/>
                  </a:lnTo>
                  <a:cubicBezTo>
                    <a:pt x="36285" y="951707"/>
                    <a:pt x="0" y="915422"/>
                    <a:pt x="0" y="870662"/>
                  </a:cubicBezTo>
                  <a:lnTo>
                    <a:pt x="0" y="81045"/>
                  </a:lnTo>
                  <a:cubicBezTo>
                    <a:pt x="0" y="36285"/>
                    <a:pt x="36285" y="0"/>
                    <a:pt x="81045" y="0"/>
                  </a:cubicBezTo>
                  <a:close/>
                </a:path>
              </a:pathLst>
            </a:custGeom>
            <a:gradFill rotWithShape="true">
              <a:gsLst>
                <a:gs pos="0">
                  <a:srgbClr val="FFFFFF">
                    <a:alpha val="100000"/>
                  </a:srgbClr>
                </a:gs>
                <a:gs pos="100000">
                  <a:srgbClr val="DBD8D8">
                    <a:alpha val="100000"/>
                  </a:srgbClr>
                </a:gs>
              </a:gsLst>
              <a:lin ang="5400000"/>
            </a:gradFill>
            <a:ln w="19050" cap="rnd">
              <a:gradFill>
                <a:gsLst>
                  <a:gs pos="0">
                    <a:srgbClr val="FFFFFF">
                      <a:alpha val="100000"/>
                    </a:srgbClr>
                  </a:gs>
                  <a:gs pos="100000">
                    <a:srgbClr val="DBD8D8">
                      <a:alpha val="100000"/>
                    </a:srgbClr>
                  </a:gs>
                </a:gsLst>
                <a:lin ang="5400000"/>
              </a:gradFill>
              <a:prstDash val="solid"/>
              <a:round/>
            </a:ln>
          </p:spPr>
        </p:sp>
        <p:sp>
          <p:nvSpPr>
            <p:cNvPr name="TextBox 11" id="11"/>
            <p:cNvSpPr txBox="true"/>
            <p:nvPr/>
          </p:nvSpPr>
          <p:spPr>
            <a:xfrm>
              <a:off x="0" y="85725"/>
              <a:ext cx="1833774" cy="865982"/>
            </a:xfrm>
            <a:prstGeom prst="rect">
              <a:avLst/>
            </a:prstGeom>
          </p:spPr>
          <p:txBody>
            <a:bodyPr anchor="ctr" rtlCol="false" tIns="50800" lIns="50800" bIns="50800" rIns="50800"/>
            <a:lstStyle/>
            <a:p>
              <a:pPr algn="ctr" marL="0" indent="0" lvl="0">
                <a:lnSpc>
                  <a:spcPts val="2218"/>
                </a:lnSpc>
                <a:spcBef>
                  <a:spcPct val="0"/>
                </a:spcBef>
              </a:pPr>
            </a:p>
          </p:txBody>
        </p:sp>
      </p:grpSp>
      <p:grpSp>
        <p:nvGrpSpPr>
          <p:cNvPr name="Group 12" id="12"/>
          <p:cNvGrpSpPr/>
          <p:nvPr/>
        </p:nvGrpSpPr>
        <p:grpSpPr>
          <a:xfrm rot="0">
            <a:off x="3170027" y="7119520"/>
            <a:ext cx="5633842" cy="2528429"/>
            <a:chOff x="0" y="0"/>
            <a:chExt cx="2120593" cy="951707"/>
          </a:xfrm>
        </p:grpSpPr>
        <p:sp>
          <p:nvSpPr>
            <p:cNvPr name="Freeform 13" id="13"/>
            <p:cNvSpPr/>
            <p:nvPr/>
          </p:nvSpPr>
          <p:spPr>
            <a:xfrm flipH="false" flipV="false" rot="0">
              <a:off x="0" y="0"/>
              <a:ext cx="2120593" cy="951707"/>
            </a:xfrm>
            <a:custGeom>
              <a:avLst/>
              <a:gdLst/>
              <a:ahLst/>
              <a:cxnLst/>
              <a:rect r="r" b="b" t="t" l="l"/>
              <a:pathLst>
                <a:path h="951707" w="2120593">
                  <a:moveTo>
                    <a:pt x="70083" y="0"/>
                  </a:moveTo>
                  <a:lnTo>
                    <a:pt x="2050510" y="0"/>
                  </a:lnTo>
                  <a:cubicBezTo>
                    <a:pt x="2069097" y="0"/>
                    <a:pt x="2086923" y="7384"/>
                    <a:pt x="2100066" y="20527"/>
                  </a:cubicBezTo>
                  <a:cubicBezTo>
                    <a:pt x="2113209" y="33670"/>
                    <a:pt x="2120593" y="51496"/>
                    <a:pt x="2120593" y="70083"/>
                  </a:cubicBezTo>
                  <a:lnTo>
                    <a:pt x="2120593" y="881624"/>
                  </a:lnTo>
                  <a:cubicBezTo>
                    <a:pt x="2120593" y="900211"/>
                    <a:pt x="2113209" y="918037"/>
                    <a:pt x="2100066" y="931180"/>
                  </a:cubicBezTo>
                  <a:cubicBezTo>
                    <a:pt x="2086923" y="944324"/>
                    <a:pt x="2069097" y="951707"/>
                    <a:pt x="2050510" y="951707"/>
                  </a:cubicBezTo>
                  <a:lnTo>
                    <a:pt x="70083" y="951707"/>
                  </a:lnTo>
                  <a:cubicBezTo>
                    <a:pt x="51496" y="951707"/>
                    <a:pt x="33670" y="944324"/>
                    <a:pt x="20527" y="931180"/>
                  </a:cubicBezTo>
                  <a:cubicBezTo>
                    <a:pt x="7384" y="918037"/>
                    <a:pt x="0" y="900211"/>
                    <a:pt x="0" y="881624"/>
                  </a:cubicBezTo>
                  <a:lnTo>
                    <a:pt x="0" y="70083"/>
                  </a:lnTo>
                  <a:cubicBezTo>
                    <a:pt x="0" y="51496"/>
                    <a:pt x="7384" y="33670"/>
                    <a:pt x="20527" y="20527"/>
                  </a:cubicBezTo>
                  <a:cubicBezTo>
                    <a:pt x="33670" y="7384"/>
                    <a:pt x="51496" y="0"/>
                    <a:pt x="70083" y="0"/>
                  </a:cubicBezTo>
                  <a:close/>
                </a:path>
              </a:pathLst>
            </a:custGeom>
            <a:gradFill rotWithShape="true">
              <a:gsLst>
                <a:gs pos="0">
                  <a:srgbClr val="F5B4FF">
                    <a:alpha val="100000"/>
                  </a:srgbClr>
                </a:gs>
                <a:gs pos="100000">
                  <a:srgbClr val="E393EF">
                    <a:alpha val="100000"/>
                  </a:srgbClr>
                </a:gs>
              </a:gsLst>
              <a:lin ang="0"/>
            </a:gradFill>
            <a:ln w="19050" cap="rnd">
              <a:solidFill>
                <a:srgbClr val="FFFFFF"/>
              </a:solidFill>
              <a:prstDash val="solid"/>
              <a:round/>
            </a:ln>
          </p:spPr>
        </p:sp>
        <p:sp>
          <p:nvSpPr>
            <p:cNvPr name="TextBox 14" id="14"/>
            <p:cNvSpPr txBox="true"/>
            <p:nvPr/>
          </p:nvSpPr>
          <p:spPr>
            <a:xfrm>
              <a:off x="0" y="85725"/>
              <a:ext cx="2120593" cy="865982"/>
            </a:xfrm>
            <a:prstGeom prst="rect">
              <a:avLst/>
            </a:prstGeom>
          </p:spPr>
          <p:txBody>
            <a:bodyPr anchor="ctr" rtlCol="false" tIns="50800" lIns="50800" bIns="50800" rIns="50800"/>
            <a:lstStyle/>
            <a:p>
              <a:pPr algn="ctr" marL="0" indent="0" lvl="0">
                <a:lnSpc>
                  <a:spcPts val="2218"/>
                </a:lnSpc>
                <a:spcBef>
                  <a:spcPct val="0"/>
                </a:spcBef>
              </a:pPr>
            </a:p>
          </p:txBody>
        </p:sp>
      </p:grpSp>
      <p:grpSp>
        <p:nvGrpSpPr>
          <p:cNvPr name="Group 15" id="15"/>
          <p:cNvGrpSpPr/>
          <p:nvPr/>
        </p:nvGrpSpPr>
        <p:grpSpPr>
          <a:xfrm rot="0">
            <a:off x="12234919" y="3996045"/>
            <a:ext cx="4870513" cy="2528429"/>
            <a:chOff x="0" y="0"/>
            <a:chExt cx="1833274" cy="951707"/>
          </a:xfrm>
        </p:grpSpPr>
        <p:sp>
          <p:nvSpPr>
            <p:cNvPr name="Freeform 16" id="16"/>
            <p:cNvSpPr/>
            <p:nvPr/>
          </p:nvSpPr>
          <p:spPr>
            <a:xfrm flipH="false" flipV="false" rot="0">
              <a:off x="0" y="0"/>
              <a:ext cx="1833274" cy="951707"/>
            </a:xfrm>
            <a:custGeom>
              <a:avLst/>
              <a:gdLst/>
              <a:ahLst/>
              <a:cxnLst/>
              <a:rect r="r" b="b" t="t" l="l"/>
              <a:pathLst>
                <a:path h="951707" w="1833274">
                  <a:moveTo>
                    <a:pt x="81067" y="0"/>
                  </a:moveTo>
                  <a:lnTo>
                    <a:pt x="1752207" y="0"/>
                  </a:lnTo>
                  <a:cubicBezTo>
                    <a:pt x="1773707" y="0"/>
                    <a:pt x="1794327" y="8541"/>
                    <a:pt x="1809530" y="23744"/>
                  </a:cubicBezTo>
                  <a:cubicBezTo>
                    <a:pt x="1824733" y="38947"/>
                    <a:pt x="1833274" y="59567"/>
                    <a:pt x="1833274" y="81067"/>
                  </a:cubicBezTo>
                  <a:lnTo>
                    <a:pt x="1833274" y="870640"/>
                  </a:lnTo>
                  <a:cubicBezTo>
                    <a:pt x="1833274" y="892141"/>
                    <a:pt x="1824733" y="912760"/>
                    <a:pt x="1809530" y="927963"/>
                  </a:cubicBezTo>
                  <a:cubicBezTo>
                    <a:pt x="1794327" y="943166"/>
                    <a:pt x="1773707" y="951707"/>
                    <a:pt x="1752207" y="951707"/>
                  </a:cubicBezTo>
                  <a:lnTo>
                    <a:pt x="81067" y="951707"/>
                  </a:lnTo>
                  <a:cubicBezTo>
                    <a:pt x="59567" y="951707"/>
                    <a:pt x="38947" y="943166"/>
                    <a:pt x="23744" y="927963"/>
                  </a:cubicBezTo>
                  <a:cubicBezTo>
                    <a:pt x="8541" y="912760"/>
                    <a:pt x="0" y="892141"/>
                    <a:pt x="0" y="870640"/>
                  </a:cubicBezTo>
                  <a:lnTo>
                    <a:pt x="0" y="81067"/>
                  </a:lnTo>
                  <a:cubicBezTo>
                    <a:pt x="0" y="59567"/>
                    <a:pt x="8541" y="38947"/>
                    <a:pt x="23744" y="23744"/>
                  </a:cubicBezTo>
                  <a:cubicBezTo>
                    <a:pt x="38947" y="8541"/>
                    <a:pt x="59567" y="0"/>
                    <a:pt x="81067" y="0"/>
                  </a:cubicBezTo>
                  <a:close/>
                </a:path>
              </a:pathLst>
            </a:custGeom>
            <a:gradFill rotWithShape="true">
              <a:gsLst>
                <a:gs pos="0">
                  <a:srgbClr val="9245C4">
                    <a:alpha val="100000"/>
                  </a:srgbClr>
                </a:gs>
                <a:gs pos="100000">
                  <a:srgbClr val="AD64DD">
                    <a:alpha val="100000"/>
                  </a:srgbClr>
                </a:gs>
              </a:gsLst>
              <a:lin ang="0"/>
            </a:gradFill>
            <a:ln w="19050" cap="rnd">
              <a:solidFill>
                <a:srgbClr val="FFFFFF"/>
              </a:solidFill>
              <a:prstDash val="solid"/>
              <a:round/>
            </a:ln>
          </p:spPr>
        </p:sp>
        <p:sp>
          <p:nvSpPr>
            <p:cNvPr name="TextBox 17" id="17"/>
            <p:cNvSpPr txBox="true"/>
            <p:nvPr/>
          </p:nvSpPr>
          <p:spPr>
            <a:xfrm>
              <a:off x="0" y="85725"/>
              <a:ext cx="1833274" cy="865982"/>
            </a:xfrm>
            <a:prstGeom prst="rect">
              <a:avLst/>
            </a:prstGeom>
          </p:spPr>
          <p:txBody>
            <a:bodyPr anchor="ctr" rtlCol="false" tIns="50800" lIns="50800" bIns="50800" rIns="50800"/>
            <a:lstStyle/>
            <a:p>
              <a:pPr algn="ctr" marL="0" indent="0" lvl="0">
                <a:lnSpc>
                  <a:spcPts val="2218"/>
                </a:lnSpc>
                <a:spcBef>
                  <a:spcPct val="0"/>
                </a:spcBef>
              </a:pPr>
            </a:p>
          </p:txBody>
        </p:sp>
      </p:grpSp>
      <p:grpSp>
        <p:nvGrpSpPr>
          <p:cNvPr name="Group 18" id="18"/>
          <p:cNvGrpSpPr/>
          <p:nvPr/>
        </p:nvGrpSpPr>
        <p:grpSpPr>
          <a:xfrm rot="0">
            <a:off x="9227575" y="7119520"/>
            <a:ext cx="5728115" cy="2528429"/>
            <a:chOff x="0" y="0"/>
            <a:chExt cx="2156078" cy="951707"/>
          </a:xfrm>
        </p:grpSpPr>
        <p:sp>
          <p:nvSpPr>
            <p:cNvPr name="Freeform 19" id="19"/>
            <p:cNvSpPr/>
            <p:nvPr/>
          </p:nvSpPr>
          <p:spPr>
            <a:xfrm flipH="false" flipV="false" rot="0">
              <a:off x="0" y="0"/>
              <a:ext cx="2156078" cy="951707"/>
            </a:xfrm>
            <a:custGeom>
              <a:avLst/>
              <a:gdLst/>
              <a:ahLst/>
              <a:cxnLst/>
              <a:rect r="r" b="b" t="t" l="l"/>
              <a:pathLst>
                <a:path h="951707" w="2156078">
                  <a:moveTo>
                    <a:pt x="68930" y="0"/>
                  </a:moveTo>
                  <a:lnTo>
                    <a:pt x="2087148" y="0"/>
                  </a:lnTo>
                  <a:cubicBezTo>
                    <a:pt x="2105429" y="0"/>
                    <a:pt x="2122962" y="7262"/>
                    <a:pt x="2135889" y="20189"/>
                  </a:cubicBezTo>
                  <a:cubicBezTo>
                    <a:pt x="2148816" y="33116"/>
                    <a:pt x="2156078" y="50648"/>
                    <a:pt x="2156078" y="68930"/>
                  </a:cubicBezTo>
                  <a:lnTo>
                    <a:pt x="2156078" y="882778"/>
                  </a:lnTo>
                  <a:cubicBezTo>
                    <a:pt x="2156078" y="920846"/>
                    <a:pt x="2125217" y="951707"/>
                    <a:pt x="2087148" y="951707"/>
                  </a:cubicBezTo>
                  <a:lnTo>
                    <a:pt x="68930" y="951707"/>
                  </a:lnTo>
                  <a:cubicBezTo>
                    <a:pt x="50648" y="951707"/>
                    <a:pt x="33116" y="944445"/>
                    <a:pt x="20189" y="931518"/>
                  </a:cubicBezTo>
                  <a:cubicBezTo>
                    <a:pt x="7262" y="918591"/>
                    <a:pt x="0" y="901059"/>
                    <a:pt x="0" y="882778"/>
                  </a:cubicBezTo>
                  <a:lnTo>
                    <a:pt x="0" y="68930"/>
                  </a:lnTo>
                  <a:cubicBezTo>
                    <a:pt x="0" y="50648"/>
                    <a:pt x="7262" y="33116"/>
                    <a:pt x="20189" y="20189"/>
                  </a:cubicBezTo>
                  <a:cubicBezTo>
                    <a:pt x="33116" y="7262"/>
                    <a:pt x="50648" y="0"/>
                    <a:pt x="68930" y="0"/>
                  </a:cubicBezTo>
                  <a:close/>
                </a:path>
              </a:pathLst>
            </a:custGeom>
            <a:gradFill rotWithShape="true">
              <a:gsLst>
                <a:gs pos="0">
                  <a:srgbClr val="FFFFFF">
                    <a:alpha val="10500"/>
                  </a:srgbClr>
                </a:gs>
                <a:gs pos="25000">
                  <a:srgbClr val="FFFFFF">
                    <a:alpha val="15000"/>
                  </a:srgbClr>
                </a:gs>
                <a:gs pos="50000">
                  <a:srgbClr val="FFFFFF">
                    <a:alpha val="10000"/>
                  </a:srgbClr>
                </a:gs>
                <a:gs pos="75000">
                  <a:srgbClr val="FFFFFF">
                    <a:alpha val="15000"/>
                  </a:srgbClr>
                </a:gs>
                <a:gs pos="100000">
                  <a:srgbClr val="FFFFFF">
                    <a:alpha val="10000"/>
                  </a:srgbClr>
                </a:gs>
              </a:gsLst>
              <a:lin ang="2700000"/>
            </a:gradFill>
            <a:ln w="19050" cap="rnd">
              <a:solidFill>
                <a:srgbClr val="FFFFFF"/>
              </a:solidFill>
              <a:prstDash val="solid"/>
              <a:round/>
            </a:ln>
          </p:spPr>
        </p:sp>
        <p:sp>
          <p:nvSpPr>
            <p:cNvPr name="TextBox 20" id="20"/>
            <p:cNvSpPr txBox="true"/>
            <p:nvPr/>
          </p:nvSpPr>
          <p:spPr>
            <a:xfrm>
              <a:off x="0" y="85725"/>
              <a:ext cx="2156078" cy="865982"/>
            </a:xfrm>
            <a:prstGeom prst="rect">
              <a:avLst/>
            </a:prstGeom>
          </p:spPr>
          <p:txBody>
            <a:bodyPr anchor="ctr" rtlCol="false" tIns="50800" lIns="50800" bIns="50800" rIns="50800"/>
            <a:lstStyle/>
            <a:p>
              <a:pPr algn="ctr" marL="0" indent="0" lvl="0">
                <a:lnSpc>
                  <a:spcPts val="2218"/>
                </a:lnSpc>
                <a:spcBef>
                  <a:spcPct val="0"/>
                </a:spcBef>
              </a:pPr>
            </a:p>
          </p:txBody>
        </p:sp>
      </p:grpSp>
      <p:grpSp>
        <p:nvGrpSpPr>
          <p:cNvPr name="Group 21" id="21"/>
          <p:cNvGrpSpPr/>
          <p:nvPr/>
        </p:nvGrpSpPr>
        <p:grpSpPr>
          <a:xfrm rot="0">
            <a:off x="6707181" y="3996045"/>
            <a:ext cx="4870513" cy="2528429"/>
            <a:chOff x="0" y="0"/>
            <a:chExt cx="1833274" cy="951707"/>
          </a:xfrm>
        </p:grpSpPr>
        <p:sp>
          <p:nvSpPr>
            <p:cNvPr name="Freeform 22" id="22"/>
            <p:cNvSpPr/>
            <p:nvPr/>
          </p:nvSpPr>
          <p:spPr>
            <a:xfrm flipH="false" flipV="false" rot="0">
              <a:off x="0" y="0"/>
              <a:ext cx="1833274" cy="951707"/>
            </a:xfrm>
            <a:custGeom>
              <a:avLst/>
              <a:gdLst/>
              <a:ahLst/>
              <a:cxnLst/>
              <a:rect r="r" b="b" t="t" l="l"/>
              <a:pathLst>
                <a:path h="951707" w="1833274">
                  <a:moveTo>
                    <a:pt x="81067" y="0"/>
                  </a:moveTo>
                  <a:lnTo>
                    <a:pt x="1752207" y="0"/>
                  </a:lnTo>
                  <a:cubicBezTo>
                    <a:pt x="1773707" y="0"/>
                    <a:pt x="1794327" y="8541"/>
                    <a:pt x="1809530" y="23744"/>
                  </a:cubicBezTo>
                  <a:cubicBezTo>
                    <a:pt x="1824733" y="38947"/>
                    <a:pt x="1833274" y="59567"/>
                    <a:pt x="1833274" y="81067"/>
                  </a:cubicBezTo>
                  <a:lnTo>
                    <a:pt x="1833274" y="870640"/>
                  </a:lnTo>
                  <a:cubicBezTo>
                    <a:pt x="1833274" y="892141"/>
                    <a:pt x="1824733" y="912760"/>
                    <a:pt x="1809530" y="927963"/>
                  </a:cubicBezTo>
                  <a:cubicBezTo>
                    <a:pt x="1794327" y="943166"/>
                    <a:pt x="1773707" y="951707"/>
                    <a:pt x="1752207" y="951707"/>
                  </a:cubicBezTo>
                  <a:lnTo>
                    <a:pt x="81067" y="951707"/>
                  </a:lnTo>
                  <a:cubicBezTo>
                    <a:pt x="59567" y="951707"/>
                    <a:pt x="38947" y="943166"/>
                    <a:pt x="23744" y="927963"/>
                  </a:cubicBezTo>
                  <a:cubicBezTo>
                    <a:pt x="8541" y="912760"/>
                    <a:pt x="0" y="892141"/>
                    <a:pt x="0" y="870640"/>
                  </a:cubicBezTo>
                  <a:lnTo>
                    <a:pt x="0" y="81067"/>
                  </a:lnTo>
                  <a:cubicBezTo>
                    <a:pt x="0" y="59567"/>
                    <a:pt x="8541" y="38947"/>
                    <a:pt x="23744" y="23744"/>
                  </a:cubicBezTo>
                  <a:cubicBezTo>
                    <a:pt x="38947" y="8541"/>
                    <a:pt x="59567" y="0"/>
                    <a:pt x="81067" y="0"/>
                  </a:cubicBezTo>
                  <a:close/>
                </a:path>
              </a:pathLst>
            </a:custGeom>
            <a:gradFill rotWithShape="true">
              <a:gsLst>
                <a:gs pos="0">
                  <a:srgbClr val="FFFFFF">
                    <a:alpha val="10500"/>
                  </a:srgbClr>
                </a:gs>
                <a:gs pos="25000">
                  <a:srgbClr val="FFFFFF">
                    <a:alpha val="15000"/>
                  </a:srgbClr>
                </a:gs>
                <a:gs pos="50000">
                  <a:srgbClr val="FFFFFF">
                    <a:alpha val="10000"/>
                  </a:srgbClr>
                </a:gs>
                <a:gs pos="75000">
                  <a:srgbClr val="FFFFFF">
                    <a:alpha val="15000"/>
                  </a:srgbClr>
                </a:gs>
                <a:gs pos="100000">
                  <a:srgbClr val="FFFFFF">
                    <a:alpha val="10000"/>
                  </a:srgbClr>
                </a:gs>
              </a:gsLst>
              <a:lin ang="2700000"/>
            </a:gradFill>
            <a:ln w="19050" cap="rnd">
              <a:solidFill>
                <a:srgbClr val="FFFFFF"/>
              </a:solidFill>
              <a:prstDash val="solid"/>
              <a:round/>
            </a:ln>
          </p:spPr>
        </p:sp>
        <p:sp>
          <p:nvSpPr>
            <p:cNvPr name="TextBox 23" id="23"/>
            <p:cNvSpPr txBox="true"/>
            <p:nvPr/>
          </p:nvSpPr>
          <p:spPr>
            <a:xfrm>
              <a:off x="0" y="85725"/>
              <a:ext cx="1833274" cy="865982"/>
            </a:xfrm>
            <a:prstGeom prst="rect">
              <a:avLst/>
            </a:prstGeom>
          </p:spPr>
          <p:txBody>
            <a:bodyPr anchor="ctr" rtlCol="false" tIns="50800" lIns="50800" bIns="50800" rIns="50800"/>
            <a:lstStyle/>
            <a:p>
              <a:pPr algn="ctr" marL="0" indent="0" lvl="0">
                <a:lnSpc>
                  <a:spcPts val="2218"/>
                </a:lnSpc>
                <a:spcBef>
                  <a:spcPct val="0"/>
                </a:spcBef>
              </a:pPr>
            </a:p>
          </p:txBody>
        </p:sp>
      </p:grpSp>
      <p:sp>
        <p:nvSpPr>
          <p:cNvPr name="TextBox 24" id="24"/>
          <p:cNvSpPr txBox="true"/>
          <p:nvPr/>
        </p:nvSpPr>
        <p:spPr>
          <a:xfrm rot="0">
            <a:off x="1485414" y="1333357"/>
            <a:ext cx="15317172" cy="1538738"/>
          </a:xfrm>
          <a:prstGeom prst="rect">
            <a:avLst/>
          </a:prstGeom>
        </p:spPr>
        <p:txBody>
          <a:bodyPr anchor="t" rtlCol="false" tIns="0" lIns="0" bIns="0" rIns="0">
            <a:spAutoFit/>
          </a:bodyPr>
          <a:lstStyle/>
          <a:p>
            <a:pPr algn="ctr">
              <a:lnSpc>
                <a:spcPts val="12035"/>
              </a:lnSpc>
            </a:pPr>
            <a:r>
              <a:rPr lang="en-US" b="true" sz="10286" spc="-432">
                <a:solidFill>
                  <a:srgbClr val="FFFFFF"/>
                </a:solidFill>
                <a:latin typeface="Open Sauce Bold"/>
                <a:ea typeface="Open Sauce Bold"/>
                <a:cs typeface="Open Sauce Bold"/>
                <a:sym typeface="Open Sauce Bold"/>
              </a:rPr>
              <a:t>Our Team</a:t>
            </a:r>
          </a:p>
        </p:txBody>
      </p:sp>
      <p:grpSp>
        <p:nvGrpSpPr>
          <p:cNvPr name="Group 25" id="25"/>
          <p:cNvGrpSpPr/>
          <p:nvPr/>
        </p:nvGrpSpPr>
        <p:grpSpPr>
          <a:xfrm rot="0">
            <a:off x="1270083" y="4094732"/>
            <a:ext cx="2098378" cy="2319102"/>
            <a:chOff x="0" y="0"/>
            <a:chExt cx="325094" cy="359290"/>
          </a:xfrm>
        </p:grpSpPr>
        <p:sp>
          <p:nvSpPr>
            <p:cNvPr name="Freeform 26" id="26"/>
            <p:cNvSpPr/>
            <p:nvPr/>
          </p:nvSpPr>
          <p:spPr>
            <a:xfrm flipH="false" flipV="false" rot="0">
              <a:off x="0" y="0"/>
              <a:ext cx="325094" cy="359290"/>
            </a:xfrm>
            <a:custGeom>
              <a:avLst/>
              <a:gdLst/>
              <a:ahLst/>
              <a:cxnLst/>
              <a:rect r="r" b="b" t="t" l="l"/>
              <a:pathLst>
                <a:path h="359290" w="325094">
                  <a:moveTo>
                    <a:pt x="151269" y="0"/>
                  </a:moveTo>
                  <a:lnTo>
                    <a:pt x="173825" y="0"/>
                  </a:lnTo>
                  <a:cubicBezTo>
                    <a:pt x="213944" y="0"/>
                    <a:pt x="252420" y="15937"/>
                    <a:pt x="280788" y="44306"/>
                  </a:cubicBezTo>
                  <a:cubicBezTo>
                    <a:pt x="309157" y="72674"/>
                    <a:pt x="325094" y="111150"/>
                    <a:pt x="325094" y="151269"/>
                  </a:cubicBezTo>
                  <a:lnTo>
                    <a:pt x="325094" y="208021"/>
                  </a:lnTo>
                  <a:cubicBezTo>
                    <a:pt x="325094" y="291564"/>
                    <a:pt x="257368" y="359290"/>
                    <a:pt x="173825" y="359290"/>
                  </a:cubicBezTo>
                  <a:lnTo>
                    <a:pt x="151269" y="359290"/>
                  </a:lnTo>
                  <a:cubicBezTo>
                    <a:pt x="111150" y="359290"/>
                    <a:pt x="72674" y="343352"/>
                    <a:pt x="44306" y="314984"/>
                  </a:cubicBezTo>
                  <a:cubicBezTo>
                    <a:pt x="15937" y="286616"/>
                    <a:pt x="0" y="248140"/>
                    <a:pt x="0" y="208021"/>
                  </a:cubicBezTo>
                  <a:lnTo>
                    <a:pt x="0" y="151269"/>
                  </a:lnTo>
                  <a:cubicBezTo>
                    <a:pt x="0" y="111150"/>
                    <a:pt x="15937" y="72674"/>
                    <a:pt x="44306" y="44306"/>
                  </a:cubicBezTo>
                  <a:cubicBezTo>
                    <a:pt x="72674" y="15937"/>
                    <a:pt x="111150" y="0"/>
                    <a:pt x="151269" y="0"/>
                  </a:cubicBezTo>
                  <a:close/>
                </a:path>
              </a:pathLst>
            </a:custGeom>
            <a:solidFill>
              <a:srgbClr val="000000">
                <a:alpha val="0"/>
              </a:srgbClr>
            </a:solidFill>
            <a:ln cap="rnd" w="12700">
              <a:solidFill>
                <a:srgbClr val="000000"/>
              </a:solidFill>
              <a:prstDash val="solid"/>
              <a:round/>
            </a:ln>
          </p:spPr>
        </p:sp>
      </p:grpSp>
      <p:grpSp>
        <p:nvGrpSpPr>
          <p:cNvPr name="Group 27" id="27"/>
          <p:cNvGrpSpPr/>
          <p:nvPr/>
        </p:nvGrpSpPr>
        <p:grpSpPr>
          <a:xfrm rot="0">
            <a:off x="12328702" y="4094732"/>
            <a:ext cx="2098378" cy="2319102"/>
            <a:chOff x="0" y="0"/>
            <a:chExt cx="325094" cy="359290"/>
          </a:xfrm>
        </p:grpSpPr>
        <p:sp>
          <p:nvSpPr>
            <p:cNvPr name="Freeform 28" id="28"/>
            <p:cNvSpPr/>
            <p:nvPr/>
          </p:nvSpPr>
          <p:spPr>
            <a:xfrm flipH="false" flipV="false" rot="0">
              <a:off x="0" y="0"/>
              <a:ext cx="325094" cy="359290"/>
            </a:xfrm>
            <a:custGeom>
              <a:avLst/>
              <a:gdLst/>
              <a:ahLst/>
              <a:cxnLst/>
              <a:rect r="r" b="b" t="t" l="l"/>
              <a:pathLst>
                <a:path h="359290" w="325094">
                  <a:moveTo>
                    <a:pt x="151269" y="0"/>
                  </a:moveTo>
                  <a:lnTo>
                    <a:pt x="173825" y="0"/>
                  </a:lnTo>
                  <a:cubicBezTo>
                    <a:pt x="213944" y="0"/>
                    <a:pt x="252420" y="15937"/>
                    <a:pt x="280788" y="44306"/>
                  </a:cubicBezTo>
                  <a:cubicBezTo>
                    <a:pt x="309157" y="72674"/>
                    <a:pt x="325094" y="111150"/>
                    <a:pt x="325094" y="151269"/>
                  </a:cubicBezTo>
                  <a:lnTo>
                    <a:pt x="325094" y="208021"/>
                  </a:lnTo>
                  <a:cubicBezTo>
                    <a:pt x="325094" y="291564"/>
                    <a:pt x="257368" y="359290"/>
                    <a:pt x="173825" y="359290"/>
                  </a:cubicBezTo>
                  <a:lnTo>
                    <a:pt x="151269" y="359290"/>
                  </a:lnTo>
                  <a:cubicBezTo>
                    <a:pt x="111150" y="359290"/>
                    <a:pt x="72674" y="343352"/>
                    <a:pt x="44306" y="314984"/>
                  </a:cubicBezTo>
                  <a:cubicBezTo>
                    <a:pt x="15937" y="286616"/>
                    <a:pt x="0" y="248140"/>
                    <a:pt x="0" y="208021"/>
                  </a:cubicBezTo>
                  <a:lnTo>
                    <a:pt x="0" y="151269"/>
                  </a:lnTo>
                  <a:cubicBezTo>
                    <a:pt x="0" y="111150"/>
                    <a:pt x="15937" y="72674"/>
                    <a:pt x="44306" y="44306"/>
                  </a:cubicBezTo>
                  <a:cubicBezTo>
                    <a:pt x="72674" y="15937"/>
                    <a:pt x="111150" y="0"/>
                    <a:pt x="151269" y="0"/>
                  </a:cubicBezTo>
                  <a:close/>
                </a:path>
              </a:pathLst>
            </a:custGeom>
            <a:solidFill>
              <a:srgbClr val="000000">
                <a:alpha val="0"/>
              </a:srgbClr>
            </a:solidFill>
            <a:ln cap="rnd" w="12700">
              <a:solidFill>
                <a:srgbClr val="000000"/>
              </a:solidFill>
              <a:prstDash val="solid"/>
              <a:round/>
            </a:ln>
          </p:spPr>
        </p:sp>
      </p:grpSp>
      <p:grpSp>
        <p:nvGrpSpPr>
          <p:cNvPr name="Group 29" id="29"/>
          <p:cNvGrpSpPr/>
          <p:nvPr/>
        </p:nvGrpSpPr>
        <p:grpSpPr>
          <a:xfrm rot="0">
            <a:off x="3300527" y="7224183"/>
            <a:ext cx="2426584" cy="2319102"/>
            <a:chOff x="0" y="0"/>
            <a:chExt cx="375941" cy="359290"/>
          </a:xfrm>
        </p:grpSpPr>
        <p:sp>
          <p:nvSpPr>
            <p:cNvPr name="Freeform 30" id="30"/>
            <p:cNvSpPr/>
            <p:nvPr/>
          </p:nvSpPr>
          <p:spPr>
            <a:xfrm flipH="false" flipV="false" rot="0">
              <a:off x="0" y="0"/>
              <a:ext cx="375941" cy="359290"/>
            </a:xfrm>
            <a:custGeom>
              <a:avLst/>
              <a:gdLst/>
              <a:ahLst/>
              <a:cxnLst/>
              <a:rect r="r" b="b" t="t" l="l"/>
              <a:pathLst>
                <a:path h="359290" w="375941">
                  <a:moveTo>
                    <a:pt x="130809" y="0"/>
                  </a:moveTo>
                  <a:lnTo>
                    <a:pt x="245132" y="0"/>
                  </a:lnTo>
                  <a:cubicBezTo>
                    <a:pt x="279825" y="0"/>
                    <a:pt x="313097" y="13782"/>
                    <a:pt x="337628" y="38313"/>
                  </a:cubicBezTo>
                  <a:cubicBezTo>
                    <a:pt x="362160" y="62844"/>
                    <a:pt x="375941" y="96116"/>
                    <a:pt x="375941" y="130809"/>
                  </a:cubicBezTo>
                  <a:lnTo>
                    <a:pt x="375941" y="228481"/>
                  </a:lnTo>
                  <a:cubicBezTo>
                    <a:pt x="375941" y="263173"/>
                    <a:pt x="362160" y="296445"/>
                    <a:pt x="337628" y="320977"/>
                  </a:cubicBezTo>
                  <a:cubicBezTo>
                    <a:pt x="313097" y="345508"/>
                    <a:pt x="279825" y="359290"/>
                    <a:pt x="245132" y="359290"/>
                  </a:cubicBezTo>
                  <a:lnTo>
                    <a:pt x="130809" y="359290"/>
                  </a:lnTo>
                  <a:cubicBezTo>
                    <a:pt x="96116" y="359290"/>
                    <a:pt x="62844" y="345508"/>
                    <a:pt x="38313" y="320977"/>
                  </a:cubicBezTo>
                  <a:cubicBezTo>
                    <a:pt x="13782" y="296445"/>
                    <a:pt x="0" y="263173"/>
                    <a:pt x="0" y="228481"/>
                  </a:cubicBezTo>
                  <a:lnTo>
                    <a:pt x="0" y="130809"/>
                  </a:lnTo>
                  <a:cubicBezTo>
                    <a:pt x="0" y="96116"/>
                    <a:pt x="13782" y="62844"/>
                    <a:pt x="38313" y="38313"/>
                  </a:cubicBezTo>
                  <a:cubicBezTo>
                    <a:pt x="62844" y="13782"/>
                    <a:pt x="96116" y="0"/>
                    <a:pt x="130809" y="0"/>
                  </a:cubicBezTo>
                  <a:close/>
                </a:path>
              </a:pathLst>
            </a:custGeom>
            <a:solidFill>
              <a:srgbClr val="000000">
                <a:alpha val="0"/>
              </a:srgbClr>
            </a:solidFill>
            <a:ln cap="rnd" w="12700">
              <a:solidFill>
                <a:srgbClr val="000000"/>
              </a:solidFill>
              <a:prstDash val="solid"/>
              <a:round/>
            </a:ln>
          </p:spPr>
        </p:sp>
      </p:grpSp>
      <p:grpSp>
        <p:nvGrpSpPr>
          <p:cNvPr name="Group 31" id="31"/>
          <p:cNvGrpSpPr/>
          <p:nvPr/>
        </p:nvGrpSpPr>
        <p:grpSpPr>
          <a:xfrm rot="0">
            <a:off x="6807041" y="4094732"/>
            <a:ext cx="2098378" cy="2319102"/>
            <a:chOff x="0" y="0"/>
            <a:chExt cx="325094" cy="359290"/>
          </a:xfrm>
        </p:grpSpPr>
        <p:sp>
          <p:nvSpPr>
            <p:cNvPr name="Freeform 32" id="32"/>
            <p:cNvSpPr/>
            <p:nvPr/>
          </p:nvSpPr>
          <p:spPr>
            <a:xfrm flipH="false" flipV="false" rot="0">
              <a:off x="0" y="0"/>
              <a:ext cx="325094" cy="359290"/>
            </a:xfrm>
            <a:custGeom>
              <a:avLst/>
              <a:gdLst/>
              <a:ahLst/>
              <a:cxnLst/>
              <a:rect r="r" b="b" t="t" l="l"/>
              <a:pathLst>
                <a:path h="359290" w="325094">
                  <a:moveTo>
                    <a:pt x="151269" y="0"/>
                  </a:moveTo>
                  <a:lnTo>
                    <a:pt x="173825" y="0"/>
                  </a:lnTo>
                  <a:cubicBezTo>
                    <a:pt x="213944" y="0"/>
                    <a:pt x="252420" y="15937"/>
                    <a:pt x="280788" y="44306"/>
                  </a:cubicBezTo>
                  <a:cubicBezTo>
                    <a:pt x="309157" y="72674"/>
                    <a:pt x="325094" y="111150"/>
                    <a:pt x="325094" y="151269"/>
                  </a:cubicBezTo>
                  <a:lnTo>
                    <a:pt x="325094" y="208021"/>
                  </a:lnTo>
                  <a:cubicBezTo>
                    <a:pt x="325094" y="291564"/>
                    <a:pt x="257368" y="359290"/>
                    <a:pt x="173825" y="359290"/>
                  </a:cubicBezTo>
                  <a:lnTo>
                    <a:pt x="151269" y="359290"/>
                  </a:lnTo>
                  <a:cubicBezTo>
                    <a:pt x="111150" y="359290"/>
                    <a:pt x="72674" y="343352"/>
                    <a:pt x="44306" y="314984"/>
                  </a:cubicBezTo>
                  <a:cubicBezTo>
                    <a:pt x="15937" y="286616"/>
                    <a:pt x="0" y="248140"/>
                    <a:pt x="0" y="208021"/>
                  </a:cubicBezTo>
                  <a:lnTo>
                    <a:pt x="0" y="151269"/>
                  </a:lnTo>
                  <a:cubicBezTo>
                    <a:pt x="0" y="111150"/>
                    <a:pt x="15937" y="72674"/>
                    <a:pt x="44306" y="44306"/>
                  </a:cubicBezTo>
                  <a:cubicBezTo>
                    <a:pt x="72674" y="15937"/>
                    <a:pt x="111150" y="0"/>
                    <a:pt x="151269" y="0"/>
                  </a:cubicBezTo>
                  <a:close/>
                </a:path>
              </a:pathLst>
            </a:custGeom>
            <a:solidFill>
              <a:srgbClr val="000000">
                <a:alpha val="0"/>
              </a:srgbClr>
            </a:solidFill>
            <a:ln w="12700" cap="rnd">
              <a:solidFill>
                <a:srgbClr val="000000"/>
              </a:solidFill>
              <a:prstDash val="solid"/>
              <a:round/>
            </a:ln>
          </p:spPr>
        </p:sp>
      </p:grpSp>
      <p:grpSp>
        <p:nvGrpSpPr>
          <p:cNvPr name="Group 33" id="33"/>
          <p:cNvGrpSpPr/>
          <p:nvPr/>
        </p:nvGrpSpPr>
        <p:grpSpPr>
          <a:xfrm rot="0">
            <a:off x="9365655" y="7224183"/>
            <a:ext cx="2467862" cy="2319102"/>
            <a:chOff x="0" y="0"/>
            <a:chExt cx="382336" cy="359290"/>
          </a:xfrm>
        </p:grpSpPr>
        <p:sp>
          <p:nvSpPr>
            <p:cNvPr name="Freeform 34" id="34"/>
            <p:cNvSpPr/>
            <p:nvPr/>
          </p:nvSpPr>
          <p:spPr>
            <a:xfrm flipH="false" flipV="false" rot="0">
              <a:off x="0" y="0"/>
              <a:ext cx="382336" cy="359290"/>
            </a:xfrm>
            <a:custGeom>
              <a:avLst/>
              <a:gdLst/>
              <a:ahLst/>
              <a:cxnLst/>
              <a:rect r="r" b="b" t="t" l="l"/>
              <a:pathLst>
                <a:path h="359290" w="382336">
                  <a:moveTo>
                    <a:pt x="128621" y="0"/>
                  </a:moveTo>
                  <a:lnTo>
                    <a:pt x="253715" y="0"/>
                  </a:lnTo>
                  <a:cubicBezTo>
                    <a:pt x="324751" y="0"/>
                    <a:pt x="382336" y="57586"/>
                    <a:pt x="382336" y="128621"/>
                  </a:cubicBezTo>
                  <a:lnTo>
                    <a:pt x="382336" y="230669"/>
                  </a:lnTo>
                  <a:cubicBezTo>
                    <a:pt x="382336" y="301704"/>
                    <a:pt x="324751" y="359290"/>
                    <a:pt x="253715" y="359290"/>
                  </a:cubicBezTo>
                  <a:lnTo>
                    <a:pt x="128621" y="359290"/>
                  </a:lnTo>
                  <a:cubicBezTo>
                    <a:pt x="57586" y="359290"/>
                    <a:pt x="0" y="301704"/>
                    <a:pt x="0" y="230669"/>
                  </a:cubicBezTo>
                  <a:lnTo>
                    <a:pt x="0" y="128621"/>
                  </a:lnTo>
                  <a:cubicBezTo>
                    <a:pt x="0" y="57586"/>
                    <a:pt x="57586" y="0"/>
                    <a:pt x="128621" y="0"/>
                  </a:cubicBezTo>
                  <a:close/>
                </a:path>
              </a:pathLst>
            </a:custGeom>
            <a:solidFill>
              <a:srgbClr val="000000">
                <a:alpha val="0"/>
              </a:srgbClr>
            </a:solidFill>
            <a:ln w="12700" cap="rnd">
              <a:solidFill>
                <a:srgbClr val="000000"/>
              </a:solidFill>
              <a:prstDash val="solid"/>
              <a:round/>
            </a:ln>
          </p:spPr>
        </p:sp>
      </p:grpSp>
      <p:sp>
        <p:nvSpPr>
          <p:cNvPr name="TextBox 35" id="35"/>
          <p:cNvSpPr txBox="true"/>
          <p:nvPr/>
        </p:nvSpPr>
        <p:spPr>
          <a:xfrm rot="0">
            <a:off x="3781080" y="4295022"/>
            <a:ext cx="2173626" cy="1186815"/>
          </a:xfrm>
          <a:prstGeom prst="rect">
            <a:avLst/>
          </a:prstGeom>
        </p:spPr>
        <p:txBody>
          <a:bodyPr anchor="t" rtlCol="false" tIns="0" lIns="0" bIns="0" rIns="0">
            <a:spAutoFit/>
          </a:bodyPr>
          <a:lstStyle/>
          <a:p>
            <a:pPr algn="l">
              <a:lnSpc>
                <a:spcPts val="4679"/>
              </a:lnSpc>
            </a:pPr>
            <a:r>
              <a:rPr lang="en-US" b="true" sz="3999" spc="-167">
                <a:solidFill>
                  <a:srgbClr val="0E0637"/>
                </a:solidFill>
                <a:latin typeface="Open Sauce Bold"/>
                <a:ea typeface="Open Sauce Bold"/>
                <a:cs typeface="Open Sauce Bold"/>
                <a:sym typeface="Open Sauce Bold"/>
              </a:rPr>
              <a:t>Maslinda Nora N.</a:t>
            </a:r>
          </a:p>
        </p:txBody>
      </p:sp>
      <p:sp>
        <p:nvSpPr>
          <p:cNvPr name="TextBox 36" id="36"/>
          <p:cNvSpPr txBox="true"/>
          <p:nvPr/>
        </p:nvSpPr>
        <p:spPr>
          <a:xfrm rot="0">
            <a:off x="6180645" y="7267137"/>
            <a:ext cx="2295108" cy="1777365"/>
          </a:xfrm>
          <a:prstGeom prst="rect">
            <a:avLst/>
          </a:prstGeom>
        </p:spPr>
        <p:txBody>
          <a:bodyPr anchor="t" rtlCol="false" tIns="0" lIns="0" bIns="0" rIns="0">
            <a:spAutoFit/>
          </a:bodyPr>
          <a:lstStyle/>
          <a:p>
            <a:pPr algn="l">
              <a:lnSpc>
                <a:spcPts val="4679"/>
              </a:lnSpc>
            </a:pPr>
            <a:r>
              <a:rPr lang="en-US" sz="3999" spc="-167" b="true">
                <a:solidFill>
                  <a:srgbClr val="0E0637"/>
                </a:solidFill>
                <a:latin typeface="Open Sauce Bold"/>
                <a:ea typeface="Open Sauce Bold"/>
                <a:cs typeface="Open Sauce Bold"/>
                <a:sym typeface="Open Sauce Bold"/>
              </a:rPr>
              <a:t>Dhiky</a:t>
            </a:r>
          </a:p>
          <a:p>
            <a:pPr algn="l">
              <a:lnSpc>
                <a:spcPts val="4679"/>
              </a:lnSpc>
            </a:pPr>
            <a:r>
              <a:rPr lang="en-US" b="true" sz="3999" spc="-167">
                <a:solidFill>
                  <a:srgbClr val="0E0637"/>
                </a:solidFill>
                <a:latin typeface="Open Sauce Bold"/>
                <a:ea typeface="Open Sauce Bold"/>
                <a:cs typeface="Open Sauce Bold"/>
                <a:sym typeface="Open Sauce Bold"/>
              </a:rPr>
              <a:t>ResandiW. H.</a:t>
            </a:r>
          </a:p>
        </p:txBody>
      </p:sp>
      <p:sp>
        <p:nvSpPr>
          <p:cNvPr name="TextBox 37" id="37"/>
          <p:cNvSpPr txBox="true"/>
          <p:nvPr/>
        </p:nvSpPr>
        <p:spPr>
          <a:xfrm rot="0">
            <a:off x="14789030" y="4295022"/>
            <a:ext cx="1789445" cy="1186815"/>
          </a:xfrm>
          <a:prstGeom prst="rect">
            <a:avLst/>
          </a:prstGeom>
        </p:spPr>
        <p:txBody>
          <a:bodyPr anchor="t" rtlCol="false" tIns="0" lIns="0" bIns="0" rIns="0">
            <a:spAutoFit/>
          </a:bodyPr>
          <a:lstStyle/>
          <a:p>
            <a:pPr algn="l">
              <a:lnSpc>
                <a:spcPts val="4679"/>
              </a:lnSpc>
            </a:pPr>
            <a:r>
              <a:rPr lang="en-US" b="true" sz="3999" spc="-167">
                <a:solidFill>
                  <a:srgbClr val="FFFFFF"/>
                </a:solidFill>
                <a:latin typeface="Open Sauce Bold"/>
                <a:ea typeface="Open Sauce Bold"/>
                <a:cs typeface="Open Sauce Bold"/>
                <a:sym typeface="Open Sauce Bold"/>
              </a:rPr>
              <a:t>M. Rizky J.</a:t>
            </a:r>
          </a:p>
        </p:txBody>
      </p:sp>
      <p:sp>
        <p:nvSpPr>
          <p:cNvPr name="TextBox 38" id="38"/>
          <p:cNvSpPr txBox="true"/>
          <p:nvPr/>
        </p:nvSpPr>
        <p:spPr>
          <a:xfrm rot="0">
            <a:off x="9268224" y="4295022"/>
            <a:ext cx="1924847" cy="1186815"/>
          </a:xfrm>
          <a:prstGeom prst="rect">
            <a:avLst/>
          </a:prstGeom>
        </p:spPr>
        <p:txBody>
          <a:bodyPr anchor="t" rtlCol="false" tIns="0" lIns="0" bIns="0" rIns="0">
            <a:spAutoFit/>
          </a:bodyPr>
          <a:lstStyle/>
          <a:p>
            <a:pPr algn="l">
              <a:lnSpc>
                <a:spcPts val="4679"/>
              </a:lnSpc>
            </a:pPr>
            <a:r>
              <a:rPr lang="en-US" b="true" sz="3999" spc="-167">
                <a:solidFill>
                  <a:srgbClr val="FFFFFF"/>
                </a:solidFill>
                <a:latin typeface="Open Sauce Bold"/>
                <a:ea typeface="Open Sauce Bold"/>
                <a:cs typeface="Open Sauce Bold"/>
                <a:sym typeface="Open Sauce Bold"/>
              </a:rPr>
              <a:t>Efrata Selly H.</a:t>
            </a:r>
          </a:p>
        </p:txBody>
      </p:sp>
      <p:sp>
        <p:nvSpPr>
          <p:cNvPr name="TextBox 39" id="39"/>
          <p:cNvSpPr txBox="true"/>
          <p:nvPr/>
        </p:nvSpPr>
        <p:spPr>
          <a:xfrm rot="0">
            <a:off x="12201395" y="7448566"/>
            <a:ext cx="2692410" cy="1186815"/>
          </a:xfrm>
          <a:prstGeom prst="rect">
            <a:avLst/>
          </a:prstGeom>
        </p:spPr>
        <p:txBody>
          <a:bodyPr anchor="t" rtlCol="false" tIns="0" lIns="0" bIns="0" rIns="0">
            <a:spAutoFit/>
          </a:bodyPr>
          <a:lstStyle/>
          <a:p>
            <a:pPr algn="l">
              <a:lnSpc>
                <a:spcPts val="4679"/>
              </a:lnSpc>
            </a:pPr>
            <a:r>
              <a:rPr lang="en-US" sz="3999" spc="-167" b="true">
                <a:solidFill>
                  <a:srgbClr val="FFFFFF"/>
                </a:solidFill>
                <a:latin typeface="Open Sauce Bold"/>
                <a:ea typeface="Open Sauce Bold"/>
                <a:cs typeface="Open Sauce Bold"/>
                <a:sym typeface="Open Sauce Bold"/>
              </a:rPr>
              <a:t>Rosa</a:t>
            </a:r>
          </a:p>
          <a:p>
            <a:pPr algn="l">
              <a:lnSpc>
                <a:spcPts val="4679"/>
              </a:lnSpc>
            </a:pPr>
            <a:r>
              <a:rPr lang="en-US" b="true" sz="3999" spc="-167">
                <a:solidFill>
                  <a:srgbClr val="FFFFFF"/>
                </a:solidFill>
                <a:latin typeface="Open Sauce Bold"/>
                <a:ea typeface="Open Sauce Bold"/>
                <a:cs typeface="Open Sauce Bold"/>
                <a:sym typeface="Open Sauce Bold"/>
              </a:rPr>
              <a:t>Karisma. A.</a:t>
            </a:r>
          </a:p>
        </p:txBody>
      </p:sp>
      <p:sp>
        <p:nvSpPr>
          <p:cNvPr name="TextBox 40" id="40"/>
          <p:cNvSpPr txBox="true"/>
          <p:nvPr/>
        </p:nvSpPr>
        <p:spPr>
          <a:xfrm rot="0">
            <a:off x="3781080" y="5803918"/>
            <a:ext cx="2235332" cy="296799"/>
          </a:xfrm>
          <a:prstGeom prst="rect">
            <a:avLst/>
          </a:prstGeom>
        </p:spPr>
        <p:txBody>
          <a:bodyPr anchor="t" rtlCol="false" tIns="0" lIns="0" bIns="0" rIns="0">
            <a:spAutoFit/>
          </a:bodyPr>
          <a:lstStyle/>
          <a:p>
            <a:pPr algn="l">
              <a:lnSpc>
                <a:spcPts val="2448"/>
              </a:lnSpc>
            </a:pPr>
            <a:r>
              <a:rPr lang="en-US" sz="1800" spc="-41">
                <a:solidFill>
                  <a:srgbClr val="0E0637"/>
                </a:solidFill>
                <a:latin typeface="Open Sauce Light"/>
                <a:ea typeface="Open Sauce Light"/>
                <a:cs typeface="Open Sauce Light"/>
                <a:sym typeface="Open Sauce Light"/>
              </a:rPr>
              <a:t>Project Manager</a:t>
            </a:r>
          </a:p>
        </p:txBody>
      </p:sp>
      <p:sp>
        <p:nvSpPr>
          <p:cNvPr name="TextBox 41" id="41"/>
          <p:cNvSpPr txBox="true"/>
          <p:nvPr/>
        </p:nvSpPr>
        <p:spPr>
          <a:xfrm rot="0">
            <a:off x="6180645" y="9130227"/>
            <a:ext cx="2235332" cy="296799"/>
          </a:xfrm>
          <a:prstGeom prst="rect">
            <a:avLst/>
          </a:prstGeom>
        </p:spPr>
        <p:txBody>
          <a:bodyPr anchor="t" rtlCol="false" tIns="0" lIns="0" bIns="0" rIns="0">
            <a:spAutoFit/>
          </a:bodyPr>
          <a:lstStyle/>
          <a:p>
            <a:pPr algn="l">
              <a:lnSpc>
                <a:spcPts val="2448"/>
              </a:lnSpc>
            </a:pPr>
            <a:r>
              <a:rPr lang="en-US" sz="1800" spc="-41">
                <a:solidFill>
                  <a:srgbClr val="0E0637"/>
                </a:solidFill>
                <a:latin typeface="Open Sauce Light"/>
                <a:ea typeface="Open Sauce Light"/>
                <a:cs typeface="Open Sauce Light"/>
                <a:sym typeface="Open Sauce Light"/>
              </a:rPr>
              <a:t>Human Resources</a:t>
            </a:r>
          </a:p>
        </p:txBody>
      </p:sp>
      <p:sp>
        <p:nvSpPr>
          <p:cNvPr name="TextBox 42" id="42"/>
          <p:cNvSpPr txBox="true"/>
          <p:nvPr/>
        </p:nvSpPr>
        <p:spPr>
          <a:xfrm rot="0">
            <a:off x="14789030" y="5803918"/>
            <a:ext cx="2235332" cy="296799"/>
          </a:xfrm>
          <a:prstGeom prst="rect">
            <a:avLst/>
          </a:prstGeom>
        </p:spPr>
        <p:txBody>
          <a:bodyPr anchor="t" rtlCol="false" tIns="0" lIns="0" bIns="0" rIns="0">
            <a:spAutoFit/>
          </a:bodyPr>
          <a:lstStyle/>
          <a:p>
            <a:pPr algn="l">
              <a:lnSpc>
                <a:spcPts val="2448"/>
              </a:lnSpc>
            </a:pPr>
            <a:r>
              <a:rPr lang="en-US" sz="1800" spc="-41">
                <a:solidFill>
                  <a:srgbClr val="FFFFFF"/>
                </a:solidFill>
                <a:latin typeface="Open Sauce Light"/>
                <a:ea typeface="Open Sauce Light"/>
                <a:cs typeface="Open Sauce Light"/>
                <a:sym typeface="Open Sauce Light"/>
              </a:rPr>
              <a:t>IT</a:t>
            </a:r>
          </a:p>
        </p:txBody>
      </p:sp>
      <p:sp>
        <p:nvSpPr>
          <p:cNvPr name="TextBox 43" id="43"/>
          <p:cNvSpPr txBox="true"/>
          <p:nvPr/>
        </p:nvSpPr>
        <p:spPr>
          <a:xfrm rot="0">
            <a:off x="9329538" y="5803918"/>
            <a:ext cx="1863533" cy="296799"/>
          </a:xfrm>
          <a:prstGeom prst="rect">
            <a:avLst/>
          </a:prstGeom>
        </p:spPr>
        <p:txBody>
          <a:bodyPr anchor="t" rtlCol="false" tIns="0" lIns="0" bIns="0" rIns="0">
            <a:spAutoFit/>
          </a:bodyPr>
          <a:lstStyle/>
          <a:p>
            <a:pPr algn="l">
              <a:lnSpc>
                <a:spcPts val="2448"/>
              </a:lnSpc>
            </a:pPr>
            <a:r>
              <a:rPr lang="en-US" sz="1800" spc="-41">
                <a:solidFill>
                  <a:srgbClr val="FFFFFF"/>
                </a:solidFill>
                <a:latin typeface="Open Sauce Light"/>
                <a:ea typeface="Open Sauce Light"/>
                <a:cs typeface="Open Sauce Light"/>
                <a:sym typeface="Open Sauce Light"/>
              </a:rPr>
              <a:t>Finance</a:t>
            </a:r>
          </a:p>
        </p:txBody>
      </p:sp>
      <p:sp>
        <p:nvSpPr>
          <p:cNvPr name="TextBox 44" id="44"/>
          <p:cNvSpPr txBox="true"/>
          <p:nvPr/>
        </p:nvSpPr>
        <p:spPr>
          <a:xfrm rot="0">
            <a:off x="12271667" y="8996115"/>
            <a:ext cx="2016405" cy="296799"/>
          </a:xfrm>
          <a:prstGeom prst="rect">
            <a:avLst/>
          </a:prstGeom>
        </p:spPr>
        <p:txBody>
          <a:bodyPr anchor="t" rtlCol="false" tIns="0" lIns="0" bIns="0" rIns="0">
            <a:spAutoFit/>
          </a:bodyPr>
          <a:lstStyle/>
          <a:p>
            <a:pPr algn="l">
              <a:lnSpc>
                <a:spcPts val="2448"/>
              </a:lnSpc>
            </a:pPr>
            <a:r>
              <a:rPr lang="en-US" sz="1800" spc="-41">
                <a:solidFill>
                  <a:srgbClr val="FFFFFF"/>
                </a:solidFill>
                <a:latin typeface="Open Sauce Light"/>
                <a:ea typeface="Open Sauce Light"/>
                <a:cs typeface="Open Sauce Light"/>
                <a:sym typeface="Open Sauce Light"/>
              </a:rPr>
              <a:t>Marketing</a:t>
            </a:r>
          </a:p>
        </p:txBody>
      </p:sp>
      <p:sp>
        <p:nvSpPr>
          <p:cNvPr name="TextBox 45" id="45"/>
          <p:cNvSpPr txBox="true"/>
          <p:nvPr/>
        </p:nvSpPr>
        <p:spPr>
          <a:xfrm rot="0">
            <a:off x="1132972" y="852689"/>
            <a:ext cx="5168833" cy="372323"/>
          </a:xfrm>
          <a:prstGeom prst="rect">
            <a:avLst/>
          </a:prstGeom>
        </p:spPr>
        <p:txBody>
          <a:bodyPr anchor="t" rtlCol="false" tIns="0" lIns="0" bIns="0" rIns="0">
            <a:spAutoFit/>
          </a:bodyPr>
          <a:lstStyle/>
          <a:p>
            <a:pPr algn="l">
              <a:lnSpc>
                <a:spcPts val="3121"/>
              </a:lnSpc>
            </a:pPr>
            <a:r>
              <a:rPr lang="en-US" sz="2229" spc="-104" b="true">
                <a:solidFill>
                  <a:srgbClr val="FFFFFF"/>
                </a:solidFill>
                <a:latin typeface="Open Sauce Heavy"/>
                <a:ea typeface="Open Sauce Heavy"/>
                <a:cs typeface="Open Sauce Heavy"/>
                <a:sym typeface="Open Sauce Heavy"/>
              </a:rPr>
              <a:t>CV. Sukses Jaya</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false" rot="0">
            <a:off x="0" y="0"/>
            <a:ext cx="18288000" cy="10287000"/>
          </a:xfrm>
          <a:custGeom>
            <a:avLst/>
            <a:gdLst/>
            <a:ahLst/>
            <a:cxnLst/>
            <a:rect r="r" b="b" t="t" l="l"/>
            <a:pathLst>
              <a:path h="10287000" w="18288000">
                <a:moveTo>
                  <a:pt x="18288000" y="0"/>
                </a:moveTo>
                <a:lnTo>
                  <a:pt x="0" y="0"/>
                </a:lnTo>
                <a:lnTo>
                  <a:pt x="0" y="10287000"/>
                </a:lnTo>
                <a:lnTo>
                  <a:pt x="18288000" y="10287000"/>
                </a:lnTo>
                <a:lnTo>
                  <a:pt x="18288000" y="0"/>
                </a:lnTo>
                <a:close/>
              </a:path>
            </a:pathLst>
          </a:custGeom>
          <a:blipFill>
            <a:blip r:embed="rId2"/>
            <a:stretch>
              <a:fillRect l="0" t="-9222" r="0" b="-9222"/>
            </a:stretch>
          </a:blipFill>
        </p:spPr>
      </p:sp>
      <p:grpSp>
        <p:nvGrpSpPr>
          <p:cNvPr name="Group 3" id="3"/>
          <p:cNvGrpSpPr/>
          <p:nvPr/>
        </p:nvGrpSpPr>
        <p:grpSpPr>
          <a:xfrm rot="-9278497">
            <a:off x="5636889" y="-5627185"/>
            <a:ext cx="17891941" cy="17891941"/>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lnTo>
                    <a:pt x="406400" y="0"/>
                  </a:lnTo>
                  <a:close/>
                </a:path>
              </a:pathLst>
            </a:custGeom>
            <a:gradFill rotWithShape="true">
              <a:gsLst>
                <a:gs pos="0">
                  <a:srgbClr val="FFFFFF">
                    <a:alpha val="735"/>
                  </a:srgbClr>
                </a:gs>
                <a:gs pos="25000">
                  <a:srgbClr val="FFFFFF">
                    <a:alpha val="1050"/>
                  </a:srgbClr>
                </a:gs>
                <a:gs pos="50000">
                  <a:srgbClr val="FFFFFF">
                    <a:alpha val="700"/>
                  </a:srgbClr>
                </a:gs>
                <a:gs pos="75000">
                  <a:srgbClr val="FFFFFF">
                    <a:alpha val="1050"/>
                  </a:srgbClr>
                </a:gs>
                <a:gs pos="100000">
                  <a:srgbClr val="FFFFFF">
                    <a:alpha val="700"/>
                  </a:srgbClr>
                </a:gs>
              </a:gsLst>
              <a:lin ang="2700000"/>
            </a:gradFill>
            <a:ln w="19050" cap="rnd">
              <a:solidFill>
                <a:srgbClr val="FFFFFF">
                  <a:alpha val="6667"/>
                </a:srgbClr>
              </a:solidFill>
              <a:prstDash val="solid"/>
              <a:round/>
            </a:ln>
          </p:spPr>
        </p:sp>
        <p:sp>
          <p:nvSpPr>
            <p:cNvPr name="TextBox 5" id="5"/>
            <p:cNvSpPr txBox="true"/>
            <p:nvPr/>
          </p:nvSpPr>
          <p:spPr>
            <a:xfrm>
              <a:off x="76200" y="819150"/>
              <a:ext cx="660400" cy="660400"/>
            </a:xfrm>
            <a:prstGeom prst="rect">
              <a:avLst/>
            </a:prstGeom>
          </p:spPr>
          <p:txBody>
            <a:bodyPr anchor="ctr" rtlCol="false" tIns="50800" lIns="50800" bIns="50800" rIns="50800"/>
            <a:lstStyle/>
            <a:p>
              <a:pPr algn="l" marL="0" indent="0" lvl="0">
                <a:lnSpc>
                  <a:spcPts val="19673"/>
                </a:lnSpc>
                <a:spcBef>
                  <a:spcPct val="0"/>
                </a:spcBef>
              </a:pPr>
            </a:p>
          </p:txBody>
        </p:sp>
      </p:grpSp>
      <p:grpSp>
        <p:nvGrpSpPr>
          <p:cNvPr name="Group 6" id="6"/>
          <p:cNvGrpSpPr/>
          <p:nvPr/>
        </p:nvGrpSpPr>
        <p:grpSpPr>
          <a:xfrm rot="-9278497">
            <a:off x="8546725" y="-2890427"/>
            <a:ext cx="12072268" cy="12072268"/>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lnTo>
                    <a:pt x="406400" y="0"/>
                  </a:lnTo>
                  <a:close/>
                </a:path>
              </a:pathLst>
            </a:custGeom>
            <a:gradFill rotWithShape="true">
              <a:gsLst>
                <a:gs pos="0">
                  <a:srgbClr val="FFFFFF">
                    <a:alpha val="735"/>
                  </a:srgbClr>
                </a:gs>
                <a:gs pos="25000">
                  <a:srgbClr val="FFFFFF">
                    <a:alpha val="1050"/>
                  </a:srgbClr>
                </a:gs>
                <a:gs pos="50000">
                  <a:srgbClr val="FFFFFF">
                    <a:alpha val="700"/>
                  </a:srgbClr>
                </a:gs>
                <a:gs pos="75000">
                  <a:srgbClr val="FFFFFF">
                    <a:alpha val="1050"/>
                  </a:srgbClr>
                </a:gs>
                <a:gs pos="100000">
                  <a:srgbClr val="FFFFFF">
                    <a:alpha val="700"/>
                  </a:srgbClr>
                </a:gs>
              </a:gsLst>
              <a:lin ang="2700000"/>
            </a:gradFill>
            <a:ln w="19050" cap="rnd">
              <a:solidFill>
                <a:srgbClr val="FFFFFF">
                  <a:alpha val="6667"/>
                </a:srgbClr>
              </a:solidFill>
              <a:prstDash val="solid"/>
              <a:round/>
            </a:ln>
          </p:spPr>
        </p:sp>
        <p:sp>
          <p:nvSpPr>
            <p:cNvPr name="TextBox 8" id="8"/>
            <p:cNvSpPr txBox="true"/>
            <p:nvPr/>
          </p:nvSpPr>
          <p:spPr>
            <a:xfrm>
              <a:off x="76200" y="161925"/>
              <a:ext cx="660400" cy="574675"/>
            </a:xfrm>
            <a:prstGeom prst="rect">
              <a:avLst/>
            </a:prstGeom>
          </p:spPr>
          <p:txBody>
            <a:bodyPr anchor="ctr" rtlCol="false" tIns="50800" lIns="50800" bIns="50800" rIns="50800"/>
            <a:lstStyle/>
            <a:p>
              <a:pPr algn="ctr" marL="0" indent="0" lvl="0">
                <a:lnSpc>
                  <a:spcPts val="2218"/>
                </a:lnSpc>
                <a:spcBef>
                  <a:spcPct val="0"/>
                </a:spcBef>
              </a:pPr>
            </a:p>
          </p:txBody>
        </p:sp>
      </p:grpSp>
      <p:sp>
        <p:nvSpPr>
          <p:cNvPr name="TextBox 9" id="9"/>
          <p:cNvSpPr txBox="true"/>
          <p:nvPr/>
        </p:nvSpPr>
        <p:spPr>
          <a:xfrm rot="0">
            <a:off x="11088439" y="1320661"/>
            <a:ext cx="6541310" cy="1608748"/>
          </a:xfrm>
          <a:prstGeom prst="rect">
            <a:avLst/>
          </a:prstGeom>
        </p:spPr>
        <p:txBody>
          <a:bodyPr anchor="t" rtlCol="false" tIns="0" lIns="0" bIns="0" rIns="0">
            <a:spAutoFit/>
          </a:bodyPr>
          <a:lstStyle/>
          <a:p>
            <a:pPr algn="l">
              <a:lnSpc>
                <a:spcPts val="12669"/>
              </a:lnSpc>
            </a:pPr>
            <a:r>
              <a:rPr lang="en-US" b="true" sz="10829" spc="-454">
                <a:solidFill>
                  <a:srgbClr val="FFFFFF"/>
                </a:solidFill>
                <a:latin typeface="Open Sauce Bold"/>
                <a:ea typeface="Open Sauce Bold"/>
                <a:cs typeface="Open Sauce Bold"/>
                <a:sym typeface="Open Sauce Bold"/>
              </a:rPr>
              <a:t>Smmary</a:t>
            </a:r>
          </a:p>
        </p:txBody>
      </p:sp>
      <p:grpSp>
        <p:nvGrpSpPr>
          <p:cNvPr name="Group 10" id="10"/>
          <p:cNvGrpSpPr/>
          <p:nvPr/>
        </p:nvGrpSpPr>
        <p:grpSpPr>
          <a:xfrm rot="0">
            <a:off x="664992" y="2272074"/>
            <a:ext cx="4559919" cy="8686934"/>
            <a:chOff x="0" y="0"/>
            <a:chExt cx="706451" cy="1345833"/>
          </a:xfrm>
        </p:grpSpPr>
        <p:sp>
          <p:nvSpPr>
            <p:cNvPr name="Freeform 11" id="11"/>
            <p:cNvSpPr/>
            <p:nvPr/>
          </p:nvSpPr>
          <p:spPr>
            <a:xfrm flipH="false" flipV="false" rot="0">
              <a:off x="0" y="0"/>
              <a:ext cx="706451" cy="1345833"/>
            </a:xfrm>
            <a:custGeom>
              <a:avLst/>
              <a:gdLst/>
              <a:ahLst/>
              <a:cxnLst/>
              <a:rect r="r" b="b" t="t" l="l"/>
              <a:pathLst>
                <a:path h="1345833" w="706451">
                  <a:moveTo>
                    <a:pt x="67913" y="0"/>
                  </a:moveTo>
                  <a:lnTo>
                    <a:pt x="638538" y="0"/>
                  </a:lnTo>
                  <a:cubicBezTo>
                    <a:pt x="676045" y="0"/>
                    <a:pt x="706451" y="30406"/>
                    <a:pt x="706451" y="67913"/>
                  </a:cubicBezTo>
                  <a:lnTo>
                    <a:pt x="706451" y="1277921"/>
                  </a:lnTo>
                  <a:cubicBezTo>
                    <a:pt x="706451" y="1315428"/>
                    <a:pt x="676045" y="1345833"/>
                    <a:pt x="638538" y="1345833"/>
                  </a:cubicBezTo>
                  <a:lnTo>
                    <a:pt x="67913" y="1345833"/>
                  </a:lnTo>
                  <a:cubicBezTo>
                    <a:pt x="30406" y="1345833"/>
                    <a:pt x="0" y="1315428"/>
                    <a:pt x="0" y="1277921"/>
                  </a:cubicBezTo>
                  <a:lnTo>
                    <a:pt x="0" y="67913"/>
                  </a:lnTo>
                  <a:cubicBezTo>
                    <a:pt x="0" y="30406"/>
                    <a:pt x="30406" y="0"/>
                    <a:pt x="67913" y="0"/>
                  </a:cubicBezTo>
                  <a:close/>
                </a:path>
              </a:pathLst>
            </a:custGeom>
            <a:blipFill>
              <a:blip r:embed="rId3"/>
              <a:stretch>
                <a:fillRect l="-92701" t="0" r="-92701" b="0"/>
              </a:stretch>
            </a:blipFill>
            <a:ln w="19050" cap="rnd">
              <a:solidFill>
                <a:srgbClr val="FFFFFF"/>
              </a:solidFill>
              <a:prstDash val="solid"/>
              <a:round/>
            </a:ln>
          </p:spPr>
        </p:sp>
      </p:grpSp>
      <p:grpSp>
        <p:nvGrpSpPr>
          <p:cNvPr name="Group 12" id="12"/>
          <p:cNvGrpSpPr/>
          <p:nvPr/>
        </p:nvGrpSpPr>
        <p:grpSpPr>
          <a:xfrm rot="0">
            <a:off x="5862795" y="-227080"/>
            <a:ext cx="3013779" cy="3844331"/>
            <a:chOff x="0" y="0"/>
            <a:chExt cx="727153" cy="927546"/>
          </a:xfrm>
        </p:grpSpPr>
        <p:sp>
          <p:nvSpPr>
            <p:cNvPr name="Freeform 13" id="13"/>
            <p:cNvSpPr/>
            <p:nvPr/>
          </p:nvSpPr>
          <p:spPr>
            <a:xfrm flipH="false" flipV="false" rot="0">
              <a:off x="0" y="0"/>
              <a:ext cx="727153" cy="927546"/>
            </a:xfrm>
            <a:custGeom>
              <a:avLst/>
              <a:gdLst/>
              <a:ahLst/>
              <a:cxnLst/>
              <a:rect r="r" b="b" t="t" l="l"/>
              <a:pathLst>
                <a:path h="927546" w="727153">
                  <a:moveTo>
                    <a:pt x="102754" y="0"/>
                  </a:moveTo>
                  <a:lnTo>
                    <a:pt x="624400" y="0"/>
                  </a:lnTo>
                  <a:cubicBezTo>
                    <a:pt x="651652" y="0"/>
                    <a:pt x="677788" y="10826"/>
                    <a:pt x="697058" y="30096"/>
                  </a:cubicBezTo>
                  <a:cubicBezTo>
                    <a:pt x="716328" y="49366"/>
                    <a:pt x="727153" y="75502"/>
                    <a:pt x="727153" y="102754"/>
                  </a:cubicBezTo>
                  <a:lnTo>
                    <a:pt x="727153" y="824792"/>
                  </a:lnTo>
                  <a:cubicBezTo>
                    <a:pt x="727153" y="881541"/>
                    <a:pt x="681149" y="927546"/>
                    <a:pt x="624400" y="927546"/>
                  </a:cubicBezTo>
                  <a:lnTo>
                    <a:pt x="102754" y="927546"/>
                  </a:lnTo>
                  <a:cubicBezTo>
                    <a:pt x="75502" y="927546"/>
                    <a:pt x="49366" y="916720"/>
                    <a:pt x="30096" y="897450"/>
                  </a:cubicBezTo>
                  <a:cubicBezTo>
                    <a:pt x="10826" y="878180"/>
                    <a:pt x="0" y="852044"/>
                    <a:pt x="0" y="824792"/>
                  </a:cubicBezTo>
                  <a:lnTo>
                    <a:pt x="0" y="102754"/>
                  </a:lnTo>
                  <a:cubicBezTo>
                    <a:pt x="0" y="75502"/>
                    <a:pt x="10826" y="49366"/>
                    <a:pt x="30096" y="30096"/>
                  </a:cubicBezTo>
                  <a:cubicBezTo>
                    <a:pt x="49366" y="10826"/>
                    <a:pt x="75502" y="0"/>
                    <a:pt x="102754" y="0"/>
                  </a:cubicBezTo>
                  <a:close/>
                </a:path>
              </a:pathLst>
            </a:custGeom>
            <a:blipFill>
              <a:blip r:embed="rId4"/>
              <a:stretch>
                <a:fillRect l="0" t="-8833" r="0" b="-8833"/>
              </a:stretch>
            </a:blipFill>
            <a:ln w="19050" cap="rnd">
              <a:solidFill>
                <a:srgbClr val="FFFFFF"/>
              </a:solidFill>
              <a:prstDash val="solid"/>
              <a:round/>
            </a:ln>
          </p:spPr>
        </p:sp>
      </p:grpSp>
      <p:grpSp>
        <p:nvGrpSpPr>
          <p:cNvPr name="Group 14" id="14"/>
          <p:cNvGrpSpPr/>
          <p:nvPr/>
        </p:nvGrpSpPr>
        <p:grpSpPr>
          <a:xfrm rot="0">
            <a:off x="5862795" y="4283612"/>
            <a:ext cx="3013779" cy="3844331"/>
            <a:chOff x="0" y="0"/>
            <a:chExt cx="727153" cy="927546"/>
          </a:xfrm>
        </p:grpSpPr>
        <p:sp>
          <p:nvSpPr>
            <p:cNvPr name="Freeform 15" id="15"/>
            <p:cNvSpPr/>
            <p:nvPr/>
          </p:nvSpPr>
          <p:spPr>
            <a:xfrm flipH="false" flipV="false" rot="0">
              <a:off x="0" y="0"/>
              <a:ext cx="727153" cy="927546"/>
            </a:xfrm>
            <a:custGeom>
              <a:avLst/>
              <a:gdLst/>
              <a:ahLst/>
              <a:cxnLst/>
              <a:rect r="r" b="b" t="t" l="l"/>
              <a:pathLst>
                <a:path h="927546" w="727153">
                  <a:moveTo>
                    <a:pt x="102754" y="0"/>
                  </a:moveTo>
                  <a:lnTo>
                    <a:pt x="624400" y="0"/>
                  </a:lnTo>
                  <a:cubicBezTo>
                    <a:pt x="651652" y="0"/>
                    <a:pt x="677788" y="10826"/>
                    <a:pt x="697058" y="30096"/>
                  </a:cubicBezTo>
                  <a:cubicBezTo>
                    <a:pt x="716328" y="49366"/>
                    <a:pt x="727153" y="75502"/>
                    <a:pt x="727153" y="102754"/>
                  </a:cubicBezTo>
                  <a:lnTo>
                    <a:pt x="727153" y="824792"/>
                  </a:lnTo>
                  <a:cubicBezTo>
                    <a:pt x="727153" y="881541"/>
                    <a:pt x="681149" y="927546"/>
                    <a:pt x="624400" y="927546"/>
                  </a:cubicBezTo>
                  <a:lnTo>
                    <a:pt x="102754" y="927546"/>
                  </a:lnTo>
                  <a:cubicBezTo>
                    <a:pt x="75502" y="927546"/>
                    <a:pt x="49366" y="916720"/>
                    <a:pt x="30096" y="897450"/>
                  </a:cubicBezTo>
                  <a:cubicBezTo>
                    <a:pt x="10826" y="878180"/>
                    <a:pt x="0" y="852044"/>
                    <a:pt x="0" y="824792"/>
                  </a:cubicBezTo>
                  <a:lnTo>
                    <a:pt x="0" y="102754"/>
                  </a:lnTo>
                  <a:cubicBezTo>
                    <a:pt x="0" y="75502"/>
                    <a:pt x="10826" y="49366"/>
                    <a:pt x="30096" y="30096"/>
                  </a:cubicBezTo>
                  <a:cubicBezTo>
                    <a:pt x="49366" y="10826"/>
                    <a:pt x="75502" y="0"/>
                    <a:pt x="102754" y="0"/>
                  </a:cubicBezTo>
                  <a:close/>
                </a:path>
              </a:pathLst>
            </a:custGeom>
            <a:blipFill>
              <a:blip r:embed="rId5"/>
              <a:stretch>
                <a:fillRect l="-100931" t="0" r="-23346" b="0"/>
              </a:stretch>
            </a:blipFill>
            <a:ln w="19050" cap="rnd">
              <a:solidFill>
                <a:srgbClr val="FFFFFF"/>
              </a:solidFill>
              <a:prstDash val="solid"/>
              <a:round/>
            </a:ln>
          </p:spPr>
        </p:sp>
      </p:grpSp>
      <p:sp>
        <p:nvSpPr>
          <p:cNvPr name="TextBox 16" id="16"/>
          <p:cNvSpPr txBox="true"/>
          <p:nvPr/>
        </p:nvSpPr>
        <p:spPr>
          <a:xfrm rot="0">
            <a:off x="11088439" y="7705039"/>
            <a:ext cx="6170861" cy="1515999"/>
          </a:xfrm>
          <a:prstGeom prst="rect">
            <a:avLst/>
          </a:prstGeom>
        </p:spPr>
        <p:txBody>
          <a:bodyPr anchor="t" rtlCol="false" tIns="0" lIns="0" bIns="0" rIns="0">
            <a:spAutoFit/>
          </a:bodyPr>
          <a:lstStyle/>
          <a:p>
            <a:pPr algn="l">
              <a:lnSpc>
                <a:spcPts val="2448"/>
              </a:lnSpc>
            </a:pPr>
            <a:r>
              <a:rPr lang="en-US" sz="1800" spc="-41">
                <a:solidFill>
                  <a:srgbClr val="FFFFFF"/>
                </a:solidFill>
                <a:latin typeface="Open Sauce Light"/>
                <a:ea typeface="Open Sauce Light"/>
                <a:cs typeface="Open Sauce Light"/>
                <a:sym typeface="Open Sauce Light"/>
              </a:rPr>
              <a:t>Lorem ipsum dolor sit amet, consectetur adipiscing elit. Quisque molestie nisl eu sem tristique, sit amet convallis ex aliquam. Maecenas varius lectus hendrerit augue blandit, ut posuere erat aliquam. Praesent auctor tellus eget nisl blandit.</a:t>
            </a:r>
          </a:p>
        </p:txBody>
      </p:sp>
      <p:sp>
        <p:nvSpPr>
          <p:cNvPr name="TextBox 17" id="17"/>
          <p:cNvSpPr txBox="true"/>
          <p:nvPr/>
        </p:nvSpPr>
        <p:spPr>
          <a:xfrm rot="0">
            <a:off x="1132972" y="852689"/>
            <a:ext cx="5168833" cy="372323"/>
          </a:xfrm>
          <a:prstGeom prst="rect">
            <a:avLst/>
          </a:prstGeom>
        </p:spPr>
        <p:txBody>
          <a:bodyPr anchor="t" rtlCol="false" tIns="0" lIns="0" bIns="0" rIns="0">
            <a:spAutoFit/>
          </a:bodyPr>
          <a:lstStyle/>
          <a:p>
            <a:pPr algn="l">
              <a:lnSpc>
                <a:spcPts val="3121"/>
              </a:lnSpc>
            </a:pPr>
            <a:r>
              <a:rPr lang="en-US" sz="2229" spc="-104" b="true">
                <a:solidFill>
                  <a:srgbClr val="FFFFFF"/>
                </a:solidFill>
                <a:latin typeface="Open Sauce Heavy"/>
                <a:ea typeface="Open Sauce Heavy"/>
                <a:cs typeface="Open Sauce Heavy"/>
                <a:sym typeface="Open Sauce Heavy"/>
              </a:rPr>
              <a:t>Larana Company</a:t>
            </a:r>
          </a:p>
        </p:txBody>
      </p:sp>
      <p:grpSp>
        <p:nvGrpSpPr>
          <p:cNvPr name="Group 18" id="18"/>
          <p:cNvGrpSpPr/>
          <p:nvPr/>
        </p:nvGrpSpPr>
        <p:grpSpPr>
          <a:xfrm rot="0">
            <a:off x="5862795" y="8955509"/>
            <a:ext cx="3013779" cy="3658765"/>
            <a:chOff x="0" y="0"/>
            <a:chExt cx="1134395" cy="1377169"/>
          </a:xfrm>
        </p:grpSpPr>
        <p:sp>
          <p:nvSpPr>
            <p:cNvPr name="Freeform 19" id="19"/>
            <p:cNvSpPr/>
            <p:nvPr/>
          </p:nvSpPr>
          <p:spPr>
            <a:xfrm flipH="false" flipV="false" rot="0">
              <a:off x="0" y="0"/>
              <a:ext cx="1134395" cy="1377169"/>
            </a:xfrm>
            <a:custGeom>
              <a:avLst/>
              <a:gdLst/>
              <a:ahLst/>
              <a:cxnLst/>
              <a:rect r="r" b="b" t="t" l="l"/>
              <a:pathLst>
                <a:path h="1377169" w="1134395">
                  <a:moveTo>
                    <a:pt x="131011" y="0"/>
                  </a:moveTo>
                  <a:lnTo>
                    <a:pt x="1003384" y="0"/>
                  </a:lnTo>
                  <a:cubicBezTo>
                    <a:pt x="1075739" y="0"/>
                    <a:pt x="1134395" y="58656"/>
                    <a:pt x="1134395" y="131011"/>
                  </a:cubicBezTo>
                  <a:lnTo>
                    <a:pt x="1134395" y="1246158"/>
                  </a:lnTo>
                  <a:cubicBezTo>
                    <a:pt x="1134395" y="1318513"/>
                    <a:pt x="1075739" y="1377169"/>
                    <a:pt x="1003384" y="1377169"/>
                  </a:cubicBezTo>
                  <a:lnTo>
                    <a:pt x="131011" y="1377169"/>
                  </a:lnTo>
                  <a:cubicBezTo>
                    <a:pt x="96265" y="1377169"/>
                    <a:pt x="62942" y="1363366"/>
                    <a:pt x="38372" y="1338797"/>
                  </a:cubicBezTo>
                  <a:cubicBezTo>
                    <a:pt x="13803" y="1314227"/>
                    <a:pt x="0" y="1280904"/>
                    <a:pt x="0" y="1246158"/>
                  </a:cubicBezTo>
                  <a:lnTo>
                    <a:pt x="0" y="131011"/>
                  </a:lnTo>
                  <a:cubicBezTo>
                    <a:pt x="0" y="58656"/>
                    <a:pt x="58656" y="0"/>
                    <a:pt x="131011" y="0"/>
                  </a:cubicBezTo>
                  <a:close/>
                </a:path>
              </a:pathLst>
            </a:custGeom>
            <a:gradFill rotWithShape="true">
              <a:gsLst>
                <a:gs pos="0">
                  <a:srgbClr val="FFFFFF">
                    <a:alpha val="100000"/>
                  </a:srgbClr>
                </a:gs>
                <a:gs pos="100000">
                  <a:srgbClr val="DBD8D8">
                    <a:alpha val="100000"/>
                  </a:srgbClr>
                </a:gs>
              </a:gsLst>
              <a:lin ang="5400000"/>
            </a:gradFill>
            <a:ln w="19050" cap="rnd">
              <a:gradFill>
                <a:gsLst>
                  <a:gs pos="0">
                    <a:srgbClr val="FFFFFF">
                      <a:alpha val="100000"/>
                    </a:srgbClr>
                  </a:gs>
                  <a:gs pos="100000">
                    <a:srgbClr val="DBD8D8">
                      <a:alpha val="100000"/>
                    </a:srgbClr>
                  </a:gs>
                </a:gsLst>
                <a:lin ang="5400000"/>
              </a:gradFill>
              <a:prstDash val="solid"/>
              <a:round/>
            </a:ln>
          </p:spPr>
        </p:sp>
        <p:sp>
          <p:nvSpPr>
            <p:cNvPr name="TextBox 20" id="20"/>
            <p:cNvSpPr txBox="true"/>
            <p:nvPr/>
          </p:nvSpPr>
          <p:spPr>
            <a:xfrm>
              <a:off x="0" y="85725"/>
              <a:ext cx="1134395" cy="1291444"/>
            </a:xfrm>
            <a:prstGeom prst="rect">
              <a:avLst/>
            </a:prstGeom>
          </p:spPr>
          <p:txBody>
            <a:bodyPr anchor="ctr" rtlCol="false" tIns="50800" lIns="50800" bIns="50800" rIns="50800"/>
            <a:lstStyle/>
            <a:p>
              <a:pPr algn="ctr" marL="0" indent="0" lvl="0">
                <a:lnSpc>
                  <a:spcPts val="2218"/>
                </a:lnSpc>
                <a:spcBef>
                  <a:spcPct val="0"/>
                </a:spcBef>
              </a:pPr>
            </a:p>
          </p:txBody>
        </p:sp>
      </p:gr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true" rot="0">
            <a:off x="0" y="0"/>
            <a:ext cx="18288000" cy="10287000"/>
          </a:xfrm>
          <a:custGeom>
            <a:avLst/>
            <a:gdLst/>
            <a:ahLst/>
            <a:cxnLst/>
            <a:rect r="r" b="b" t="t" l="l"/>
            <a:pathLst>
              <a:path h="10287000" w="18288000">
                <a:moveTo>
                  <a:pt x="18288000" y="10287000"/>
                </a:moveTo>
                <a:lnTo>
                  <a:pt x="0" y="10287000"/>
                </a:lnTo>
                <a:lnTo>
                  <a:pt x="0" y="0"/>
                </a:lnTo>
                <a:lnTo>
                  <a:pt x="18288000" y="0"/>
                </a:lnTo>
                <a:lnTo>
                  <a:pt x="18288000" y="10287000"/>
                </a:lnTo>
                <a:close/>
              </a:path>
            </a:pathLst>
          </a:custGeom>
          <a:blipFill>
            <a:blip r:embed="rId2"/>
            <a:stretch>
              <a:fillRect l="0" t="-9222" r="0" b="-9222"/>
            </a:stretch>
          </a:blipFill>
        </p:spPr>
      </p:sp>
      <p:grpSp>
        <p:nvGrpSpPr>
          <p:cNvPr name="Group 3" id="3"/>
          <p:cNvGrpSpPr/>
          <p:nvPr/>
        </p:nvGrpSpPr>
        <p:grpSpPr>
          <a:xfrm rot="566727">
            <a:off x="4447463" y="-2040873"/>
            <a:ext cx="17212156" cy="17212156"/>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lnTo>
                    <a:pt x="406400" y="0"/>
                  </a:lnTo>
                  <a:close/>
                </a:path>
              </a:pathLst>
            </a:custGeom>
            <a:gradFill rotWithShape="true">
              <a:gsLst>
                <a:gs pos="0">
                  <a:srgbClr val="FFFFFF">
                    <a:alpha val="735"/>
                  </a:srgbClr>
                </a:gs>
                <a:gs pos="25000">
                  <a:srgbClr val="FFFFFF">
                    <a:alpha val="1050"/>
                  </a:srgbClr>
                </a:gs>
                <a:gs pos="50000">
                  <a:srgbClr val="FFFFFF">
                    <a:alpha val="700"/>
                  </a:srgbClr>
                </a:gs>
                <a:gs pos="75000">
                  <a:srgbClr val="FFFFFF">
                    <a:alpha val="1050"/>
                  </a:srgbClr>
                </a:gs>
                <a:gs pos="100000">
                  <a:srgbClr val="FFFFFF">
                    <a:alpha val="700"/>
                  </a:srgbClr>
                </a:gs>
              </a:gsLst>
              <a:lin ang="2700000"/>
            </a:gradFill>
            <a:ln w="19050" cap="rnd">
              <a:solidFill>
                <a:srgbClr val="FFFFFF">
                  <a:alpha val="6667"/>
                </a:srgbClr>
              </a:solidFill>
              <a:prstDash val="solid"/>
              <a:round/>
            </a:ln>
          </p:spPr>
        </p:sp>
        <p:sp>
          <p:nvSpPr>
            <p:cNvPr name="TextBox 5" id="5"/>
            <p:cNvSpPr txBox="true"/>
            <p:nvPr/>
          </p:nvSpPr>
          <p:spPr>
            <a:xfrm>
              <a:off x="76200" y="161925"/>
              <a:ext cx="660400" cy="574675"/>
            </a:xfrm>
            <a:prstGeom prst="rect">
              <a:avLst/>
            </a:prstGeom>
          </p:spPr>
          <p:txBody>
            <a:bodyPr anchor="ctr" rtlCol="false" tIns="50800" lIns="50800" bIns="50800" rIns="50800"/>
            <a:lstStyle/>
            <a:p>
              <a:pPr algn="ctr" marL="0" indent="0" lvl="0">
                <a:lnSpc>
                  <a:spcPts val="2218"/>
                </a:lnSpc>
                <a:spcBef>
                  <a:spcPct val="0"/>
                </a:spcBef>
              </a:pPr>
            </a:p>
          </p:txBody>
        </p:sp>
      </p:grpSp>
      <p:grpSp>
        <p:nvGrpSpPr>
          <p:cNvPr name="Group 6" id="6"/>
          <p:cNvGrpSpPr/>
          <p:nvPr/>
        </p:nvGrpSpPr>
        <p:grpSpPr>
          <a:xfrm rot="566727">
            <a:off x="7275014" y="786677"/>
            <a:ext cx="11557056" cy="11557056"/>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lnTo>
                    <a:pt x="406400" y="0"/>
                  </a:lnTo>
                  <a:close/>
                </a:path>
              </a:pathLst>
            </a:custGeom>
            <a:gradFill rotWithShape="true">
              <a:gsLst>
                <a:gs pos="0">
                  <a:srgbClr val="FFFFFF">
                    <a:alpha val="735"/>
                  </a:srgbClr>
                </a:gs>
                <a:gs pos="25000">
                  <a:srgbClr val="FFFFFF">
                    <a:alpha val="1050"/>
                  </a:srgbClr>
                </a:gs>
                <a:gs pos="50000">
                  <a:srgbClr val="FFFFFF">
                    <a:alpha val="700"/>
                  </a:srgbClr>
                </a:gs>
                <a:gs pos="75000">
                  <a:srgbClr val="FFFFFF">
                    <a:alpha val="1050"/>
                  </a:srgbClr>
                </a:gs>
                <a:gs pos="100000">
                  <a:srgbClr val="FFFFFF">
                    <a:alpha val="700"/>
                  </a:srgbClr>
                </a:gs>
              </a:gsLst>
              <a:lin ang="2700000"/>
            </a:gradFill>
            <a:ln w="19050" cap="rnd">
              <a:solidFill>
                <a:srgbClr val="FFFFFF">
                  <a:alpha val="6667"/>
                </a:srgbClr>
              </a:solidFill>
              <a:prstDash val="solid"/>
              <a:round/>
            </a:ln>
          </p:spPr>
        </p:sp>
        <p:sp>
          <p:nvSpPr>
            <p:cNvPr name="TextBox 8" id="8"/>
            <p:cNvSpPr txBox="true"/>
            <p:nvPr/>
          </p:nvSpPr>
          <p:spPr>
            <a:xfrm>
              <a:off x="76200" y="161925"/>
              <a:ext cx="660400" cy="574675"/>
            </a:xfrm>
            <a:prstGeom prst="rect">
              <a:avLst/>
            </a:prstGeom>
          </p:spPr>
          <p:txBody>
            <a:bodyPr anchor="ctr" rtlCol="false" tIns="50800" lIns="50800" bIns="50800" rIns="50800"/>
            <a:lstStyle/>
            <a:p>
              <a:pPr algn="ctr" marL="0" indent="0" lvl="0">
                <a:lnSpc>
                  <a:spcPts val="2218"/>
                </a:lnSpc>
                <a:spcBef>
                  <a:spcPct val="0"/>
                </a:spcBef>
              </a:pPr>
            </a:p>
          </p:txBody>
        </p:sp>
      </p:grpSp>
      <p:sp>
        <p:nvSpPr>
          <p:cNvPr name="TextBox 9" id="9"/>
          <p:cNvSpPr txBox="true"/>
          <p:nvPr/>
        </p:nvSpPr>
        <p:spPr>
          <a:xfrm rot="0">
            <a:off x="1028700" y="3486583"/>
            <a:ext cx="16230600" cy="2737935"/>
          </a:xfrm>
          <a:prstGeom prst="rect">
            <a:avLst/>
          </a:prstGeom>
        </p:spPr>
        <p:txBody>
          <a:bodyPr anchor="t" rtlCol="false" tIns="0" lIns="0" bIns="0" rIns="0">
            <a:spAutoFit/>
          </a:bodyPr>
          <a:lstStyle/>
          <a:p>
            <a:pPr algn="l">
              <a:lnSpc>
                <a:spcPts val="19673"/>
              </a:lnSpc>
            </a:pPr>
            <a:r>
              <a:rPr lang="en-US" sz="22876" spc="-1075" b="true">
                <a:solidFill>
                  <a:srgbClr val="FFFFFF"/>
                </a:solidFill>
                <a:latin typeface="Open Sauce Heavy"/>
                <a:ea typeface="Open Sauce Heavy"/>
                <a:cs typeface="Open Sauce Heavy"/>
                <a:sym typeface="Open Sauce Heavy"/>
              </a:rPr>
              <a:t>Thank You</a:t>
            </a:r>
          </a:p>
        </p:txBody>
      </p:sp>
      <p:grpSp>
        <p:nvGrpSpPr>
          <p:cNvPr name="Group 10" id="10"/>
          <p:cNvGrpSpPr/>
          <p:nvPr/>
        </p:nvGrpSpPr>
        <p:grpSpPr>
          <a:xfrm rot="0">
            <a:off x="1028700" y="8667034"/>
            <a:ext cx="15131235" cy="663349"/>
            <a:chOff x="0" y="0"/>
            <a:chExt cx="5695437" cy="249686"/>
          </a:xfrm>
        </p:grpSpPr>
        <p:sp>
          <p:nvSpPr>
            <p:cNvPr name="Freeform 11" id="11"/>
            <p:cNvSpPr/>
            <p:nvPr/>
          </p:nvSpPr>
          <p:spPr>
            <a:xfrm flipH="false" flipV="false" rot="0">
              <a:off x="0" y="0"/>
              <a:ext cx="5695437" cy="249686"/>
            </a:xfrm>
            <a:custGeom>
              <a:avLst/>
              <a:gdLst/>
              <a:ahLst/>
              <a:cxnLst/>
              <a:rect r="r" b="b" t="t" l="l"/>
              <a:pathLst>
                <a:path h="249686" w="5695437">
                  <a:moveTo>
                    <a:pt x="26094" y="0"/>
                  </a:moveTo>
                  <a:lnTo>
                    <a:pt x="5669343" y="0"/>
                  </a:lnTo>
                  <a:cubicBezTo>
                    <a:pt x="5683755" y="0"/>
                    <a:pt x="5695437" y="11683"/>
                    <a:pt x="5695437" y="26094"/>
                  </a:cubicBezTo>
                  <a:lnTo>
                    <a:pt x="5695437" y="223592"/>
                  </a:lnTo>
                  <a:cubicBezTo>
                    <a:pt x="5695437" y="230513"/>
                    <a:pt x="5692688" y="237150"/>
                    <a:pt x="5687794" y="242044"/>
                  </a:cubicBezTo>
                  <a:cubicBezTo>
                    <a:pt x="5682901" y="246937"/>
                    <a:pt x="5676264" y="249686"/>
                    <a:pt x="5669343" y="249686"/>
                  </a:cubicBezTo>
                  <a:lnTo>
                    <a:pt x="26094" y="249686"/>
                  </a:lnTo>
                  <a:cubicBezTo>
                    <a:pt x="19174" y="249686"/>
                    <a:pt x="12536" y="246937"/>
                    <a:pt x="7643" y="242044"/>
                  </a:cubicBezTo>
                  <a:cubicBezTo>
                    <a:pt x="2749" y="237150"/>
                    <a:pt x="0" y="230513"/>
                    <a:pt x="0" y="223592"/>
                  </a:cubicBezTo>
                  <a:lnTo>
                    <a:pt x="0" y="26094"/>
                  </a:lnTo>
                  <a:cubicBezTo>
                    <a:pt x="0" y="19174"/>
                    <a:pt x="2749" y="12536"/>
                    <a:pt x="7643" y="7643"/>
                  </a:cubicBezTo>
                  <a:cubicBezTo>
                    <a:pt x="12536" y="2749"/>
                    <a:pt x="19174" y="0"/>
                    <a:pt x="26094" y="0"/>
                  </a:cubicBezTo>
                  <a:close/>
                </a:path>
              </a:pathLst>
            </a:custGeom>
            <a:gradFill rotWithShape="true">
              <a:gsLst>
                <a:gs pos="0">
                  <a:srgbClr val="FFFFFF">
                    <a:alpha val="10500"/>
                  </a:srgbClr>
                </a:gs>
                <a:gs pos="25000">
                  <a:srgbClr val="FFFFFF">
                    <a:alpha val="15000"/>
                  </a:srgbClr>
                </a:gs>
                <a:gs pos="50000">
                  <a:srgbClr val="FFFFFF">
                    <a:alpha val="10000"/>
                  </a:srgbClr>
                </a:gs>
                <a:gs pos="75000">
                  <a:srgbClr val="FFFFFF">
                    <a:alpha val="15000"/>
                  </a:srgbClr>
                </a:gs>
                <a:gs pos="100000">
                  <a:srgbClr val="FFFFFF">
                    <a:alpha val="10000"/>
                  </a:srgbClr>
                </a:gs>
              </a:gsLst>
              <a:lin ang="2700000"/>
            </a:gradFill>
            <a:ln w="19050" cap="rnd">
              <a:solidFill>
                <a:srgbClr val="FFFFFF"/>
              </a:solidFill>
              <a:prstDash val="solid"/>
              <a:round/>
            </a:ln>
          </p:spPr>
        </p:sp>
        <p:sp>
          <p:nvSpPr>
            <p:cNvPr name="TextBox 12" id="12"/>
            <p:cNvSpPr txBox="true"/>
            <p:nvPr/>
          </p:nvSpPr>
          <p:spPr>
            <a:xfrm>
              <a:off x="0" y="85725"/>
              <a:ext cx="5695437" cy="163961"/>
            </a:xfrm>
            <a:prstGeom prst="rect">
              <a:avLst/>
            </a:prstGeom>
          </p:spPr>
          <p:txBody>
            <a:bodyPr anchor="ctr" rtlCol="false" tIns="50800" lIns="50800" bIns="50800" rIns="50800"/>
            <a:lstStyle/>
            <a:p>
              <a:pPr algn="ctr" marL="0" indent="0" lvl="0">
                <a:lnSpc>
                  <a:spcPts val="2218"/>
                </a:lnSpc>
                <a:spcBef>
                  <a:spcPct val="0"/>
                </a:spcBef>
              </a:pPr>
            </a:p>
          </p:txBody>
        </p:sp>
      </p:grpSp>
      <p:sp>
        <p:nvSpPr>
          <p:cNvPr name="Freeform 13" id="13"/>
          <p:cNvSpPr/>
          <p:nvPr/>
        </p:nvSpPr>
        <p:spPr>
          <a:xfrm flipH="false" flipV="false" rot="0">
            <a:off x="1336866" y="8834336"/>
            <a:ext cx="318148" cy="318148"/>
          </a:xfrm>
          <a:custGeom>
            <a:avLst/>
            <a:gdLst/>
            <a:ahLst/>
            <a:cxnLst/>
            <a:rect r="r" b="b" t="t" l="l"/>
            <a:pathLst>
              <a:path h="318148" w="318148">
                <a:moveTo>
                  <a:pt x="0" y="0"/>
                </a:moveTo>
                <a:lnTo>
                  <a:pt x="318148" y="0"/>
                </a:lnTo>
                <a:lnTo>
                  <a:pt x="318148" y="318148"/>
                </a:lnTo>
                <a:lnTo>
                  <a:pt x="0" y="31814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4" id="14"/>
          <p:cNvSpPr/>
          <p:nvPr/>
        </p:nvSpPr>
        <p:spPr>
          <a:xfrm flipH="false" flipV="false" rot="0">
            <a:off x="4126323" y="8834336"/>
            <a:ext cx="318148" cy="318148"/>
          </a:xfrm>
          <a:custGeom>
            <a:avLst/>
            <a:gdLst/>
            <a:ahLst/>
            <a:cxnLst/>
            <a:rect r="r" b="b" t="t" l="l"/>
            <a:pathLst>
              <a:path h="318148" w="318148">
                <a:moveTo>
                  <a:pt x="0" y="0"/>
                </a:moveTo>
                <a:lnTo>
                  <a:pt x="318148" y="0"/>
                </a:lnTo>
                <a:lnTo>
                  <a:pt x="318148" y="318148"/>
                </a:lnTo>
                <a:lnTo>
                  <a:pt x="0" y="31814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5" id="15"/>
          <p:cNvSpPr/>
          <p:nvPr/>
        </p:nvSpPr>
        <p:spPr>
          <a:xfrm flipH="false" flipV="false" rot="0">
            <a:off x="7944660" y="8834336"/>
            <a:ext cx="318148" cy="318148"/>
          </a:xfrm>
          <a:custGeom>
            <a:avLst/>
            <a:gdLst/>
            <a:ahLst/>
            <a:cxnLst/>
            <a:rect r="r" b="b" t="t" l="l"/>
            <a:pathLst>
              <a:path h="318148" w="318148">
                <a:moveTo>
                  <a:pt x="0" y="0"/>
                </a:moveTo>
                <a:lnTo>
                  <a:pt x="318148" y="0"/>
                </a:lnTo>
                <a:lnTo>
                  <a:pt x="318148" y="318148"/>
                </a:lnTo>
                <a:lnTo>
                  <a:pt x="0" y="318148"/>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6" id="16"/>
          <p:cNvSpPr/>
          <p:nvPr/>
        </p:nvSpPr>
        <p:spPr>
          <a:xfrm flipH="false" flipV="false" rot="0">
            <a:off x="11599955" y="8834336"/>
            <a:ext cx="318148" cy="318148"/>
          </a:xfrm>
          <a:custGeom>
            <a:avLst/>
            <a:gdLst/>
            <a:ahLst/>
            <a:cxnLst/>
            <a:rect r="r" b="b" t="t" l="l"/>
            <a:pathLst>
              <a:path h="318148" w="318148">
                <a:moveTo>
                  <a:pt x="0" y="0"/>
                </a:moveTo>
                <a:lnTo>
                  <a:pt x="318148" y="0"/>
                </a:lnTo>
                <a:lnTo>
                  <a:pt x="318148" y="318148"/>
                </a:lnTo>
                <a:lnTo>
                  <a:pt x="0" y="318148"/>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17" id="17"/>
          <p:cNvSpPr txBox="true"/>
          <p:nvPr/>
        </p:nvSpPr>
        <p:spPr>
          <a:xfrm rot="0">
            <a:off x="1132972" y="852689"/>
            <a:ext cx="5168833" cy="372323"/>
          </a:xfrm>
          <a:prstGeom prst="rect">
            <a:avLst/>
          </a:prstGeom>
        </p:spPr>
        <p:txBody>
          <a:bodyPr anchor="t" rtlCol="false" tIns="0" lIns="0" bIns="0" rIns="0">
            <a:spAutoFit/>
          </a:bodyPr>
          <a:lstStyle/>
          <a:p>
            <a:pPr algn="l">
              <a:lnSpc>
                <a:spcPts val="3121"/>
              </a:lnSpc>
            </a:pPr>
            <a:r>
              <a:rPr lang="en-US" sz="2229" spc="-104" b="true">
                <a:solidFill>
                  <a:srgbClr val="FFFFFF"/>
                </a:solidFill>
                <a:latin typeface="Open Sauce Heavy"/>
                <a:ea typeface="Open Sauce Heavy"/>
                <a:cs typeface="Open Sauce Heavy"/>
                <a:sym typeface="Open Sauce Heavy"/>
              </a:rPr>
              <a:t>CV. Sukses Jaya</a:t>
            </a:r>
          </a:p>
        </p:txBody>
      </p:sp>
      <p:sp>
        <p:nvSpPr>
          <p:cNvPr name="TextBox 18" id="18"/>
          <p:cNvSpPr txBox="true"/>
          <p:nvPr/>
        </p:nvSpPr>
        <p:spPr>
          <a:xfrm rot="0">
            <a:off x="1132972" y="6242477"/>
            <a:ext cx="13476196" cy="762756"/>
          </a:xfrm>
          <a:prstGeom prst="rect">
            <a:avLst/>
          </a:prstGeom>
        </p:spPr>
        <p:txBody>
          <a:bodyPr anchor="t" rtlCol="false" tIns="0" lIns="0" bIns="0" rIns="0">
            <a:spAutoFit/>
          </a:bodyPr>
          <a:lstStyle/>
          <a:p>
            <a:pPr algn="l">
              <a:lnSpc>
                <a:spcPts val="6174"/>
              </a:lnSpc>
            </a:pPr>
            <a:r>
              <a:rPr lang="en-US" sz="4900" spc="-274">
                <a:solidFill>
                  <a:srgbClr val="FFFFFF"/>
                </a:solidFill>
                <a:latin typeface="Open Sauce Light"/>
                <a:ea typeface="Open Sauce Light"/>
                <a:cs typeface="Open Sauce Light"/>
                <a:sym typeface="Open Sauce Light"/>
              </a:rPr>
              <a:t>Let’s Create Something Amazing Together</a:t>
            </a:r>
          </a:p>
        </p:txBody>
      </p:sp>
      <p:sp>
        <p:nvSpPr>
          <p:cNvPr name="TextBox 19" id="19"/>
          <p:cNvSpPr txBox="true"/>
          <p:nvPr/>
        </p:nvSpPr>
        <p:spPr>
          <a:xfrm rot="0">
            <a:off x="1875283" y="8864089"/>
            <a:ext cx="2012915" cy="240665"/>
          </a:xfrm>
          <a:prstGeom prst="rect">
            <a:avLst/>
          </a:prstGeom>
        </p:spPr>
        <p:txBody>
          <a:bodyPr anchor="t" rtlCol="false" tIns="0" lIns="0" bIns="0" rIns="0">
            <a:spAutoFit/>
          </a:bodyPr>
          <a:lstStyle/>
          <a:p>
            <a:pPr algn="l" marL="0" indent="0" lvl="0">
              <a:lnSpc>
                <a:spcPts val="1960"/>
              </a:lnSpc>
              <a:spcBef>
                <a:spcPct val="0"/>
              </a:spcBef>
            </a:pPr>
            <a:r>
              <a:rPr lang="en-US" sz="1400">
                <a:solidFill>
                  <a:srgbClr val="FFFFFF"/>
                </a:solidFill>
                <a:latin typeface="Open Sauce"/>
                <a:ea typeface="Open Sauce"/>
                <a:cs typeface="Open Sauce"/>
                <a:sym typeface="Open Sauce"/>
              </a:rPr>
              <a:t>+62 857 5579 6726</a:t>
            </a:r>
          </a:p>
        </p:txBody>
      </p:sp>
      <p:sp>
        <p:nvSpPr>
          <p:cNvPr name="TextBox 20" id="20"/>
          <p:cNvSpPr txBox="true"/>
          <p:nvPr/>
        </p:nvSpPr>
        <p:spPr>
          <a:xfrm rot="0">
            <a:off x="4663546" y="8858790"/>
            <a:ext cx="2884141" cy="240665"/>
          </a:xfrm>
          <a:prstGeom prst="rect">
            <a:avLst/>
          </a:prstGeom>
        </p:spPr>
        <p:txBody>
          <a:bodyPr anchor="t" rtlCol="false" tIns="0" lIns="0" bIns="0" rIns="0">
            <a:spAutoFit/>
          </a:bodyPr>
          <a:lstStyle/>
          <a:p>
            <a:pPr algn="l" marL="0" indent="0" lvl="0">
              <a:lnSpc>
                <a:spcPts val="1960"/>
              </a:lnSpc>
              <a:spcBef>
                <a:spcPct val="0"/>
              </a:spcBef>
            </a:pPr>
            <a:r>
              <a:rPr lang="en-US" sz="1400">
                <a:solidFill>
                  <a:srgbClr val="FFFFFF"/>
                </a:solidFill>
                <a:latin typeface="Open Sauce"/>
                <a:ea typeface="Open Sauce"/>
                <a:cs typeface="Open Sauce"/>
                <a:sym typeface="Open Sauce"/>
              </a:rPr>
              <a:t>cvsuksesjaya@gmail.com</a:t>
            </a:r>
          </a:p>
        </p:txBody>
      </p:sp>
      <p:sp>
        <p:nvSpPr>
          <p:cNvPr name="TextBox 21" id="21"/>
          <p:cNvSpPr txBox="true"/>
          <p:nvPr/>
        </p:nvSpPr>
        <p:spPr>
          <a:xfrm rot="0">
            <a:off x="8481883" y="8858790"/>
            <a:ext cx="2884141" cy="240665"/>
          </a:xfrm>
          <a:prstGeom prst="rect">
            <a:avLst/>
          </a:prstGeom>
        </p:spPr>
        <p:txBody>
          <a:bodyPr anchor="t" rtlCol="false" tIns="0" lIns="0" bIns="0" rIns="0">
            <a:spAutoFit/>
          </a:bodyPr>
          <a:lstStyle/>
          <a:p>
            <a:pPr algn="l" marL="0" indent="0" lvl="0">
              <a:lnSpc>
                <a:spcPts val="1960"/>
              </a:lnSpc>
              <a:spcBef>
                <a:spcPct val="0"/>
              </a:spcBef>
            </a:pPr>
            <a:r>
              <a:rPr lang="en-US" sz="1400">
                <a:solidFill>
                  <a:srgbClr val="FFFFFF"/>
                </a:solidFill>
                <a:latin typeface="Open Sauce"/>
                <a:ea typeface="Open Sauce"/>
                <a:cs typeface="Open Sauce"/>
                <a:sym typeface="Open Sauce"/>
              </a:rPr>
              <a:t>www.cvsuksesjaya.id</a:t>
            </a:r>
          </a:p>
        </p:txBody>
      </p:sp>
      <p:sp>
        <p:nvSpPr>
          <p:cNvPr name="TextBox 22" id="22"/>
          <p:cNvSpPr txBox="true"/>
          <p:nvPr/>
        </p:nvSpPr>
        <p:spPr>
          <a:xfrm rot="0">
            <a:off x="12152035" y="8858790"/>
            <a:ext cx="4007901" cy="240665"/>
          </a:xfrm>
          <a:prstGeom prst="rect">
            <a:avLst/>
          </a:prstGeom>
        </p:spPr>
        <p:txBody>
          <a:bodyPr anchor="t" rtlCol="false" tIns="0" lIns="0" bIns="0" rIns="0">
            <a:spAutoFit/>
          </a:bodyPr>
          <a:lstStyle/>
          <a:p>
            <a:pPr algn="l" marL="0" indent="0" lvl="0">
              <a:lnSpc>
                <a:spcPts val="1960"/>
              </a:lnSpc>
              <a:spcBef>
                <a:spcPct val="0"/>
              </a:spcBef>
            </a:pPr>
            <a:r>
              <a:rPr lang="en-US" sz="1400">
                <a:solidFill>
                  <a:srgbClr val="FFFFFF"/>
                </a:solidFill>
                <a:latin typeface="Open Sauce"/>
                <a:ea typeface="Open Sauce"/>
                <a:cs typeface="Open Sauce"/>
                <a:sym typeface="Open Sauce"/>
              </a:rPr>
              <a:t>JL. Penanggungan No. 41a, Kota kediri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DAG92BsQdJs</dc:identifier>
  <dcterms:modified xsi:type="dcterms:W3CDTF">2011-08-01T06:04:30Z</dcterms:modified>
  <cp:revision>1</cp:revision>
  <dc:title>PITCH DECK CV SUKSES JAYA</dc:title>
</cp:coreProperties>
</file>